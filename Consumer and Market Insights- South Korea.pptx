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8" r:id="rId3"/>
    <p:sldId id="257"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39C314-C071-4B23-A0CD-53FBCF8B5CE5}" type="datetimeFigureOut">
              <a:rPr lang="en-IN" smtClean="0"/>
              <a:t>11-02-2026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820D74-9A39-49E2-B5C6-FD8ADC242B70}" type="slidenum">
              <a:rPr lang="en-IN" smtClean="0"/>
              <a:t>‹#›</a:t>
            </a:fld>
            <a:endParaRPr lang="en-IN"/>
          </a:p>
        </p:txBody>
      </p:sp>
    </p:spTree>
    <p:extLst>
      <p:ext uri="{BB962C8B-B14F-4D97-AF65-F5344CB8AC3E}">
        <p14:creationId xmlns:p14="http://schemas.microsoft.com/office/powerpoint/2010/main" val="4219088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820D74-9A39-49E2-B5C6-FD8ADC242B70}" type="slidenum">
              <a:rPr lang="en-IN" smtClean="0"/>
              <a:t>6</a:t>
            </a:fld>
            <a:endParaRPr lang="en-IN"/>
          </a:p>
        </p:txBody>
      </p:sp>
    </p:spTree>
    <p:extLst>
      <p:ext uri="{BB962C8B-B14F-4D97-AF65-F5344CB8AC3E}">
        <p14:creationId xmlns:p14="http://schemas.microsoft.com/office/powerpoint/2010/main" val="3993762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49845-DCB7-BD92-D5E2-917DFD1741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CE84B04-574F-793F-3178-E67A6AAF5C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CBBBFE-7B25-1742-882E-92792760AAFE}"/>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5" name="Footer Placeholder 4">
            <a:extLst>
              <a:ext uri="{FF2B5EF4-FFF2-40B4-BE49-F238E27FC236}">
                <a16:creationId xmlns:a16="http://schemas.microsoft.com/office/drawing/2014/main" id="{34E9BB5A-ADFD-E74C-A2AC-4222D7E06B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227B42-A85C-5D83-34BC-416ADD61E4FA}"/>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3863408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F93ED-7206-BF8C-91CD-E25FCFC6E7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0FC27F-DF63-8058-200A-B0BBDD67A5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1BDC00-FAB6-3BC1-6584-02F597897443}"/>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5" name="Footer Placeholder 4">
            <a:extLst>
              <a:ext uri="{FF2B5EF4-FFF2-40B4-BE49-F238E27FC236}">
                <a16:creationId xmlns:a16="http://schemas.microsoft.com/office/drawing/2014/main" id="{FC2CD0CF-A762-E707-6705-D341234B1B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B8F4F0-837E-C171-C451-196D2184BD72}"/>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2337611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89665-2516-C7FA-228E-04450859B40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FC8BFD4-0B82-0474-76F0-A483DBA20C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843283-41F3-26CA-4ED3-A6F260EB8157}"/>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5" name="Footer Placeholder 4">
            <a:extLst>
              <a:ext uri="{FF2B5EF4-FFF2-40B4-BE49-F238E27FC236}">
                <a16:creationId xmlns:a16="http://schemas.microsoft.com/office/drawing/2014/main" id="{6614C4E8-0B60-49E4-AB8D-29A7C9B4A4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6D5ADE-61F7-8EFB-F15F-AA3597B623E6}"/>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1478769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66C35-B170-6D39-E9B8-E68BEBBB9F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0F5979F-1631-FF3F-7F40-0ED32D17F8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C1838A-0BB0-D77B-93A8-C0DCBB9026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38A6FAE-195D-6C49-7FD1-3BD536DA1A5E}"/>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6" name="Footer Placeholder 5">
            <a:extLst>
              <a:ext uri="{FF2B5EF4-FFF2-40B4-BE49-F238E27FC236}">
                <a16:creationId xmlns:a16="http://schemas.microsoft.com/office/drawing/2014/main" id="{F407C19F-C7D0-54F1-D8A2-294B62105C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0968B7E-3949-440B-8C2F-6F5C379A1C26}"/>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2335169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26DF0-F1FB-9758-CCE9-816F232A78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28D8F1-42F4-0BD5-39B9-EC90F7D0D7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72E194-8221-19A4-1E93-E855B14C04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74E4454-F4DD-B9EF-8479-5702901B79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E5C381-6B0B-B364-638C-9AB23BB424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DA7A42-1FC2-6DF3-7F7A-372FAF5084FC}"/>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8" name="Footer Placeholder 7">
            <a:extLst>
              <a:ext uri="{FF2B5EF4-FFF2-40B4-BE49-F238E27FC236}">
                <a16:creationId xmlns:a16="http://schemas.microsoft.com/office/drawing/2014/main" id="{8D7626BB-0C98-5552-77AE-884C32E960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89B14F1-C982-9663-4825-6F1549EFA90C}"/>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3337975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5266C-1B24-751D-5F44-6CCF5142E1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F6CBB1-8304-6CC5-A23E-13780DC317C1}"/>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4" name="Footer Placeholder 3">
            <a:extLst>
              <a:ext uri="{FF2B5EF4-FFF2-40B4-BE49-F238E27FC236}">
                <a16:creationId xmlns:a16="http://schemas.microsoft.com/office/drawing/2014/main" id="{C198574F-DBD1-0ECA-A2EF-5D88351321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3063DAE-B8FD-14C2-DF69-5DFDF7ABEF26}"/>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16090903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EB37F0-4EA5-5D41-0CA9-691AD41453E8}"/>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3" name="Footer Placeholder 2">
            <a:extLst>
              <a:ext uri="{FF2B5EF4-FFF2-40B4-BE49-F238E27FC236}">
                <a16:creationId xmlns:a16="http://schemas.microsoft.com/office/drawing/2014/main" id="{B3CFDA1D-1D6E-6143-6029-8C50B53568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7AACB45-E9E6-1E45-E635-397982E8CD39}"/>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107794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3C142-FD95-4EAB-820D-12B860F05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5C0ED61-FF92-527C-B1D3-659AFF83F8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C4CF52-F0F3-AC56-6975-0BE62F142F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AEFF1-553B-2AEA-738D-8E29E915BE9B}"/>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6" name="Footer Placeholder 5">
            <a:extLst>
              <a:ext uri="{FF2B5EF4-FFF2-40B4-BE49-F238E27FC236}">
                <a16:creationId xmlns:a16="http://schemas.microsoft.com/office/drawing/2014/main" id="{68787EF9-BFE1-DF4A-1293-A02CB20988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C9779D-64ED-5419-3BEB-8E73FC812298}"/>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2103161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865FC-0DA4-3DE2-6933-2D517918D0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9D574F5-D384-4831-5EA8-405DE0C621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43D1733-AA56-7E89-E61C-C8E11CF95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496544-72FF-AA7A-FD9A-2645E240CB1F}"/>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6" name="Footer Placeholder 5">
            <a:extLst>
              <a:ext uri="{FF2B5EF4-FFF2-40B4-BE49-F238E27FC236}">
                <a16:creationId xmlns:a16="http://schemas.microsoft.com/office/drawing/2014/main" id="{4925C2C7-0FC7-D924-3B36-C3FCC1C38E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1E77EA-D9A1-FBEA-9614-3A94817818AA}"/>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2016568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6FD9-E5A1-4588-8892-CCFCC3984F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BB295D-B018-9082-5257-36C5E83393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625B3D-8260-6A02-E02C-1426DA1F144F}"/>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5" name="Footer Placeholder 4">
            <a:extLst>
              <a:ext uri="{FF2B5EF4-FFF2-40B4-BE49-F238E27FC236}">
                <a16:creationId xmlns:a16="http://schemas.microsoft.com/office/drawing/2014/main" id="{A36D5B68-7B4E-9D11-1269-3393C27805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5FA004-EF42-1141-8AAE-90D912FAAF5A}"/>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1662781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03C7FE-E1D5-F316-D3BD-EE8E2A3BBD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6097C6-0F2A-86CC-DE97-254E93C345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B677C0-2960-21D2-58A1-83A18E77B130}"/>
              </a:ext>
            </a:extLst>
          </p:cNvPr>
          <p:cNvSpPr>
            <a:spLocks noGrp="1"/>
          </p:cNvSpPr>
          <p:nvPr>
            <p:ph type="dt" sz="half" idx="10"/>
          </p:nvPr>
        </p:nvSpPr>
        <p:spPr/>
        <p:txBody>
          <a:bodyPr/>
          <a:lstStyle/>
          <a:p>
            <a:fld id="{12190A6C-A87A-45F0-9A19-E47672E7ED2F}" type="datetimeFigureOut">
              <a:rPr lang="en-IN" smtClean="0"/>
              <a:t>11-02-2026</a:t>
            </a:fld>
            <a:endParaRPr lang="en-IN"/>
          </a:p>
        </p:txBody>
      </p:sp>
      <p:sp>
        <p:nvSpPr>
          <p:cNvPr id="5" name="Footer Placeholder 4">
            <a:extLst>
              <a:ext uri="{FF2B5EF4-FFF2-40B4-BE49-F238E27FC236}">
                <a16:creationId xmlns:a16="http://schemas.microsoft.com/office/drawing/2014/main" id="{16B1E3DC-6300-E405-5909-A65DE7D009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E3AAFE-1CD3-BB49-53D9-61ADEFCAA857}"/>
              </a:ext>
            </a:extLst>
          </p:cNvPr>
          <p:cNvSpPr>
            <a:spLocks noGrp="1"/>
          </p:cNvSpPr>
          <p:nvPr>
            <p:ph type="sldNum" sz="quarter" idx="12"/>
          </p:nvPr>
        </p:nvSpPr>
        <p:spPr/>
        <p:txBody>
          <a:bodyPr/>
          <a:lstStyle/>
          <a:p>
            <a:fld id="{9211C808-2040-4DDA-BF4D-04FED201E814}" type="slidenum">
              <a:rPr lang="en-IN" smtClean="0"/>
              <a:t>‹#›</a:t>
            </a:fld>
            <a:endParaRPr lang="en-IN"/>
          </a:p>
        </p:txBody>
      </p:sp>
    </p:spTree>
    <p:extLst>
      <p:ext uri="{BB962C8B-B14F-4D97-AF65-F5344CB8AC3E}">
        <p14:creationId xmlns:p14="http://schemas.microsoft.com/office/powerpoint/2010/main" val="336102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359E99-E1CB-7360-61D3-4F7A401361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557E83A-6706-4A2D-5988-15994ED8CD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901DFD-99EF-5E13-3845-B1D0337CC0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190A6C-A87A-45F0-9A19-E47672E7ED2F}" type="datetimeFigureOut">
              <a:rPr lang="en-IN" smtClean="0"/>
              <a:t>11-02-2026</a:t>
            </a:fld>
            <a:endParaRPr lang="en-IN"/>
          </a:p>
        </p:txBody>
      </p:sp>
      <p:sp>
        <p:nvSpPr>
          <p:cNvPr id="5" name="Footer Placeholder 4">
            <a:extLst>
              <a:ext uri="{FF2B5EF4-FFF2-40B4-BE49-F238E27FC236}">
                <a16:creationId xmlns:a16="http://schemas.microsoft.com/office/drawing/2014/main" id="{943F83E4-06C7-6CF4-5EE1-01C4101FD0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DFF0150-7709-8354-F436-FB11BB6C7C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11C808-2040-4DDA-BF4D-04FED201E814}" type="slidenum">
              <a:rPr lang="en-IN" smtClean="0"/>
              <a:t>‹#›</a:t>
            </a:fld>
            <a:endParaRPr lang="en-IN"/>
          </a:p>
        </p:txBody>
      </p:sp>
    </p:spTree>
    <p:extLst>
      <p:ext uri="{BB962C8B-B14F-4D97-AF65-F5344CB8AC3E}">
        <p14:creationId xmlns:p14="http://schemas.microsoft.com/office/powerpoint/2010/main" val="192267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 Id="rId5" Type="http://schemas.openxmlformats.org/officeDocument/2006/relationships/image" Target="../media/image10.jpeg"/><Relationship Id="rId4"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491A2-0220-847E-64EE-D487D1895360}"/>
              </a:ext>
            </a:extLst>
          </p:cNvPr>
          <p:cNvSpPr>
            <a:spLocks noGrp="1"/>
          </p:cNvSpPr>
          <p:nvPr>
            <p:ph type="ctrTitle"/>
          </p:nvPr>
        </p:nvSpPr>
        <p:spPr/>
        <p:txBody>
          <a:bodyPr>
            <a:normAutofit fontScale="90000"/>
          </a:bodyPr>
          <a:lstStyle/>
          <a:p>
            <a:r>
              <a:rPr lang="en-US" sz="4400" kern="0" dirty="0">
                <a:cs typeface="ヒラギノ角ゴ Pro W3" charset="-128"/>
              </a:rPr>
              <a:t>Consumer and Market Insights: Feminine Hygiene Market in South Korea</a:t>
            </a:r>
            <a:br>
              <a:rPr lang="en-US" kern="0" dirty="0">
                <a:solidFill>
                  <a:schemeClr val="bg1"/>
                </a:solidFill>
                <a:cs typeface="ヒラギノ角ゴ Pro W3" charset="-128"/>
              </a:rPr>
            </a:br>
            <a:endParaRPr lang="en-IN" dirty="0"/>
          </a:p>
        </p:txBody>
      </p:sp>
      <p:pic>
        <p:nvPicPr>
          <p:cNvPr id="4" name="Picture 3">
            <a:extLst>
              <a:ext uri="{FF2B5EF4-FFF2-40B4-BE49-F238E27FC236}">
                <a16:creationId xmlns:a16="http://schemas.microsoft.com/office/drawing/2014/main" id="{8D19025A-A2A9-B909-E091-FB2DCEFAFA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89720" y="4107617"/>
            <a:ext cx="2438095" cy="2438095"/>
          </a:xfrm>
          <a:prstGeom prst="rect">
            <a:avLst/>
          </a:prstGeom>
        </p:spPr>
      </p:pic>
    </p:spTree>
    <p:extLst>
      <p:ext uri="{BB962C8B-B14F-4D97-AF65-F5344CB8AC3E}">
        <p14:creationId xmlns:p14="http://schemas.microsoft.com/office/powerpoint/2010/main" val="2790351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B019709-F6A8-45E9-8E4D-4DCB8B8FEA9B}"/>
              </a:ext>
            </a:extLst>
          </p:cNvPr>
          <p:cNvCxnSpPr/>
          <p:nvPr/>
        </p:nvCxnSpPr>
        <p:spPr>
          <a:xfrm>
            <a:off x="996696" y="445135"/>
            <a:ext cx="9144000" cy="0"/>
          </a:xfrm>
          <a:prstGeom prst="line">
            <a:avLst/>
          </a:prstGeom>
          <a:ln w="0">
            <a:prstDash val="dash"/>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3A9BDE8D-7C59-0A6D-0E85-B22A559468DA}"/>
              </a:ext>
            </a:extLst>
          </p:cNvPr>
          <p:cNvSpPr txBox="1"/>
          <p:nvPr/>
        </p:nvSpPr>
        <p:spPr>
          <a:xfrm>
            <a:off x="1295716" y="1156535"/>
            <a:ext cx="5061786" cy="3554819"/>
          </a:xfrm>
          <a:prstGeom prst="rect">
            <a:avLst/>
          </a:prstGeom>
          <a:noFill/>
        </p:spPr>
        <p:txBody>
          <a:bodyPr wrap="square" rtlCol="0">
            <a:spAutoFit/>
          </a:bodyPr>
          <a:lstStyle/>
          <a:p>
            <a:pPr>
              <a:buFont typeface="Arial" pitchFamily="34" charset="0"/>
              <a:buChar char="•"/>
            </a:pPr>
            <a:r>
              <a:rPr lang="en-US" sz="1500" b="1" dirty="0">
                <a:solidFill>
                  <a:srgbClr val="002060"/>
                </a:solidFill>
              </a:rPr>
              <a:t> Country Context</a:t>
            </a:r>
          </a:p>
          <a:p>
            <a:pPr>
              <a:buFont typeface="Arial" pitchFamily="34" charset="0"/>
              <a:buChar char="•"/>
            </a:pPr>
            <a:endParaRPr lang="en-US" sz="1500" b="1" dirty="0">
              <a:solidFill>
                <a:srgbClr val="002060"/>
              </a:solidFill>
            </a:endParaRPr>
          </a:p>
          <a:p>
            <a:pPr>
              <a:buFont typeface="Arial" pitchFamily="34" charset="0"/>
              <a:buChar char="•"/>
            </a:pPr>
            <a:r>
              <a:rPr lang="en-GB" sz="1500" b="1" dirty="0">
                <a:solidFill>
                  <a:srgbClr val="002060"/>
                </a:solidFill>
              </a:rPr>
              <a:t> Market Overview</a:t>
            </a:r>
          </a:p>
          <a:p>
            <a:pPr>
              <a:buFont typeface="Arial" pitchFamily="34" charset="0"/>
              <a:buChar char="•"/>
            </a:pPr>
            <a:endParaRPr lang="en-GB" sz="1500" b="1" dirty="0">
              <a:solidFill>
                <a:srgbClr val="002060"/>
              </a:solidFill>
            </a:endParaRPr>
          </a:p>
          <a:p>
            <a:pPr>
              <a:buFont typeface="Arial" pitchFamily="34" charset="0"/>
              <a:buChar char="•"/>
            </a:pPr>
            <a:r>
              <a:rPr lang="en-US" sz="1500" b="1" dirty="0">
                <a:solidFill>
                  <a:srgbClr val="002060"/>
                </a:solidFill>
              </a:rPr>
              <a:t> Retail Landscape and Key Distribution Channels </a:t>
            </a:r>
          </a:p>
          <a:p>
            <a:pPr>
              <a:buFont typeface="Arial" pitchFamily="34" charset="0"/>
              <a:buChar char="•"/>
            </a:pPr>
            <a:endParaRPr lang="en-US" sz="1500" b="1" dirty="0">
              <a:solidFill>
                <a:srgbClr val="002060"/>
              </a:solidFill>
            </a:endParaRPr>
          </a:p>
          <a:p>
            <a:pPr>
              <a:buFont typeface="Arial" pitchFamily="34" charset="0"/>
              <a:buChar char="•"/>
            </a:pPr>
            <a:r>
              <a:rPr lang="en-US" sz="1500" b="1" dirty="0">
                <a:solidFill>
                  <a:srgbClr val="002060"/>
                </a:solidFill>
              </a:rPr>
              <a:t> Packaging </a:t>
            </a:r>
          </a:p>
          <a:p>
            <a:pPr>
              <a:buFont typeface="Arial" pitchFamily="34" charset="0"/>
              <a:buChar char="•"/>
            </a:pPr>
            <a:endParaRPr lang="en-US" sz="1500" b="1" dirty="0">
              <a:solidFill>
                <a:srgbClr val="002060"/>
              </a:solidFill>
            </a:endParaRPr>
          </a:p>
          <a:p>
            <a:pPr>
              <a:buFont typeface="Arial" pitchFamily="34" charset="0"/>
              <a:buChar char="•"/>
            </a:pPr>
            <a:r>
              <a:rPr lang="en-US" sz="1500" b="1" dirty="0">
                <a:solidFill>
                  <a:srgbClr val="002060"/>
                </a:solidFill>
              </a:rPr>
              <a:t> Brand Share</a:t>
            </a:r>
          </a:p>
          <a:p>
            <a:pPr>
              <a:buFont typeface="Arial" pitchFamily="34" charset="0"/>
              <a:buChar char="•"/>
            </a:pPr>
            <a:endParaRPr lang="en-US" sz="1500" b="1" dirty="0">
              <a:solidFill>
                <a:srgbClr val="002060"/>
              </a:solidFill>
            </a:endParaRPr>
          </a:p>
          <a:p>
            <a:pPr marL="115888" indent="-115888">
              <a:buFont typeface="Arial" pitchFamily="34" charset="0"/>
              <a:buChar char="•"/>
            </a:pPr>
            <a:r>
              <a:rPr lang="en-GB" sz="1500" b="1" dirty="0">
                <a:solidFill>
                  <a:schemeClr val="accent6">
                    <a:lumMod val="75000"/>
                  </a:schemeClr>
                </a:solidFill>
              </a:rPr>
              <a:t>Consumer Trends</a:t>
            </a:r>
          </a:p>
          <a:p>
            <a:pPr marL="115888" indent="-115888">
              <a:buFont typeface="Arial" pitchFamily="34" charset="0"/>
              <a:buChar char="•"/>
            </a:pPr>
            <a:endParaRPr lang="en-GB" sz="1500" b="1" dirty="0">
              <a:solidFill>
                <a:srgbClr val="002060"/>
              </a:solidFill>
            </a:endParaRPr>
          </a:p>
          <a:p>
            <a:pPr marL="115888" indent="-115888">
              <a:buFont typeface="Arial" pitchFamily="34" charset="0"/>
              <a:buChar char="•"/>
            </a:pPr>
            <a:r>
              <a:rPr lang="en-GB" sz="1500" b="1" dirty="0">
                <a:solidFill>
                  <a:srgbClr val="002060"/>
                </a:solidFill>
              </a:rPr>
              <a:t>Examples of New Product Development</a:t>
            </a:r>
            <a:endParaRPr lang="en-US" sz="1500" b="1" dirty="0">
              <a:solidFill>
                <a:srgbClr val="002060"/>
              </a:solidFill>
            </a:endParaRPr>
          </a:p>
          <a:p>
            <a:endParaRPr lang="en-GB" sz="1500" b="1" dirty="0">
              <a:solidFill>
                <a:schemeClr val="accent6">
                  <a:lumMod val="75000"/>
                </a:schemeClr>
              </a:solidFill>
            </a:endParaRPr>
          </a:p>
          <a:p>
            <a:pPr>
              <a:buFont typeface="Arial" pitchFamily="34" charset="0"/>
              <a:buChar char="•"/>
            </a:pPr>
            <a:r>
              <a:rPr lang="en-GB" sz="1500" b="1" dirty="0">
                <a:solidFill>
                  <a:srgbClr val="002060"/>
                </a:solidFill>
              </a:rPr>
              <a:t> Appendix</a:t>
            </a:r>
          </a:p>
        </p:txBody>
      </p:sp>
      <p:pic>
        <p:nvPicPr>
          <p:cNvPr id="6" name="Picture 5">
            <a:extLst>
              <a:ext uri="{FF2B5EF4-FFF2-40B4-BE49-F238E27FC236}">
                <a16:creationId xmlns:a16="http://schemas.microsoft.com/office/drawing/2014/main" id="{B6C30C72-2170-8040-20A5-61F892C78C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2872" y="3974770"/>
            <a:ext cx="2438095" cy="2438095"/>
          </a:xfrm>
          <a:prstGeom prst="rect">
            <a:avLst/>
          </a:prstGeom>
        </p:spPr>
      </p:pic>
    </p:spTree>
    <p:extLst>
      <p:ext uri="{BB962C8B-B14F-4D97-AF65-F5344CB8AC3E}">
        <p14:creationId xmlns:p14="http://schemas.microsoft.com/office/powerpoint/2010/main" val="9592091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C409B87-02E5-F0F5-B82D-F9D06C5B3096}"/>
              </a:ext>
            </a:extLst>
          </p:cNvPr>
          <p:cNvSpPr/>
          <p:nvPr/>
        </p:nvSpPr>
        <p:spPr>
          <a:xfrm>
            <a:off x="3196006" y="1891193"/>
            <a:ext cx="4139948" cy="451967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itle 1">
            <a:extLst>
              <a:ext uri="{FF2B5EF4-FFF2-40B4-BE49-F238E27FC236}">
                <a16:creationId xmlns:a16="http://schemas.microsoft.com/office/drawing/2014/main" id="{D7574C5C-DC2D-BB62-E34E-A5DCD3870BBC}"/>
              </a:ext>
            </a:extLst>
          </p:cNvPr>
          <p:cNvSpPr txBox="1">
            <a:spLocks/>
          </p:cNvSpPr>
          <p:nvPr/>
        </p:nvSpPr>
        <p:spPr>
          <a:xfrm>
            <a:off x="1531615" y="479353"/>
            <a:ext cx="9126537" cy="642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2400" b="1" dirty="0">
                <a:solidFill>
                  <a:schemeClr val="accent6">
                    <a:lumMod val="50000"/>
                  </a:schemeClr>
                </a:solidFill>
                <a:latin typeface="Calibri" pitchFamily="34" charset="0"/>
                <a:cs typeface="Arial" pitchFamily="34" charset="0"/>
              </a:rPr>
              <a:t>Trend 1:</a:t>
            </a:r>
            <a:r>
              <a:rPr lang="en-US" sz="2400" b="1" dirty="0">
                <a:latin typeface="Calibri" pitchFamily="34" charset="0"/>
                <a:cs typeface="Arial" pitchFamily="34" charset="0"/>
              </a:rPr>
              <a:t> </a:t>
            </a:r>
            <a:r>
              <a:rPr lang="en-US" sz="2400" b="1" dirty="0"/>
              <a:t>Better Value For Money</a:t>
            </a:r>
            <a:r>
              <a:rPr lang="en-US" sz="2400" b="1" dirty="0">
                <a:latin typeface="Calibri" pitchFamily="34" charset="0"/>
                <a:cs typeface="Arial" pitchFamily="34" charset="0"/>
              </a:rPr>
              <a:t>: </a:t>
            </a:r>
            <a:r>
              <a:rPr lang="en-US" sz="2400" b="1" dirty="0">
                <a:solidFill>
                  <a:schemeClr val="accent6">
                    <a:lumMod val="50000"/>
                  </a:schemeClr>
                </a:solidFill>
                <a:cs typeface="Arial" pitchFamily="34" charset="0"/>
              </a:rPr>
              <a:t>High unemployment rate and disparity in pay structure have made consumers price conscious</a:t>
            </a:r>
          </a:p>
        </p:txBody>
      </p:sp>
      <p:sp>
        <p:nvSpPr>
          <p:cNvPr id="6" name="Rounded Rectangle 29">
            <a:extLst>
              <a:ext uri="{FF2B5EF4-FFF2-40B4-BE49-F238E27FC236}">
                <a16:creationId xmlns:a16="http://schemas.microsoft.com/office/drawing/2014/main" id="{47CCDBDD-207F-2D40-F26D-F7AF34A17961}"/>
              </a:ext>
            </a:extLst>
          </p:cNvPr>
          <p:cNvSpPr/>
          <p:nvPr/>
        </p:nvSpPr>
        <p:spPr>
          <a:xfrm>
            <a:off x="1826143" y="1665445"/>
            <a:ext cx="285752" cy="4857784"/>
          </a:xfrm>
          <a:prstGeom prst="round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50000"/>
                </a:schemeClr>
              </a:solidFill>
            </a:endParaRPr>
          </a:p>
        </p:txBody>
      </p:sp>
      <p:sp>
        <p:nvSpPr>
          <p:cNvPr id="7" name="TextBox 6">
            <a:extLst>
              <a:ext uri="{FF2B5EF4-FFF2-40B4-BE49-F238E27FC236}">
                <a16:creationId xmlns:a16="http://schemas.microsoft.com/office/drawing/2014/main" id="{83DF6C12-4363-6622-28E5-462515CFCA3A}"/>
              </a:ext>
            </a:extLst>
          </p:cNvPr>
          <p:cNvSpPr txBox="1"/>
          <p:nvPr/>
        </p:nvSpPr>
        <p:spPr>
          <a:xfrm rot="16200000">
            <a:off x="1397277" y="4336907"/>
            <a:ext cx="1150123" cy="292388"/>
          </a:xfrm>
          <a:prstGeom prst="rect">
            <a:avLst/>
          </a:prstGeom>
          <a:noFill/>
        </p:spPr>
        <p:txBody>
          <a:bodyPr wrap="none" rtlCol="0">
            <a:spAutoFit/>
          </a:bodyPr>
          <a:lstStyle/>
          <a:p>
            <a:r>
              <a:rPr lang="en-GB" sz="1300" b="1" dirty="0">
                <a:solidFill>
                  <a:schemeClr val="bg1"/>
                </a:solidFill>
              </a:rPr>
              <a:t>Better Value</a:t>
            </a:r>
            <a:endParaRPr lang="en-GB" sz="1300" b="1" dirty="0">
              <a:solidFill>
                <a:schemeClr val="bg1"/>
              </a:solidFill>
              <a:latin typeface="Arial" pitchFamily="34" charset="0"/>
              <a:cs typeface="Arial" pitchFamily="34" charset="0"/>
            </a:endParaRPr>
          </a:p>
        </p:txBody>
      </p:sp>
      <p:sp>
        <p:nvSpPr>
          <p:cNvPr id="8" name="TextBox 7">
            <a:extLst>
              <a:ext uri="{FF2B5EF4-FFF2-40B4-BE49-F238E27FC236}">
                <a16:creationId xmlns:a16="http://schemas.microsoft.com/office/drawing/2014/main" id="{AFCFEF92-C24D-C093-CE7B-847E8D3871BA}"/>
              </a:ext>
            </a:extLst>
          </p:cNvPr>
          <p:cNvSpPr txBox="1"/>
          <p:nvPr/>
        </p:nvSpPr>
        <p:spPr>
          <a:xfrm>
            <a:off x="7667847" y="3044600"/>
            <a:ext cx="2489730" cy="292388"/>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Key demographics to target</a:t>
            </a:r>
          </a:p>
        </p:txBody>
      </p:sp>
      <p:sp>
        <p:nvSpPr>
          <p:cNvPr id="9" name="TextBox 8">
            <a:extLst>
              <a:ext uri="{FF2B5EF4-FFF2-40B4-BE49-F238E27FC236}">
                <a16:creationId xmlns:a16="http://schemas.microsoft.com/office/drawing/2014/main" id="{D9E978AA-9AB4-AFC3-803C-5FA673CB6794}"/>
              </a:ext>
            </a:extLst>
          </p:cNvPr>
          <p:cNvSpPr txBox="1"/>
          <p:nvPr/>
        </p:nvSpPr>
        <p:spPr>
          <a:xfrm>
            <a:off x="7710052" y="4264026"/>
            <a:ext cx="2247826" cy="292388"/>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Key categories to target</a:t>
            </a:r>
          </a:p>
        </p:txBody>
      </p:sp>
      <p:sp>
        <p:nvSpPr>
          <p:cNvPr id="10" name="TextBox 9">
            <a:extLst>
              <a:ext uri="{FF2B5EF4-FFF2-40B4-BE49-F238E27FC236}">
                <a16:creationId xmlns:a16="http://schemas.microsoft.com/office/drawing/2014/main" id="{A01F00F1-4AD2-7327-6397-A6AAC17B2BFE}"/>
              </a:ext>
            </a:extLst>
          </p:cNvPr>
          <p:cNvSpPr txBox="1"/>
          <p:nvPr/>
        </p:nvSpPr>
        <p:spPr>
          <a:xfrm>
            <a:off x="7710051" y="3431460"/>
            <a:ext cx="2366637" cy="692497"/>
          </a:xfrm>
          <a:prstGeom prst="rect">
            <a:avLst/>
          </a:prstGeom>
          <a:noFill/>
        </p:spPr>
        <p:txBody>
          <a:bodyPr wrap="square" rtlCol="0">
            <a:spAutoFit/>
          </a:bodyPr>
          <a:lstStyle/>
          <a:p>
            <a:pPr>
              <a:buFont typeface="Arial" pitchFamily="34" charset="0"/>
              <a:buChar char="•"/>
            </a:pPr>
            <a:r>
              <a:rPr lang="en-GB" sz="1300" dirty="0">
                <a:latin typeface="Arial" pitchFamily="34" charset="0"/>
                <a:cs typeface="Arial" pitchFamily="34" charset="0"/>
              </a:rPr>
              <a:t> Women</a:t>
            </a:r>
          </a:p>
          <a:p>
            <a:pPr>
              <a:buFont typeface="Arial" pitchFamily="34" charset="0"/>
              <a:buChar char="•"/>
            </a:pPr>
            <a:r>
              <a:rPr lang="en-GB" sz="1300" dirty="0">
                <a:latin typeface="Arial" pitchFamily="34" charset="0"/>
                <a:cs typeface="Arial" pitchFamily="34" charset="0"/>
              </a:rPr>
              <a:t> </a:t>
            </a:r>
            <a:r>
              <a:rPr lang="en-GB" sz="1300" dirty="0"/>
              <a:t>Aged  20-40</a:t>
            </a:r>
            <a:r>
              <a:rPr lang="en-GB" sz="1300" dirty="0">
                <a:latin typeface="Arial" pitchFamily="34" charset="0"/>
                <a:cs typeface="Arial" pitchFamily="34" charset="0"/>
              </a:rPr>
              <a:t> </a:t>
            </a:r>
            <a:endParaRPr lang="en-GB" sz="1300" dirty="0"/>
          </a:p>
          <a:p>
            <a:pPr>
              <a:buFont typeface="Arial" pitchFamily="34" charset="0"/>
              <a:buChar char="•"/>
            </a:pPr>
            <a:r>
              <a:rPr lang="en-GB" sz="1300" dirty="0">
                <a:latin typeface="Arial" pitchFamily="34" charset="0"/>
                <a:cs typeface="Arial" pitchFamily="34" charset="0"/>
              </a:rPr>
              <a:t> Urban &amp; Rural</a:t>
            </a:r>
          </a:p>
        </p:txBody>
      </p:sp>
      <p:sp>
        <p:nvSpPr>
          <p:cNvPr id="11" name="TextBox 10">
            <a:extLst>
              <a:ext uri="{FF2B5EF4-FFF2-40B4-BE49-F238E27FC236}">
                <a16:creationId xmlns:a16="http://schemas.microsoft.com/office/drawing/2014/main" id="{4F13F7C2-91A1-35EE-0735-DB6780A9E974}"/>
              </a:ext>
            </a:extLst>
          </p:cNvPr>
          <p:cNvSpPr txBox="1"/>
          <p:nvPr/>
        </p:nvSpPr>
        <p:spPr>
          <a:xfrm>
            <a:off x="7710051" y="4557949"/>
            <a:ext cx="2948101" cy="292388"/>
          </a:xfrm>
          <a:prstGeom prst="rect">
            <a:avLst/>
          </a:prstGeom>
          <a:noFill/>
        </p:spPr>
        <p:txBody>
          <a:bodyPr wrap="square" rtlCol="0">
            <a:spAutoFit/>
          </a:bodyPr>
          <a:lstStyle/>
          <a:p>
            <a:pPr>
              <a:buFont typeface="Arial" pitchFamily="34" charset="0"/>
              <a:buChar char="•"/>
            </a:pPr>
            <a:r>
              <a:rPr lang="en-GB" sz="1300" dirty="0"/>
              <a:t>  Sanitary Pads</a:t>
            </a:r>
            <a:endParaRPr lang="en-GB" sz="1300" dirty="0">
              <a:latin typeface="Arial" pitchFamily="34" charset="0"/>
              <a:cs typeface="Arial" pitchFamily="34" charset="0"/>
            </a:endParaRPr>
          </a:p>
        </p:txBody>
      </p:sp>
      <p:sp>
        <p:nvSpPr>
          <p:cNvPr id="12" name="TextBox 11">
            <a:extLst>
              <a:ext uri="{FF2B5EF4-FFF2-40B4-BE49-F238E27FC236}">
                <a16:creationId xmlns:a16="http://schemas.microsoft.com/office/drawing/2014/main" id="{33E79B5D-E43A-45C7-78C4-33BF51418ED6}"/>
              </a:ext>
            </a:extLst>
          </p:cNvPr>
          <p:cNvSpPr txBox="1"/>
          <p:nvPr/>
        </p:nvSpPr>
        <p:spPr>
          <a:xfrm>
            <a:off x="7710052" y="4990783"/>
            <a:ext cx="2548486" cy="492443"/>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Rate at which the trend will evolve</a:t>
            </a:r>
          </a:p>
        </p:txBody>
      </p:sp>
      <p:sp>
        <p:nvSpPr>
          <p:cNvPr id="13" name="TextBox 12">
            <a:extLst>
              <a:ext uri="{FF2B5EF4-FFF2-40B4-BE49-F238E27FC236}">
                <a16:creationId xmlns:a16="http://schemas.microsoft.com/office/drawing/2014/main" id="{C9683DAF-5ADC-8E64-8833-97442052E376}"/>
              </a:ext>
            </a:extLst>
          </p:cNvPr>
          <p:cNvSpPr txBox="1"/>
          <p:nvPr/>
        </p:nvSpPr>
        <p:spPr>
          <a:xfrm>
            <a:off x="7710052" y="5495638"/>
            <a:ext cx="1205165" cy="292388"/>
          </a:xfrm>
          <a:prstGeom prst="rect">
            <a:avLst/>
          </a:prstGeom>
          <a:noFill/>
        </p:spPr>
        <p:txBody>
          <a:bodyPr wrap="square" rtlCol="0">
            <a:spAutoFit/>
          </a:bodyPr>
          <a:lstStyle/>
          <a:p>
            <a:pPr>
              <a:buFont typeface="Arial" pitchFamily="34" charset="0"/>
              <a:buChar char="•"/>
            </a:pPr>
            <a:r>
              <a:rPr lang="en-GB" sz="1300" dirty="0"/>
              <a:t> Fast</a:t>
            </a:r>
            <a:endParaRPr lang="en-GB" sz="1300" dirty="0">
              <a:latin typeface="Arial" pitchFamily="34" charset="0"/>
              <a:cs typeface="Arial" pitchFamily="34" charset="0"/>
            </a:endParaRPr>
          </a:p>
        </p:txBody>
      </p:sp>
      <p:sp>
        <p:nvSpPr>
          <p:cNvPr id="14" name="TextBox 13">
            <a:extLst>
              <a:ext uri="{FF2B5EF4-FFF2-40B4-BE49-F238E27FC236}">
                <a16:creationId xmlns:a16="http://schemas.microsoft.com/office/drawing/2014/main" id="{C29D011A-D549-4B67-ACB5-0444E909BDF4}"/>
              </a:ext>
            </a:extLst>
          </p:cNvPr>
          <p:cNvSpPr txBox="1"/>
          <p:nvPr/>
        </p:nvSpPr>
        <p:spPr>
          <a:xfrm>
            <a:off x="3202644" y="1898006"/>
            <a:ext cx="4093504" cy="4693593"/>
          </a:xfrm>
          <a:prstGeom prst="rect">
            <a:avLst/>
          </a:prstGeom>
          <a:noFill/>
        </p:spPr>
        <p:txBody>
          <a:bodyPr wrap="square" rtlCol="0">
            <a:spAutoFit/>
          </a:bodyPr>
          <a:lstStyle/>
          <a:p>
            <a:pPr marL="179388" indent="-179388">
              <a:buFont typeface="Arial" pitchFamily="34" charset="0"/>
              <a:buChar char="•"/>
            </a:pPr>
            <a:r>
              <a:rPr lang="en-US" sz="1300" dirty="0">
                <a:latin typeface="Arial" panose="020B0604020202020204" pitchFamily="34" charset="0"/>
                <a:cs typeface="Arial" panose="020B0604020202020204" pitchFamily="34" charset="0"/>
              </a:rPr>
              <a:t>The South Korean mid-lifer population (20-40) constitute about  48.3% of the population in the employable category. In spite of  steady economic growth over the last decade, increasing unemployment  in  both urban and rural areas and income inequality have considerably reduced the consumers’ purchasing power. Due to these existing differences, women have been increasingly preferring  to buy hygiene products in bulk on the internet.</a:t>
            </a:r>
          </a:p>
          <a:p>
            <a:pPr marL="179388" indent="-179388">
              <a:buFont typeface="Arial" pitchFamily="34" charset="0"/>
              <a:buChar char="•"/>
            </a:pPr>
            <a:endParaRPr lang="en-US" sz="1300" dirty="0">
              <a:latin typeface="Arial" panose="020B0604020202020204" pitchFamily="34" charset="0"/>
              <a:cs typeface="Arial" panose="020B0604020202020204" pitchFamily="34" charset="0"/>
            </a:endParaRPr>
          </a:p>
          <a:p>
            <a:pPr marL="179388" indent="-179388">
              <a:buFont typeface="Arial" pitchFamily="34" charset="0"/>
              <a:buChar char="•"/>
            </a:pPr>
            <a:r>
              <a:rPr lang="en-US" sz="1300" dirty="0">
                <a:latin typeface="Arial" panose="020B0604020202020204" pitchFamily="34" charset="0"/>
                <a:cs typeface="Arial" panose="020B0604020202020204" pitchFamily="34" charset="0"/>
              </a:rPr>
              <a:t>Based on the value  for money concept and increasing customer needs, Feminine brands have come up with various promotions  using popular web sites like alibaba.com and qoo10.sg</a:t>
            </a:r>
          </a:p>
          <a:p>
            <a:pPr marL="179388" indent="-179388">
              <a:buFont typeface="Arial" pitchFamily="34" charset="0"/>
              <a:buChar char="•"/>
            </a:pPr>
            <a:endParaRPr lang="en-US" sz="1300" dirty="0">
              <a:latin typeface="Arial" panose="020B0604020202020204" pitchFamily="34" charset="0"/>
              <a:cs typeface="Arial" panose="020B0604020202020204" pitchFamily="34" charset="0"/>
            </a:endParaRPr>
          </a:p>
          <a:p>
            <a:pPr marL="179388" indent="-179388">
              <a:buFont typeface="Arial" pitchFamily="34" charset="0"/>
              <a:buChar char="•"/>
            </a:pPr>
            <a:r>
              <a:rPr lang="en-US" sz="1300" dirty="0">
                <a:latin typeface="Arial" panose="020B0604020202020204" pitchFamily="34" charset="0"/>
                <a:cs typeface="Arial" panose="020B0604020202020204" pitchFamily="34" charset="0"/>
              </a:rPr>
              <a:t>For example, </a:t>
            </a:r>
            <a:r>
              <a:rPr lang="en-US" sz="1300" dirty="0" err="1">
                <a:latin typeface="Arial" panose="020B0604020202020204" pitchFamily="34" charset="0"/>
                <a:cs typeface="Arial" panose="020B0604020202020204" pitchFamily="34" charset="0"/>
              </a:rPr>
              <a:t>Unicharm</a:t>
            </a:r>
            <a:r>
              <a:rPr lang="en-US" sz="1300" dirty="0">
                <a:latin typeface="Arial" panose="020B0604020202020204" pitchFamily="34" charset="0"/>
                <a:cs typeface="Arial" panose="020B0604020202020204" pitchFamily="34" charset="0"/>
              </a:rPr>
              <a:t> Corporation sells their product, ”</a:t>
            </a:r>
            <a:r>
              <a:rPr lang="en-US" sz="1300" dirty="0" err="1">
                <a:latin typeface="Arial" panose="020B0604020202020204" pitchFamily="34" charset="0"/>
                <a:cs typeface="Arial" panose="020B0604020202020204" pitchFamily="34" charset="0"/>
              </a:rPr>
              <a:t>Sofybodyfit</a:t>
            </a:r>
            <a:r>
              <a:rPr lang="en-US" sz="1300" dirty="0">
                <a:latin typeface="Arial" panose="020B0604020202020204" pitchFamily="34" charset="0"/>
                <a:cs typeface="Arial" panose="020B0604020202020204" pitchFamily="34" charset="0"/>
              </a:rPr>
              <a:t>”, for a 50% discount on the original price.  Likewise, another Korean brand, </a:t>
            </a:r>
            <a:r>
              <a:rPr lang="en-US" sz="1300" dirty="0" err="1">
                <a:latin typeface="Arial" panose="020B0604020202020204" pitchFamily="34" charset="0"/>
                <a:cs typeface="Arial" panose="020B0604020202020204" pitchFamily="34" charset="0"/>
              </a:rPr>
              <a:t>Yuhan</a:t>
            </a:r>
            <a:r>
              <a:rPr lang="en-US" sz="1300" dirty="0">
                <a:latin typeface="Arial" panose="020B0604020202020204" pitchFamily="34" charset="0"/>
                <a:cs typeface="Arial" panose="020B0604020202020204" pitchFamily="34" charset="0"/>
              </a:rPr>
              <a:t> Kimberley, offers its All Cotton Ultra Wing sanitary pads in a single pack  less than the retail price on the internet .</a:t>
            </a:r>
            <a:endParaRPr lang="en-US" sz="1300" dirty="0">
              <a:solidFill>
                <a:srgbClr val="FF0000"/>
              </a:solidFill>
              <a:latin typeface="Arial" panose="020B0604020202020204" pitchFamily="34" charset="0"/>
              <a:cs typeface="Arial" panose="020B0604020202020204" pitchFamily="34" charset="0"/>
            </a:endParaRPr>
          </a:p>
          <a:p>
            <a:pPr marL="179388" indent="-179388"/>
            <a:endParaRPr lang="en-US" sz="1300" dirty="0">
              <a:latin typeface="Arial" pitchFamily="34" charset="0"/>
              <a:cs typeface="Arial" pitchFamily="34" charset="0"/>
            </a:endParaRPr>
          </a:p>
        </p:txBody>
      </p:sp>
      <p:sp>
        <p:nvSpPr>
          <p:cNvPr id="15" name="TextBox 14">
            <a:extLst>
              <a:ext uri="{FF2B5EF4-FFF2-40B4-BE49-F238E27FC236}">
                <a16:creationId xmlns:a16="http://schemas.microsoft.com/office/drawing/2014/main" id="{1D01D5DE-DA75-904A-3372-ED8F43FE0271}"/>
              </a:ext>
            </a:extLst>
          </p:cNvPr>
          <p:cNvSpPr txBox="1"/>
          <p:nvPr/>
        </p:nvSpPr>
        <p:spPr>
          <a:xfrm>
            <a:off x="1826144" y="1274674"/>
            <a:ext cx="8832008" cy="307777"/>
          </a:xfrm>
          <a:prstGeom prst="rect">
            <a:avLst/>
          </a:prstGeom>
          <a:noFill/>
        </p:spPr>
        <p:txBody>
          <a:bodyPr wrap="square" rtlCol="0">
            <a:spAutoFit/>
          </a:bodyPr>
          <a:lstStyle/>
          <a:p>
            <a:pPr lvl="0"/>
            <a:r>
              <a:rPr lang="en-GB" sz="1400" b="1" dirty="0"/>
              <a:t>How the Better Value trend will influence the usage of Feminine Hygiene products in South Korea</a:t>
            </a:r>
          </a:p>
        </p:txBody>
      </p:sp>
      <p:pic>
        <p:nvPicPr>
          <p:cNvPr id="16" name="Picture 15" descr="\\172.18.24.1\data\NRI\Nri3\prod\PDDP\Canadean\Icons\Value-for-Money.png">
            <a:extLst>
              <a:ext uri="{FF2B5EF4-FFF2-40B4-BE49-F238E27FC236}">
                <a16:creationId xmlns:a16="http://schemas.microsoft.com/office/drawing/2014/main" id="{EBB3113F-637A-0C6B-AF83-9D1DCDB58635}"/>
              </a:ext>
            </a:extLst>
          </p:cNvPr>
          <p:cNvPicPr>
            <a:picLocks noChangeAspect="1" noChangeArrowheads="1"/>
          </p:cNvPicPr>
          <p:nvPr/>
        </p:nvPicPr>
        <p:blipFill>
          <a:blip r:embed="rId2" cstate="print"/>
          <a:srcRect/>
          <a:stretch>
            <a:fillRect/>
          </a:stretch>
        </p:blipFill>
        <p:spPr bwMode="auto">
          <a:xfrm>
            <a:off x="8502513" y="1757979"/>
            <a:ext cx="1143000" cy="1139885"/>
          </a:xfrm>
          <a:prstGeom prst="rect">
            <a:avLst/>
          </a:prstGeom>
          <a:noFill/>
        </p:spPr>
      </p:pic>
      <p:pic>
        <p:nvPicPr>
          <p:cNvPr id="17" name="Picture 2" descr="C:\Users\lbandla\Desktop\Trends\South Korea\SK pic.jpg">
            <a:extLst>
              <a:ext uri="{FF2B5EF4-FFF2-40B4-BE49-F238E27FC236}">
                <a16:creationId xmlns:a16="http://schemas.microsoft.com/office/drawing/2014/main" id="{A96E57D1-9D5F-4266-24DA-3BD13D90B6B9}"/>
              </a:ext>
            </a:extLst>
          </p:cNvPr>
          <p:cNvPicPr>
            <a:picLocks noChangeAspect="1" noChangeArrowheads="1"/>
          </p:cNvPicPr>
          <p:nvPr/>
        </p:nvPicPr>
        <p:blipFill>
          <a:blip r:embed="rId3" cstate="print"/>
          <a:srcRect/>
          <a:stretch>
            <a:fillRect/>
          </a:stretch>
        </p:blipFill>
        <p:spPr bwMode="auto">
          <a:xfrm>
            <a:off x="2151144" y="2017650"/>
            <a:ext cx="914400" cy="762000"/>
          </a:xfrm>
          <a:prstGeom prst="rect">
            <a:avLst/>
          </a:prstGeom>
          <a:noFill/>
        </p:spPr>
      </p:pic>
      <p:pic>
        <p:nvPicPr>
          <p:cNvPr id="18" name="Picture 2" descr="C:\Users\lbandla\Desktop\Trends\South Korea\SK pic.jpg">
            <a:extLst>
              <a:ext uri="{FF2B5EF4-FFF2-40B4-BE49-F238E27FC236}">
                <a16:creationId xmlns:a16="http://schemas.microsoft.com/office/drawing/2014/main" id="{7573F0F3-37AB-C02E-F051-48E518510055}"/>
              </a:ext>
            </a:extLst>
          </p:cNvPr>
          <p:cNvPicPr>
            <a:picLocks noChangeAspect="1" noChangeArrowheads="1"/>
          </p:cNvPicPr>
          <p:nvPr/>
        </p:nvPicPr>
        <p:blipFill>
          <a:blip r:embed="rId3" cstate="print"/>
          <a:srcRect/>
          <a:stretch>
            <a:fillRect/>
          </a:stretch>
        </p:blipFill>
        <p:spPr bwMode="auto">
          <a:xfrm>
            <a:off x="2151888" y="5330826"/>
            <a:ext cx="914400" cy="762000"/>
          </a:xfrm>
          <a:prstGeom prst="rect">
            <a:avLst/>
          </a:prstGeom>
          <a:noFill/>
        </p:spPr>
      </p:pic>
    </p:spTree>
    <p:extLst>
      <p:ext uri="{BB962C8B-B14F-4D97-AF65-F5344CB8AC3E}">
        <p14:creationId xmlns:p14="http://schemas.microsoft.com/office/powerpoint/2010/main" val="1746722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493AE0-ACD5-45FA-CF86-4998EA5FAC59}"/>
              </a:ext>
            </a:extLst>
          </p:cNvPr>
          <p:cNvSpPr txBox="1">
            <a:spLocks/>
          </p:cNvSpPr>
          <p:nvPr/>
        </p:nvSpPr>
        <p:spPr>
          <a:xfrm>
            <a:off x="1681671" y="339725"/>
            <a:ext cx="9126537" cy="642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IN" sz="2400" b="1" dirty="0">
                <a:solidFill>
                  <a:schemeClr val="accent6">
                    <a:lumMod val="50000"/>
                  </a:schemeClr>
                </a:solidFill>
                <a:latin typeface="Calibri" pitchFamily="34" charset="0"/>
                <a:cs typeface="Arial" pitchFamily="34" charset="0"/>
              </a:rPr>
              <a:t>Trend 2:</a:t>
            </a:r>
            <a:r>
              <a:rPr lang="en-IN" sz="2400" b="1" dirty="0">
                <a:latin typeface="Calibri" pitchFamily="34" charset="0"/>
                <a:cs typeface="Arial" pitchFamily="34" charset="0"/>
              </a:rPr>
              <a:t> Individualism: </a:t>
            </a:r>
            <a:endParaRPr lang="en-IN" sz="2400" b="1" dirty="0">
              <a:solidFill>
                <a:schemeClr val="accent6">
                  <a:lumMod val="50000"/>
                </a:schemeClr>
              </a:solidFill>
              <a:cs typeface="Arial" pitchFamily="34" charset="0"/>
            </a:endParaRPr>
          </a:p>
        </p:txBody>
      </p:sp>
      <p:sp>
        <p:nvSpPr>
          <p:cNvPr id="5" name="Rounded Rectangle 29">
            <a:extLst>
              <a:ext uri="{FF2B5EF4-FFF2-40B4-BE49-F238E27FC236}">
                <a16:creationId xmlns:a16="http://schemas.microsoft.com/office/drawing/2014/main" id="{A60D4E8F-33C2-40CC-1C4D-3C197C6F26FB}"/>
              </a:ext>
            </a:extLst>
          </p:cNvPr>
          <p:cNvSpPr/>
          <p:nvPr/>
        </p:nvSpPr>
        <p:spPr>
          <a:xfrm>
            <a:off x="1878490" y="1482709"/>
            <a:ext cx="285752" cy="4857784"/>
          </a:xfrm>
          <a:prstGeom prst="roundRect">
            <a:avLst/>
          </a:prstGeom>
          <a:solidFill>
            <a:srgbClr val="D63E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50000"/>
                </a:schemeClr>
              </a:solidFill>
            </a:endParaRPr>
          </a:p>
        </p:txBody>
      </p:sp>
      <p:sp>
        <p:nvSpPr>
          <p:cNvPr id="6" name="TextBox 5">
            <a:extLst>
              <a:ext uri="{FF2B5EF4-FFF2-40B4-BE49-F238E27FC236}">
                <a16:creationId xmlns:a16="http://schemas.microsoft.com/office/drawing/2014/main" id="{9B454689-FA64-6564-0456-A9E677204152}"/>
              </a:ext>
            </a:extLst>
          </p:cNvPr>
          <p:cNvSpPr txBox="1"/>
          <p:nvPr/>
        </p:nvSpPr>
        <p:spPr>
          <a:xfrm rot="16200000">
            <a:off x="1391126" y="3765405"/>
            <a:ext cx="1253869" cy="292388"/>
          </a:xfrm>
          <a:prstGeom prst="rect">
            <a:avLst/>
          </a:prstGeom>
          <a:noFill/>
        </p:spPr>
        <p:txBody>
          <a:bodyPr wrap="none" rtlCol="0">
            <a:spAutoFit/>
          </a:bodyPr>
          <a:lstStyle/>
          <a:p>
            <a:r>
              <a:rPr lang="en-GB" sz="1300" b="1" dirty="0">
                <a:solidFill>
                  <a:schemeClr val="bg1"/>
                </a:solidFill>
              </a:rPr>
              <a:t>Individualism</a:t>
            </a:r>
            <a:endParaRPr lang="en-GB" sz="1300" b="1" dirty="0">
              <a:solidFill>
                <a:schemeClr val="bg1"/>
              </a:solidFill>
              <a:latin typeface="Arial" pitchFamily="34" charset="0"/>
              <a:cs typeface="Arial" pitchFamily="34" charset="0"/>
            </a:endParaRPr>
          </a:p>
        </p:txBody>
      </p:sp>
      <p:sp>
        <p:nvSpPr>
          <p:cNvPr id="7" name="TextBox 6">
            <a:extLst>
              <a:ext uri="{FF2B5EF4-FFF2-40B4-BE49-F238E27FC236}">
                <a16:creationId xmlns:a16="http://schemas.microsoft.com/office/drawing/2014/main" id="{3FF0946D-F1F4-E612-A52A-042817716733}"/>
              </a:ext>
            </a:extLst>
          </p:cNvPr>
          <p:cNvSpPr txBox="1"/>
          <p:nvPr/>
        </p:nvSpPr>
        <p:spPr>
          <a:xfrm>
            <a:off x="7763999" y="2561937"/>
            <a:ext cx="2439297" cy="292388"/>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Key demographics to target</a:t>
            </a:r>
          </a:p>
        </p:txBody>
      </p:sp>
      <p:sp>
        <p:nvSpPr>
          <p:cNvPr id="8" name="TextBox 7">
            <a:extLst>
              <a:ext uri="{FF2B5EF4-FFF2-40B4-BE49-F238E27FC236}">
                <a16:creationId xmlns:a16="http://schemas.microsoft.com/office/drawing/2014/main" id="{A399627D-D080-7F9C-3E3B-54A9C8CE7026}"/>
              </a:ext>
            </a:extLst>
          </p:cNvPr>
          <p:cNvSpPr txBox="1"/>
          <p:nvPr/>
        </p:nvSpPr>
        <p:spPr>
          <a:xfrm>
            <a:off x="7763999" y="3768725"/>
            <a:ext cx="2258717" cy="292388"/>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Key categories to target</a:t>
            </a:r>
          </a:p>
        </p:txBody>
      </p:sp>
      <p:sp>
        <p:nvSpPr>
          <p:cNvPr id="9" name="TextBox 8">
            <a:extLst>
              <a:ext uri="{FF2B5EF4-FFF2-40B4-BE49-F238E27FC236}">
                <a16:creationId xmlns:a16="http://schemas.microsoft.com/office/drawing/2014/main" id="{8A75A526-78B0-7B81-78EF-40FFEB941945}"/>
              </a:ext>
            </a:extLst>
          </p:cNvPr>
          <p:cNvSpPr txBox="1"/>
          <p:nvPr/>
        </p:nvSpPr>
        <p:spPr>
          <a:xfrm>
            <a:off x="7763999" y="2921533"/>
            <a:ext cx="2157498" cy="692497"/>
          </a:xfrm>
          <a:prstGeom prst="rect">
            <a:avLst/>
          </a:prstGeom>
          <a:noFill/>
        </p:spPr>
        <p:txBody>
          <a:bodyPr wrap="square" rtlCol="0">
            <a:spAutoFit/>
          </a:bodyPr>
          <a:lstStyle/>
          <a:p>
            <a:pPr>
              <a:buFont typeface="Arial" pitchFamily="34" charset="0"/>
              <a:buChar char="•"/>
            </a:pPr>
            <a:r>
              <a:rPr lang="en-GB" sz="1300" dirty="0">
                <a:latin typeface="Arial" pitchFamily="34" charset="0"/>
                <a:cs typeface="Arial" pitchFamily="34" charset="0"/>
              </a:rPr>
              <a:t> Women</a:t>
            </a:r>
          </a:p>
          <a:p>
            <a:pPr>
              <a:buFont typeface="Arial" pitchFamily="34" charset="0"/>
              <a:buChar char="•"/>
            </a:pPr>
            <a:r>
              <a:rPr lang="en-GB" sz="1300" dirty="0">
                <a:latin typeface="Arial" pitchFamily="34" charset="0"/>
                <a:cs typeface="Arial" pitchFamily="34" charset="0"/>
              </a:rPr>
              <a:t> Aged 21-31</a:t>
            </a:r>
          </a:p>
          <a:p>
            <a:pPr>
              <a:buFont typeface="Arial" pitchFamily="34" charset="0"/>
              <a:buChar char="•"/>
            </a:pPr>
            <a:r>
              <a:rPr lang="en-GB" sz="1300" dirty="0">
                <a:latin typeface="Arial" pitchFamily="34" charset="0"/>
                <a:cs typeface="Arial" pitchFamily="34" charset="0"/>
              </a:rPr>
              <a:t> Urban</a:t>
            </a:r>
          </a:p>
        </p:txBody>
      </p:sp>
      <p:sp>
        <p:nvSpPr>
          <p:cNvPr id="10" name="TextBox 9">
            <a:extLst>
              <a:ext uri="{FF2B5EF4-FFF2-40B4-BE49-F238E27FC236}">
                <a16:creationId xmlns:a16="http://schemas.microsoft.com/office/drawing/2014/main" id="{D822A56C-8FC6-6C51-B7D2-447E140BF3E3}"/>
              </a:ext>
            </a:extLst>
          </p:cNvPr>
          <p:cNvSpPr txBox="1"/>
          <p:nvPr/>
        </p:nvSpPr>
        <p:spPr>
          <a:xfrm>
            <a:off x="7764000" y="4800282"/>
            <a:ext cx="3044208" cy="292388"/>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Rate at which the trend will evolve</a:t>
            </a:r>
          </a:p>
        </p:txBody>
      </p:sp>
      <p:sp>
        <p:nvSpPr>
          <p:cNvPr id="11" name="TextBox 10">
            <a:extLst>
              <a:ext uri="{FF2B5EF4-FFF2-40B4-BE49-F238E27FC236}">
                <a16:creationId xmlns:a16="http://schemas.microsoft.com/office/drawing/2014/main" id="{4C8D79DC-895E-0DC6-0C30-5229DB6FF21B}"/>
              </a:ext>
            </a:extLst>
          </p:cNvPr>
          <p:cNvSpPr txBox="1"/>
          <p:nvPr/>
        </p:nvSpPr>
        <p:spPr>
          <a:xfrm>
            <a:off x="7764000" y="5228937"/>
            <a:ext cx="1179343" cy="292388"/>
          </a:xfrm>
          <a:prstGeom prst="rect">
            <a:avLst/>
          </a:prstGeom>
          <a:noFill/>
        </p:spPr>
        <p:txBody>
          <a:bodyPr wrap="square" rtlCol="0">
            <a:spAutoFit/>
          </a:bodyPr>
          <a:lstStyle/>
          <a:p>
            <a:pPr>
              <a:buFont typeface="Arial" pitchFamily="34" charset="0"/>
              <a:buChar char="•"/>
            </a:pPr>
            <a:r>
              <a:rPr lang="en-GB" sz="1300" dirty="0">
                <a:latin typeface="Arial" pitchFamily="34" charset="0"/>
                <a:cs typeface="Arial" pitchFamily="34" charset="0"/>
              </a:rPr>
              <a:t> Fast</a:t>
            </a:r>
          </a:p>
        </p:txBody>
      </p:sp>
      <p:sp>
        <p:nvSpPr>
          <p:cNvPr id="12" name="TextBox 11">
            <a:extLst>
              <a:ext uri="{FF2B5EF4-FFF2-40B4-BE49-F238E27FC236}">
                <a16:creationId xmlns:a16="http://schemas.microsoft.com/office/drawing/2014/main" id="{81B0CA7D-D952-A853-8684-DF1D876BECD5}"/>
              </a:ext>
            </a:extLst>
          </p:cNvPr>
          <p:cNvSpPr txBox="1"/>
          <p:nvPr/>
        </p:nvSpPr>
        <p:spPr>
          <a:xfrm>
            <a:off x="2197608" y="1154929"/>
            <a:ext cx="7531608" cy="292388"/>
          </a:xfrm>
          <a:prstGeom prst="rect">
            <a:avLst/>
          </a:prstGeom>
          <a:noFill/>
        </p:spPr>
        <p:txBody>
          <a:bodyPr wrap="square" rtlCol="0">
            <a:spAutoFit/>
          </a:bodyPr>
          <a:lstStyle/>
          <a:p>
            <a:pPr lvl="0"/>
            <a:r>
              <a:rPr lang="en-GB" sz="1300" b="1" dirty="0">
                <a:cs typeface="Arial" panose="020B0604020202020204" pitchFamily="34" charset="0"/>
              </a:rPr>
              <a:t>How the Trust trend will influence the usage of Feminine Hygiene products in South Korea</a:t>
            </a:r>
          </a:p>
        </p:txBody>
      </p:sp>
      <p:sp>
        <p:nvSpPr>
          <p:cNvPr id="13" name="Rectangle 12">
            <a:extLst>
              <a:ext uri="{FF2B5EF4-FFF2-40B4-BE49-F238E27FC236}">
                <a16:creationId xmlns:a16="http://schemas.microsoft.com/office/drawing/2014/main" id="{8AD55D12-17F0-6C9F-CEBE-1EDCC5D1399B}"/>
              </a:ext>
            </a:extLst>
          </p:cNvPr>
          <p:cNvSpPr/>
          <p:nvPr/>
        </p:nvSpPr>
        <p:spPr>
          <a:xfrm>
            <a:off x="3188209" y="1787525"/>
            <a:ext cx="3962399" cy="43434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TextBox 13">
            <a:extLst>
              <a:ext uri="{FF2B5EF4-FFF2-40B4-BE49-F238E27FC236}">
                <a16:creationId xmlns:a16="http://schemas.microsoft.com/office/drawing/2014/main" id="{586F6022-3CB8-A917-682D-9B18C4E20C4E}"/>
              </a:ext>
            </a:extLst>
          </p:cNvPr>
          <p:cNvSpPr txBox="1"/>
          <p:nvPr/>
        </p:nvSpPr>
        <p:spPr>
          <a:xfrm>
            <a:off x="3188208" y="1787525"/>
            <a:ext cx="3962399" cy="4293483"/>
          </a:xfrm>
          <a:prstGeom prst="rect">
            <a:avLst/>
          </a:prstGeom>
          <a:noFill/>
        </p:spPr>
        <p:txBody>
          <a:bodyPr wrap="square" rtlCol="0">
            <a:spAutoFit/>
          </a:bodyPr>
          <a:lstStyle/>
          <a:p>
            <a:pPr marL="179388" indent="-179388">
              <a:buFont typeface="Arial" pitchFamily="34" charset="0"/>
              <a:buChar char="•"/>
            </a:pPr>
            <a:r>
              <a:rPr lang="en-US" sz="1300" dirty="0">
                <a:latin typeface="Arial" panose="020B0604020202020204" pitchFamily="34" charset="0"/>
                <a:cs typeface="Arial" panose="020B0604020202020204" pitchFamily="34" charset="0"/>
              </a:rPr>
              <a:t>Fast-paced lifestyle, tax fee living and high disposable income make most of  the young female expat workforce in  the  UAE to splurge on premium products based on individualistic needs.</a:t>
            </a:r>
          </a:p>
          <a:p>
            <a:pPr marL="179388" indent="-179388"/>
            <a:endParaRPr lang="en-US" sz="1300" dirty="0">
              <a:latin typeface="Arial" panose="020B0604020202020204" pitchFamily="34" charset="0"/>
              <a:cs typeface="Arial" panose="020B0604020202020204" pitchFamily="34" charset="0"/>
            </a:endParaRPr>
          </a:p>
          <a:p>
            <a:pPr marL="179388" indent="-179388">
              <a:buFont typeface="Arial" pitchFamily="34" charset="0"/>
              <a:buChar char="•"/>
            </a:pPr>
            <a:r>
              <a:rPr lang="en-US" sz="1300" dirty="0">
                <a:latin typeface="Arial" panose="020B0604020202020204" pitchFamily="34" charset="0"/>
                <a:cs typeface="Arial" panose="020B0604020202020204" pitchFamily="34" charset="0"/>
              </a:rPr>
              <a:t>To cater to an urban woman’s choice , many international brands have launched premium products  for women to maintain hygiene on special days.</a:t>
            </a:r>
            <a:endParaRPr lang="en-US" sz="1300" dirty="0">
              <a:solidFill>
                <a:srgbClr val="FF0000"/>
              </a:solidFill>
              <a:latin typeface="Arial" panose="020B0604020202020204" pitchFamily="34" charset="0"/>
              <a:cs typeface="Arial" panose="020B0604020202020204" pitchFamily="34" charset="0"/>
            </a:endParaRPr>
          </a:p>
          <a:p>
            <a:pPr marL="179388" indent="-179388">
              <a:buFont typeface="Arial" pitchFamily="34" charset="0"/>
              <a:buChar char="•"/>
            </a:pPr>
            <a:endParaRPr lang="en-US" sz="1300" dirty="0">
              <a:solidFill>
                <a:srgbClr val="FF0000"/>
              </a:solidFill>
              <a:latin typeface="Arial" panose="020B0604020202020204" pitchFamily="34" charset="0"/>
              <a:cs typeface="Arial" panose="020B0604020202020204" pitchFamily="34" charset="0"/>
            </a:endParaRPr>
          </a:p>
          <a:p>
            <a:pPr marL="179388" indent="-179388">
              <a:buFont typeface="Arial" pitchFamily="34" charset="0"/>
              <a:buChar char="•"/>
            </a:pPr>
            <a:r>
              <a:rPr lang="en-US" sz="1300" dirty="0">
                <a:latin typeface="Arial" panose="020B0604020202020204" pitchFamily="34" charset="0"/>
                <a:cs typeface="Arial" panose="020B0604020202020204" pitchFamily="34" charset="0"/>
              </a:rPr>
              <a:t>For instance, </a:t>
            </a:r>
            <a:r>
              <a:rPr lang="en-US" sz="1300" dirty="0" err="1">
                <a:latin typeface="Arial" panose="020B0604020202020204" pitchFamily="34" charset="0"/>
                <a:cs typeface="Arial" panose="020B0604020202020204" pitchFamily="34" charset="0"/>
              </a:rPr>
              <a:t>Femfresh</a:t>
            </a:r>
            <a:r>
              <a:rPr lang="en-US" sz="1300" dirty="0">
                <a:latin typeface="Arial" panose="020B0604020202020204" pitchFamily="34" charset="0"/>
                <a:cs typeface="Arial" panose="020B0604020202020204" pitchFamily="34" charset="0"/>
              </a:rPr>
              <a:t>, a UK based international company,  has introduced a range of products for the intimate skin to maintain better hygiene and PH balance during menstruation..</a:t>
            </a:r>
          </a:p>
          <a:p>
            <a:pPr marL="179388" indent="-179388">
              <a:buFont typeface="Arial" pitchFamily="34" charset="0"/>
              <a:buChar char="•"/>
            </a:pPr>
            <a:endParaRPr lang="en-US" sz="1300" dirty="0">
              <a:latin typeface="Arial" panose="020B0604020202020204" pitchFamily="34" charset="0"/>
              <a:cs typeface="Arial" panose="020B0604020202020204" pitchFamily="34" charset="0"/>
            </a:endParaRPr>
          </a:p>
          <a:p>
            <a:pPr marL="179388" indent="-179388">
              <a:buFont typeface="Arial" pitchFamily="34" charset="0"/>
              <a:buChar char="•"/>
            </a:pPr>
            <a:r>
              <a:rPr lang="en-US" sz="1300" dirty="0">
                <a:latin typeface="Arial" panose="020B0604020202020204" pitchFamily="34" charset="0"/>
                <a:cs typeface="Arial" panose="020B0604020202020204" pitchFamily="34" charset="0"/>
              </a:rPr>
              <a:t>Their product  Ultimate Care Pure and Fresh Wash  is PH balanced and blended with the natural ingredients of the lotus flower, which gives a soothing feeling in the intimate area..</a:t>
            </a:r>
          </a:p>
        </p:txBody>
      </p:sp>
      <p:sp>
        <p:nvSpPr>
          <p:cNvPr id="15" name="TextBox 14">
            <a:extLst>
              <a:ext uri="{FF2B5EF4-FFF2-40B4-BE49-F238E27FC236}">
                <a16:creationId xmlns:a16="http://schemas.microsoft.com/office/drawing/2014/main" id="{88B4F426-EA28-CEAD-FEE2-4D51EA6E459D}"/>
              </a:ext>
            </a:extLst>
          </p:cNvPr>
          <p:cNvSpPr txBox="1"/>
          <p:nvPr/>
        </p:nvSpPr>
        <p:spPr>
          <a:xfrm>
            <a:off x="7740566" y="4049030"/>
            <a:ext cx="2767301" cy="492443"/>
          </a:xfrm>
          <a:prstGeom prst="rect">
            <a:avLst/>
          </a:prstGeom>
          <a:noFill/>
        </p:spPr>
        <p:txBody>
          <a:bodyPr wrap="square" rtlCol="0">
            <a:spAutoFit/>
          </a:bodyPr>
          <a:lstStyle/>
          <a:p>
            <a:pPr>
              <a:buFont typeface="Arial" pitchFamily="34" charset="0"/>
              <a:buChar char="•"/>
            </a:pPr>
            <a:r>
              <a:rPr lang="en-GB" sz="1300" dirty="0">
                <a:latin typeface="Arial" pitchFamily="34" charset="0"/>
                <a:cs typeface="Arial" pitchFamily="34" charset="0"/>
              </a:rPr>
              <a:t>Internal Cleansers</a:t>
            </a:r>
          </a:p>
          <a:p>
            <a:pPr>
              <a:buFont typeface="Arial" pitchFamily="34" charset="0"/>
              <a:buChar char="•"/>
            </a:pPr>
            <a:endParaRPr lang="en-GB" sz="1300" dirty="0">
              <a:latin typeface="Arial" pitchFamily="34" charset="0"/>
              <a:cs typeface="Arial" pitchFamily="34" charset="0"/>
            </a:endParaRPr>
          </a:p>
        </p:txBody>
      </p:sp>
      <p:pic>
        <p:nvPicPr>
          <p:cNvPr id="16" name="Picture 20" descr="\\172.18.24.1\data\NRI\Nri3\prod\PDDP\Canadean\Icons\Individualism.png">
            <a:extLst>
              <a:ext uri="{FF2B5EF4-FFF2-40B4-BE49-F238E27FC236}">
                <a16:creationId xmlns:a16="http://schemas.microsoft.com/office/drawing/2014/main" id="{D0B824D7-2784-520A-575D-0A25634DDD49}"/>
              </a:ext>
            </a:extLst>
          </p:cNvPr>
          <p:cNvPicPr>
            <a:picLocks noChangeAspect="1" noChangeArrowheads="1"/>
          </p:cNvPicPr>
          <p:nvPr/>
        </p:nvPicPr>
        <p:blipFill>
          <a:blip r:embed="rId2" cstate="print"/>
          <a:srcRect/>
          <a:stretch>
            <a:fillRect/>
          </a:stretch>
        </p:blipFill>
        <p:spPr bwMode="auto">
          <a:xfrm>
            <a:off x="8510016" y="1433127"/>
            <a:ext cx="1219200" cy="1143000"/>
          </a:xfrm>
          <a:prstGeom prst="rect">
            <a:avLst/>
          </a:prstGeom>
          <a:noFill/>
        </p:spPr>
      </p:pic>
      <p:pic>
        <p:nvPicPr>
          <p:cNvPr id="17" name="Picture 2" descr="C:\Users\lbandla\Desktop\Trends\South Korea\SK pic.jpg">
            <a:extLst>
              <a:ext uri="{FF2B5EF4-FFF2-40B4-BE49-F238E27FC236}">
                <a16:creationId xmlns:a16="http://schemas.microsoft.com/office/drawing/2014/main" id="{979C5A3F-3AF3-F3BE-C983-60660A81F6D4}"/>
              </a:ext>
            </a:extLst>
          </p:cNvPr>
          <p:cNvPicPr>
            <a:picLocks noChangeAspect="1" noChangeArrowheads="1"/>
          </p:cNvPicPr>
          <p:nvPr/>
        </p:nvPicPr>
        <p:blipFill>
          <a:blip r:embed="rId3" cstate="print"/>
          <a:srcRect/>
          <a:stretch>
            <a:fillRect/>
          </a:stretch>
        </p:blipFill>
        <p:spPr bwMode="auto">
          <a:xfrm>
            <a:off x="2197608" y="1939925"/>
            <a:ext cx="914400" cy="762000"/>
          </a:xfrm>
          <a:prstGeom prst="rect">
            <a:avLst/>
          </a:prstGeom>
          <a:noFill/>
        </p:spPr>
      </p:pic>
      <p:pic>
        <p:nvPicPr>
          <p:cNvPr id="18" name="Picture 2" descr="C:\Users\lbandla\Desktop\Trends\South Korea\SK pic.jpg">
            <a:extLst>
              <a:ext uri="{FF2B5EF4-FFF2-40B4-BE49-F238E27FC236}">
                <a16:creationId xmlns:a16="http://schemas.microsoft.com/office/drawing/2014/main" id="{FF47A836-40BF-392F-FE98-5AEEF151C616}"/>
              </a:ext>
            </a:extLst>
          </p:cNvPr>
          <p:cNvPicPr>
            <a:picLocks noChangeAspect="1" noChangeArrowheads="1"/>
          </p:cNvPicPr>
          <p:nvPr/>
        </p:nvPicPr>
        <p:blipFill>
          <a:blip r:embed="rId3" cstate="print"/>
          <a:srcRect/>
          <a:stretch>
            <a:fillRect/>
          </a:stretch>
        </p:blipFill>
        <p:spPr bwMode="auto">
          <a:xfrm>
            <a:off x="2197608" y="5216525"/>
            <a:ext cx="914400" cy="762000"/>
          </a:xfrm>
          <a:prstGeom prst="rect">
            <a:avLst/>
          </a:prstGeom>
          <a:noFill/>
        </p:spPr>
      </p:pic>
    </p:spTree>
    <p:extLst>
      <p:ext uri="{BB962C8B-B14F-4D97-AF65-F5344CB8AC3E}">
        <p14:creationId xmlns:p14="http://schemas.microsoft.com/office/powerpoint/2010/main" val="3130369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49D6A3-E80A-9699-D080-E82E39607718}"/>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07E5C6D0-4571-300D-A2C4-17655B6D12FB}"/>
              </a:ext>
            </a:extLst>
          </p:cNvPr>
          <p:cNvSpPr/>
          <p:nvPr/>
        </p:nvSpPr>
        <p:spPr>
          <a:xfrm>
            <a:off x="2763772" y="1939907"/>
            <a:ext cx="4222244" cy="44196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Title 1">
            <a:extLst>
              <a:ext uri="{FF2B5EF4-FFF2-40B4-BE49-F238E27FC236}">
                <a16:creationId xmlns:a16="http://schemas.microsoft.com/office/drawing/2014/main" id="{17ACA82E-1CFA-0150-47D3-29AEA7522338}"/>
              </a:ext>
            </a:extLst>
          </p:cNvPr>
          <p:cNvSpPr txBox="1">
            <a:spLocks/>
          </p:cNvSpPr>
          <p:nvPr/>
        </p:nvSpPr>
        <p:spPr>
          <a:xfrm>
            <a:off x="1288479" y="492107"/>
            <a:ext cx="9126537" cy="642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2400" b="1" dirty="0">
                <a:solidFill>
                  <a:schemeClr val="accent6">
                    <a:lumMod val="50000"/>
                  </a:schemeClr>
                </a:solidFill>
                <a:latin typeface="Calibri" pitchFamily="34" charset="0"/>
                <a:cs typeface="Arial" pitchFamily="34" charset="0"/>
              </a:rPr>
              <a:t>Trend 3</a:t>
            </a:r>
            <a:r>
              <a:rPr lang="en-US" sz="2400" b="1" dirty="0">
                <a:latin typeface="Calibri" pitchFamily="34" charset="0"/>
                <a:cs typeface="Arial" pitchFamily="34" charset="0"/>
              </a:rPr>
              <a:t>: </a:t>
            </a:r>
            <a:r>
              <a:rPr lang="en-US" sz="2400" b="1" dirty="0">
                <a:solidFill>
                  <a:srgbClr val="002060"/>
                </a:solidFill>
                <a:cs typeface="Arial" pitchFamily="34" charset="0"/>
              </a:rPr>
              <a:t>Quality Seeking</a:t>
            </a:r>
            <a:r>
              <a:rPr lang="en-US" sz="2400" b="1" dirty="0">
                <a:solidFill>
                  <a:schemeClr val="accent6">
                    <a:lumMod val="50000"/>
                  </a:schemeClr>
                </a:solidFill>
                <a:cs typeface="Arial" pitchFamily="34" charset="0"/>
              </a:rPr>
              <a:t>: Rise in expat population and disposable income in UAE have increased consumers’ choice for premium hygiene products</a:t>
            </a:r>
          </a:p>
        </p:txBody>
      </p:sp>
      <p:sp>
        <p:nvSpPr>
          <p:cNvPr id="6" name="Rounded Rectangle 29">
            <a:extLst>
              <a:ext uri="{FF2B5EF4-FFF2-40B4-BE49-F238E27FC236}">
                <a16:creationId xmlns:a16="http://schemas.microsoft.com/office/drawing/2014/main" id="{6E8B7515-D9A8-022F-4B81-3A6E32D57656}"/>
              </a:ext>
            </a:extLst>
          </p:cNvPr>
          <p:cNvSpPr/>
          <p:nvPr/>
        </p:nvSpPr>
        <p:spPr>
          <a:xfrm>
            <a:off x="1485298" y="1635091"/>
            <a:ext cx="285752" cy="4857784"/>
          </a:xfrm>
          <a:prstGeom prst="roundRect">
            <a:avLst/>
          </a:prstGeom>
          <a:solidFill>
            <a:srgbClr val="652C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50000"/>
                </a:schemeClr>
              </a:solidFill>
            </a:endParaRPr>
          </a:p>
        </p:txBody>
      </p:sp>
      <p:sp>
        <p:nvSpPr>
          <p:cNvPr id="7" name="TextBox 6">
            <a:extLst>
              <a:ext uri="{FF2B5EF4-FFF2-40B4-BE49-F238E27FC236}">
                <a16:creationId xmlns:a16="http://schemas.microsoft.com/office/drawing/2014/main" id="{97FD97C9-A6EF-E369-955B-3F7EE537C46B}"/>
              </a:ext>
            </a:extLst>
          </p:cNvPr>
          <p:cNvSpPr txBox="1"/>
          <p:nvPr/>
        </p:nvSpPr>
        <p:spPr>
          <a:xfrm rot="16200000">
            <a:off x="904958" y="3917789"/>
            <a:ext cx="1439818" cy="292388"/>
          </a:xfrm>
          <a:prstGeom prst="rect">
            <a:avLst/>
          </a:prstGeom>
          <a:noFill/>
        </p:spPr>
        <p:txBody>
          <a:bodyPr wrap="none" rtlCol="0">
            <a:spAutoFit/>
          </a:bodyPr>
          <a:lstStyle/>
          <a:p>
            <a:r>
              <a:rPr lang="en-GB" sz="1300" b="1" dirty="0">
                <a:solidFill>
                  <a:schemeClr val="bg1"/>
                </a:solidFill>
                <a:latin typeface="Arial" pitchFamily="34" charset="0"/>
                <a:cs typeface="Arial" pitchFamily="34" charset="0"/>
              </a:rPr>
              <a:t>Quality Seeking</a:t>
            </a:r>
          </a:p>
        </p:txBody>
      </p:sp>
      <p:sp>
        <p:nvSpPr>
          <p:cNvPr id="8" name="TextBox 7">
            <a:extLst>
              <a:ext uri="{FF2B5EF4-FFF2-40B4-BE49-F238E27FC236}">
                <a16:creationId xmlns:a16="http://schemas.microsoft.com/office/drawing/2014/main" id="{CD16375F-A53C-2571-FC19-34BC9DF044A8}"/>
              </a:ext>
            </a:extLst>
          </p:cNvPr>
          <p:cNvSpPr txBox="1"/>
          <p:nvPr/>
        </p:nvSpPr>
        <p:spPr>
          <a:xfrm>
            <a:off x="7308452" y="2577476"/>
            <a:ext cx="2404470" cy="292388"/>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Key demographics to target</a:t>
            </a:r>
          </a:p>
        </p:txBody>
      </p:sp>
      <p:sp>
        <p:nvSpPr>
          <p:cNvPr id="9" name="TextBox 8">
            <a:extLst>
              <a:ext uri="{FF2B5EF4-FFF2-40B4-BE49-F238E27FC236}">
                <a16:creationId xmlns:a16="http://schemas.microsoft.com/office/drawing/2014/main" id="{C6272766-4ABC-87D1-4E01-2F1FACAC6E41}"/>
              </a:ext>
            </a:extLst>
          </p:cNvPr>
          <p:cNvSpPr txBox="1"/>
          <p:nvPr/>
        </p:nvSpPr>
        <p:spPr>
          <a:xfrm>
            <a:off x="7308452" y="3718363"/>
            <a:ext cx="2247826" cy="292388"/>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Key categories to target</a:t>
            </a:r>
          </a:p>
        </p:txBody>
      </p:sp>
      <p:sp>
        <p:nvSpPr>
          <p:cNvPr id="10" name="TextBox 9">
            <a:extLst>
              <a:ext uri="{FF2B5EF4-FFF2-40B4-BE49-F238E27FC236}">
                <a16:creationId xmlns:a16="http://schemas.microsoft.com/office/drawing/2014/main" id="{52975F64-DA27-7173-5194-73294EF1B34A}"/>
              </a:ext>
            </a:extLst>
          </p:cNvPr>
          <p:cNvSpPr txBox="1"/>
          <p:nvPr/>
        </p:nvSpPr>
        <p:spPr>
          <a:xfrm>
            <a:off x="7308452" y="2893091"/>
            <a:ext cx="1918098" cy="692497"/>
          </a:xfrm>
          <a:prstGeom prst="rect">
            <a:avLst/>
          </a:prstGeom>
          <a:noFill/>
        </p:spPr>
        <p:txBody>
          <a:bodyPr wrap="square" rtlCol="0">
            <a:spAutoFit/>
          </a:bodyPr>
          <a:lstStyle/>
          <a:p>
            <a:pPr>
              <a:buFont typeface="Arial" pitchFamily="34" charset="0"/>
              <a:buChar char="•"/>
            </a:pPr>
            <a:r>
              <a:rPr lang="en-GB" sz="1300" dirty="0">
                <a:latin typeface="Arial" pitchFamily="34" charset="0"/>
                <a:cs typeface="Arial" pitchFamily="34" charset="0"/>
              </a:rPr>
              <a:t> Women</a:t>
            </a:r>
          </a:p>
          <a:p>
            <a:pPr>
              <a:buFont typeface="Arial" pitchFamily="34" charset="0"/>
              <a:buChar char="•"/>
            </a:pPr>
            <a:r>
              <a:rPr lang="en-GB" sz="1300" dirty="0">
                <a:latin typeface="Arial" pitchFamily="34" charset="0"/>
                <a:cs typeface="Arial" pitchFamily="34" charset="0"/>
              </a:rPr>
              <a:t> Aged 25-40</a:t>
            </a:r>
          </a:p>
          <a:p>
            <a:pPr>
              <a:buFont typeface="Arial" pitchFamily="34" charset="0"/>
              <a:buChar char="•"/>
            </a:pPr>
            <a:r>
              <a:rPr lang="en-GB" sz="1300" dirty="0">
                <a:latin typeface="Arial" pitchFamily="34" charset="0"/>
                <a:cs typeface="Arial" pitchFamily="34" charset="0"/>
              </a:rPr>
              <a:t> Urban </a:t>
            </a:r>
          </a:p>
        </p:txBody>
      </p:sp>
      <p:sp>
        <p:nvSpPr>
          <p:cNvPr id="11" name="TextBox 10">
            <a:extLst>
              <a:ext uri="{FF2B5EF4-FFF2-40B4-BE49-F238E27FC236}">
                <a16:creationId xmlns:a16="http://schemas.microsoft.com/office/drawing/2014/main" id="{55372A91-B91E-4F58-A98F-1EFDD71681E5}"/>
              </a:ext>
            </a:extLst>
          </p:cNvPr>
          <p:cNvSpPr txBox="1"/>
          <p:nvPr/>
        </p:nvSpPr>
        <p:spPr>
          <a:xfrm>
            <a:off x="7308452" y="4006395"/>
            <a:ext cx="3119264" cy="492443"/>
          </a:xfrm>
          <a:prstGeom prst="rect">
            <a:avLst/>
          </a:prstGeom>
          <a:noFill/>
        </p:spPr>
        <p:txBody>
          <a:bodyPr wrap="square" rtlCol="0">
            <a:spAutoFit/>
          </a:bodyPr>
          <a:lstStyle/>
          <a:p>
            <a:pPr>
              <a:buFont typeface="Arial" pitchFamily="34" charset="0"/>
              <a:buChar char="•"/>
            </a:pPr>
            <a:r>
              <a:rPr lang="en-US" sz="1300" dirty="0"/>
              <a:t> Sanitary Pads</a:t>
            </a:r>
            <a:endParaRPr lang="en-US" sz="1300" dirty="0">
              <a:latin typeface="Arial" pitchFamily="34" charset="0"/>
              <a:cs typeface="Arial" pitchFamily="34" charset="0"/>
            </a:endParaRPr>
          </a:p>
          <a:p>
            <a:pPr>
              <a:buFont typeface="Arial" pitchFamily="34" charset="0"/>
              <a:buChar char="•"/>
            </a:pPr>
            <a:r>
              <a:rPr lang="en-US" sz="1300" dirty="0">
                <a:latin typeface="Arial" pitchFamily="34" charset="0"/>
                <a:cs typeface="Arial" pitchFamily="34" charset="0"/>
              </a:rPr>
              <a:t> </a:t>
            </a:r>
            <a:r>
              <a:rPr lang="en-US" sz="1300" dirty="0"/>
              <a:t>Internal Cleansers</a:t>
            </a:r>
            <a:endParaRPr lang="en-US" sz="1300" dirty="0">
              <a:latin typeface="Arial" pitchFamily="34" charset="0"/>
              <a:cs typeface="Arial" pitchFamily="34" charset="0"/>
            </a:endParaRPr>
          </a:p>
        </p:txBody>
      </p:sp>
      <p:sp>
        <p:nvSpPr>
          <p:cNvPr id="12" name="TextBox 11">
            <a:extLst>
              <a:ext uri="{FF2B5EF4-FFF2-40B4-BE49-F238E27FC236}">
                <a16:creationId xmlns:a16="http://schemas.microsoft.com/office/drawing/2014/main" id="{998B2239-F4A9-2BE0-8270-89628F3E1B65}"/>
              </a:ext>
            </a:extLst>
          </p:cNvPr>
          <p:cNvSpPr txBox="1"/>
          <p:nvPr/>
        </p:nvSpPr>
        <p:spPr>
          <a:xfrm>
            <a:off x="7308452" y="4660276"/>
            <a:ext cx="2548486" cy="492443"/>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Rate at which the trend will evolve</a:t>
            </a:r>
          </a:p>
        </p:txBody>
      </p:sp>
      <p:sp>
        <p:nvSpPr>
          <p:cNvPr id="13" name="TextBox 12">
            <a:extLst>
              <a:ext uri="{FF2B5EF4-FFF2-40B4-BE49-F238E27FC236}">
                <a16:creationId xmlns:a16="http://schemas.microsoft.com/office/drawing/2014/main" id="{7FD427C2-258D-235F-0C71-1619A7C0AFCE}"/>
              </a:ext>
            </a:extLst>
          </p:cNvPr>
          <p:cNvSpPr txBox="1"/>
          <p:nvPr/>
        </p:nvSpPr>
        <p:spPr>
          <a:xfrm>
            <a:off x="7308452" y="5152719"/>
            <a:ext cx="1373591" cy="292388"/>
          </a:xfrm>
          <a:prstGeom prst="rect">
            <a:avLst/>
          </a:prstGeom>
          <a:noFill/>
        </p:spPr>
        <p:txBody>
          <a:bodyPr wrap="square" rtlCol="0">
            <a:spAutoFit/>
          </a:bodyPr>
          <a:lstStyle/>
          <a:p>
            <a:pPr>
              <a:buFont typeface="Arial" pitchFamily="34" charset="0"/>
              <a:buChar char="•"/>
            </a:pPr>
            <a:r>
              <a:rPr lang="en-GB" sz="1300" dirty="0"/>
              <a:t> </a:t>
            </a:r>
            <a:r>
              <a:rPr lang="en-GB" sz="1300" dirty="0">
                <a:latin typeface="Arial" pitchFamily="34" charset="0"/>
                <a:cs typeface="Arial" pitchFamily="34" charset="0"/>
              </a:rPr>
              <a:t>Fast</a:t>
            </a:r>
          </a:p>
        </p:txBody>
      </p:sp>
      <p:sp>
        <p:nvSpPr>
          <p:cNvPr id="14" name="TextBox 13">
            <a:extLst>
              <a:ext uri="{FF2B5EF4-FFF2-40B4-BE49-F238E27FC236}">
                <a16:creationId xmlns:a16="http://schemas.microsoft.com/office/drawing/2014/main" id="{95E7ABE3-D6C8-04E7-F2F7-0D3F1FA75C4A}"/>
              </a:ext>
            </a:extLst>
          </p:cNvPr>
          <p:cNvSpPr txBox="1"/>
          <p:nvPr/>
        </p:nvSpPr>
        <p:spPr>
          <a:xfrm>
            <a:off x="2795016" y="1863707"/>
            <a:ext cx="4114800" cy="4308872"/>
          </a:xfrm>
          <a:prstGeom prst="rect">
            <a:avLst/>
          </a:prstGeom>
          <a:noFill/>
        </p:spPr>
        <p:txBody>
          <a:bodyPr wrap="square" rtlCol="0">
            <a:spAutoFit/>
          </a:bodyPr>
          <a:lstStyle/>
          <a:p>
            <a:pPr marL="109538" lvl="0" indent="-109538">
              <a:buFont typeface="Arial" pitchFamily="34" charset="0"/>
              <a:buChar char="•"/>
            </a:pPr>
            <a:r>
              <a:rPr lang="en-US" sz="1300" dirty="0"/>
              <a:t>South Korea’s increasing GDP per capita, steady economic  export oriented growth over the years and rise in disposable income  in urbanized Seoul have  seen  an increase in women buying  high quality feminine hygiene products.</a:t>
            </a:r>
          </a:p>
          <a:p>
            <a:pPr lvl="0"/>
            <a:endParaRPr lang="en-US" sz="1300" kern="0" dirty="0"/>
          </a:p>
          <a:p>
            <a:pPr marL="109538" lvl="0" indent="-109538">
              <a:buFont typeface="Arial" pitchFamily="34" charset="0"/>
              <a:buChar char="•"/>
            </a:pPr>
            <a:r>
              <a:rPr lang="en-US" sz="1300" kern="0" dirty="0"/>
              <a:t>For instance, </a:t>
            </a:r>
            <a:r>
              <a:rPr lang="en-US" sz="1300" dirty="0" err="1"/>
              <a:t>Suchehwa</a:t>
            </a:r>
            <a:r>
              <a:rPr lang="en-US" sz="1300" dirty="0"/>
              <a:t> brand</a:t>
            </a:r>
            <a:r>
              <a:rPr lang="en-US" sz="1300" kern="0" dirty="0"/>
              <a:t> manufactures its internal cleaners to clean the intimate area from prolonged strong odor .</a:t>
            </a:r>
            <a:r>
              <a:rPr lang="en-US" sz="1400" dirty="0"/>
              <a:t> </a:t>
            </a:r>
            <a:r>
              <a:rPr lang="en-US" sz="1300" dirty="0"/>
              <a:t>The vaginal sanitizer ‘s inserting nozzle is prepared from a soft material so that people who are  using the product for the first time can safely handle it. Also, since there is no risk of bacterial infection and the purified water of 110ml  contained in the sanitizer is sprayed into the intimate area for a thorough wash.</a:t>
            </a:r>
          </a:p>
          <a:p>
            <a:pPr marL="109538" lvl="0" indent="-109538">
              <a:buFont typeface="Arial" pitchFamily="34" charset="0"/>
              <a:buChar char="•"/>
            </a:pPr>
            <a:endParaRPr lang="en-US" sz="1300" kern="0" dirty="0"/>
          </a:p>
          <a:p>
            <a:pPr marL="109538" lvl="0" indent="-109538">
              <a:buFont typeface="Arial" pitchFamily="34" charset="0"/>
              <a:buChar char="•"/>
            </a:pPr>
            <a:r>
              <a:rPr lang="en-US" sz="1300" kern="0" dirty="0"/>
              <a:t>Tampax and OB brands offer a wide  range of  options in their tampons  segment based on consumers preference for better comfort , high absorbency factor and smell free feeling..</a:t>
            </a:r>
          </a:p>
          <a:p>
            <a:pPr marL="109538" lvl="0" indent="-109538"/>
            <a:endParaRPr lang="en-US" sz="1300" kern="0" dirty="0"/>
          </a:p>
        </p:txBody>
      </p:sp>
      <p:sp>
        <p:nvSpPr>
          <p:cNvPr id="15" name="TextBox 14">
            <a:extLst>
              <a:ext uri="{FF2B5EF4-FFF2-40B4-BE49-F238E27FC236}">
                <a16:creationId xmlns:a16="http://schemas.microsoft.com/office/drawing/2014/main" id="{9E7FB4E7-9EA4-5449-EACB-B297825BE210}"/>
              </a:ext>
            </a:extLst>
          </p:cNvPr>
          <p:cNvSpPr txBox="1"/>
          <p:nvPr/>
        </p:nvSpPr>
        <p:spPr>
          <a:xfrm>
            <a:off x="2337816" y="1295064"/>
            <a:ext cx="6172200" cy="492443"/>
          </a:xfrm>
          <a:prstGeom prst="rect">
            <a:avLst/>
          </a:prstGeom>
          <a:noFill/>
        </p:spPr>
        <p:txBody>
          <a:bodyPr wrap="square" rtlCol="0">
            <a:spAutoFit/>
          </a:bodyPr>
          <a:lstStyle/>
          <a:p>
            <a:r>
              <a:rPr lang="en-GB" sz="1300" b="1" dirty="0">
                <a:latin typeface="Arial" pitchFamily="34" charset="0"/>
                <a:cs typeface="Arial" pitchFamily="34" charset="0"/>
              </a:rPr>
              <a:t>How the Quality Seeking trend will influence Feminine Hygiene market in South Korea</a:t>
            </a:r>
          </a:p>
        </p:txBody>
      </p:sp>
      <p:pic>
        <p:nvPicPr>
          <p:cNvPr id="16" name="Picture 2">
            <a:extLst>
              <a:ext uri="{FF2B5EF4-FFF2-40B4-BE49-F238E27FC236}">
                <a16:creationId xmlns:a16="http://schemas.microsoft.com/office/drawing/2014/main" id="{B1843AFC-E3E3-1FBA-E978-FF48FEDDA2F0}"/>
              </a:ext>
            </a:extLst>
          </p:cNvPr>
          <p:cNvPicPr>
            <a:picLocks noChangeAspect="1" noChangeArrowheads="1"/>
          </p:cNvPicPr>
          <p:nvPr/>
        </p:nvPicPr>
        <p:blipFill>
          <a:blip r:embed="rId2" cstate="print"/>
          <a:srcRect/>
          <a:stretch>
            <a:fillRect/>
          </a:stretch>
        </p:blipFill>
        <p:spPr bwMode="auto">
          <a:xfrm>
            <a:off x="7941665" y="1482193"/>
            <a:ext cx="1135117" cy="1143000"/>
          </a:xfrm>
          <a:prstGeom prst="rect">
            <a:avLst/>
          </a:prstGeom>
          <a:noFill/>
          <a:ln w="9525">
            <a:noFill/>
            <a:miter lim="800000"/>
            <a:headEnd/>
            <a:tailEnd/>
          </a:ln>
          <a:effectLst/>
        </p:spPr>
      </p:pic>
      <p:sp>
        <p:nvSpPr>
          <p:cNvPr id="17" name="AutoShape 5" descr="Image result for round country Flags UAE">
            <a:extLst>
              <a:ext uri="{FF2B5EF4-FFF2-40B4-BE49-F238E27FC236}">
                <a16:creationId xmlns:a16="http://schemas.microsoft.com/office/drawing/2014/main" id="{25BE4C31-CA0B-46A5-C0FD-ECE5DD4EFA02}"/>
              </a:ext>
            </a:extLst>
          </p:cNvPr>
          <p:cNvSpPr>
            <a:spLocks noChangeAspect="1" noChangeArrowheads="1"/>
          </p:cNvSpPr>
          <p:nvPr/>
        </p:nvSpPr>
        <p:spPr bwMode="auto">
          <a:xfrm>
            <a:off x="1426591" y="347644"/>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 name="AutoShape 7" descr="Image result for round country Flags UAE">
            <a:extLst>
              <a:ext uri="{FF2B5EF4-FFF2-40B4-BE49-F238E27FC236}">
                <a16:creationId xmlns:a16="http://schemas.microsoft.com/office/drawing/2014/main" id="{51CB65E4-5E44-B3AE-6CAE-4F72FB9735DB}"/>
              </a:ext>
            </a:extLst>
          </p:cNvPr>
          <p:cNvSpPr>
            <a:spLocks noChangeAspect="1" noChangeArrowheads="1"/>
          </p:cNvSpPr>
          <p:nvPr/>
        </p:nvSpPr>
        <p:spPr bwMode="auto">
          <a:xfrm>
            <a:off x="1426591" y="347644"/>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9" name="AutoShape 9" descr="Image result for round country Flags UAE">
            <a:extLst>
              <a:ext uri="{FF2B5EF4-FFF2-40B4-BE49-F238E27FC236}">
                <a16:creationId xmlns:a16="http://schemas.microsoft.com/office/drawing/2014/main" id="{2BFEA022-3711-F143-33AD-997384B116BF}"/>
              </a:ext>
            </a:extLst>
          </p:cNvPr>
          <p:cNvSpPr>
            <a:spLocks noChangeAspect="1" noChangeArrowheads="1"/>
          </p:cNvSpPr>
          <p:nvPr/>
        </p:nvSpPr>
        <p:spPr bwMode="auto">
          <a:xfrm>
            <a:off x="1426591" y="347644"/>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 name="Picture 2" descr="C:\Users\lbandla\Desktop\Trends\South Korea\SK pic.jpg">
            <a:extLst>
              <a:ext uri="{FF2B5EF4-FFF2-40B4-BE49-F238E27FC236}">
                <a16:creationId xmlns:a16="http://schemas.microsoft.com/office/drawing/2014/main" id="{80FE5652-3AAA-5716-6771-717AB08B8792}"/>
              </a:ext>
            </a:extLst>
          </p:cNvPr>
          <p:cNvPicPr>
            <a:picLocks noChangeAspect="1" noChangeArrowheads="1"/>
          </p:cNvPicPr>
          <p:nvPr/>
        </p:nvPicPr>
        <p:blipFill>
          <a:blip r:embed="rId3" cstate="print"/>
          <a:srcRect/>
          <a:stretch>
            <a:fillRect/>
          </a:stretch>
        </p:blipFill>
        <p:spPr bwMode="auto">
          <a:xfrm>
            <a:off x="1804416" y="2016107"/>
            <a:ext cx="914400" cy="762000"/>
          </a:xfrm>
          <a:prstGeom prst="rect">
            <a:avLst/>
          </a:prstGeom>
          <a:noFill/>
        </p:spPr>
      </p:pic>
      <p:pic>
        <p:nvPicPr>
          <p:cNvPr id="21" name="Picture 2" descr="C:\Users\lbandla\Desktop\Trends\South Korea\SK pic.jpg">
            <a:extLst>
              <a:ext uri="{FF2B5EF4-FFF2-40B4-BE49-F238E27FC236}">
                <a16:creationId xmlns:a16="http://schemas.microsoft.com/office/drawing/2014/main" id="{6F01289C-243D-ABA9-9C34-8D167BD0CAE1}"/>
              </a:ext>
            </a:extLst>
          </p:cNvPr>
          <p:cNvPicPr>
            <a:picLocks noChangeAspect="1" noChangeArrowheads="1"/>
          </p:cNvPicPr>
          <p:nvPr/>
        </p:nvPicPr>
        <p:blipFill>
          <a:blip r:embed="rId3" cstate="print"/>
          <a:srcRect/>
          <a:stretch>
            <a:fillRect/>
          </a:stretch>
        </p:blipFill>
        <p:spPr bwMode="auto">
          <a:xfrm>
            <a:off x="1804416" y="5368907"/>
            <a:ext cx="914400" cy="762000"/>
          </a:xfrm>
          <a:prstGeom prst="rect">
            <a:avLst/>
          </a:prstGeom>
          <a:noFill/>
        </p:spPr>
      </p:pic>
    </p:spTree>
    <p:extLst>
      <p:ext uri="{BB962C8B-B14F-4D97-AF65-F5344CB8AC3E}">
        <p14:creationId xmlns:p14="http://schemas.microsoft.com/office/powerpoint/2010/main" val="1528943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929CA79B-067D-FAB8-C636-F022DBB3DCFD}"/>
              </a:ext>
            </a:extLst>
          </p:cNvPr>
          <p:cNvSpPr/>
          <p:nvPr/>
        </p:nvSpPr>
        <p:spPr>
          <a:xfrm>
            <a:off x="2772916" y="1837944"/>
            <a:ext cx="4146044" cy="44958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5" name="Title 1">
            <a:extLst>
              <a:ext uri="{FF2B5EF4-FFF2-40B4-BE49-F238E27FC236}">
                <a16:creationId xmlns:a16="http://schemas.microsoft.com/office/drawing/2014/main" id="{F5591C78-9B8A-E8B5-C46C-7C4C17A680ED}"/>
              </a:ext>
            </a:extLst>
          </p:cNvPr>
          <p:cNvSpPr>
            <a:spLocks noGrp="1"/>
          </p:cNvSpPr>
          <p:nvPr>
            <p:ph type="title"/>
          </p:nvPr>
        </p:nvSpPr>
        <p:spPr>
          <a:xfrm>
            <a:off x="1297623" y="466344"/>
            <a:ext cx="9126537" cy="642918"/>
          </a:xfrm>
        </p:spPr>
        <p:txBody>
          <a:bodyPr rtlCol="0">
            <a:noAutofit/>
          </a:bodyPr>
          <a:lstStyle/>
          <a:p>
            <a:pPr fontAlgn="auto">
              <a:spcAft>
                <a:spcPts val="0"/>
              </a:spcAft>
              <a:defRPr/>
            </a:pPr>
            <a:r>
              <a:rPr sz="2400" dirty="0">
                <a:solidFill>
                  <a:schemeClr val="accent6">
                    <a:lumMod val="50000"/>
                  </a:schemeClr>
                </a:solidFill>
                <a:latin typeface="+mn-lt"/>
                <a:cs typeface="Arial" pitchFamily="34" charset="0"/>
              </a:rPr>
              <a:t>Trend </a:t>
            </a:r>
            <a:r>
              <a:rPr lang="en-IN" sz="2400" dirty="0">
                <a:solidFill>
                  <a:schemeClr val="accent6">
                    <a:lumMod val="50000"/>
                  </a:schemeClr>
                </a:solidFill>
                <a:latin typeface="+mn-lt"/>
                <a:cs typeface="Arial" pitchFamily="34" charset="0"/>
              </a:rPr>
              <a:t>4</a:t>
            </a:r>
            <a:r>
              <a:rPr sz="2400" dirty="0">
                <a:solidFill>
                  <a:schemeClr val="accent6">
                    <a:lumMod val="50000"/>
                  </a:schemeClr>
                </a:solidFill>
                <a:latin typeface="+mn-lt"/>
                <a:cs typeface="Arial" pitchFamily="34" charset="0"/>
              </a:rPr>
              <a:t>:</a:t>
            </a:r>
            <a:r>
              <a:rPr sz="2400" dirty="0">
                <a:latin typeface="+mn-lt"/>
                <a:cs typeface="Arial" pitchFamily="34" charset="0"/>
              </a:rPr>
              <a:t> </a:t>
            </a:r>
            <a:r>
              <a:rPr lang="en-GB" sz="2400" dirty="0">
                <a:latin typeface="+mn-lt"/>
              </a:rPr>
              <a:t>Technology</a:t>
            </a:r>
            <a:r>
              <a:rPr sz="2400" dirty="0">
                <a:latin typeface="+mn-lt"/>
                <a:cs typeface="Arial" pitchFamily="34" charset="0"/>
              </a:rPr>
              <a:t>: </a:t>
            </a:r>
            <a:r>
              <a:rPr lang="en-GB" sz="2400" dirty="0">
                <a:solidFill>
                  <a:schemeClr val="accent6">
                    <a:lumMod val="50000"/>
                  </a:schemeClr>
                </a:solidFill>
                <a:latin typeface="+mn-lt"/>
                <a:cs typeface="Arial" pitchFamily="34" charset="0"/>
              </a:rPr>
              <a:t> Rising demand in the usage of disposable razors</a:t>
            </a:r>
          </a:p>
        </p:txBody>
      </p:sp>
      <p:sp>
        <p:nvSpPr>
          <p:cNvPr id="36" name="Rounded Rectangle 29">
            <a:extLst>
              <a:ext uri="{FF2B5EF4-FFF2-40B4-BE49-F238E27FC236}">
                <a16:creationId xmlns:a16="http://schemas.microsoft.com/office/drawing/2014/main" id="{C505C9AB-1AC0-ED42-839A-707704558359}"/>
              </a:ext>
            </a:extLst>
          </p:cNvPr>
          <p:cNvSpPr/>
          <p:nvPr/>
        </p:nvSpPr>
        <p:spPr>
          <a:xfrm>
            <a:off x="1494442" y="1609328"/>
            <a:ext cx="285752" cy="4857784"/>
          </a:xfrm>
          <a:prstGeom prst="roundRect">
            <a:avLst/>
          </a:prstGeom>
          <a:solidFill>
            <a:srgbClr val="138AA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6">
                  <a:lumMod val="50000"/>
                </a:schemeClr>
              </a:solidFill>
            </a:endParaRPr>
          </a:p>
        </p:txBody>
      </p:sp>
      <p:sp>
        <p:nvSpPr>
          <p:cNvPr id="37" name="TextBox 36">
            <a:extLst>
              <a:ext uri="{FF2B5EF4-FFF2-40B4-BE49-F238E27FC236}">
                <a16:creationId xmlns:a16="http://schemas.microsoft.com/office/drawing/2014/main" id="{A8FA1513-FC0A-F00F-4FB9-BE0DCE8F60B7}"/>
              </a:ext>
            </a:extLst>
          </p:cNvPr>
          <p:cNvSpPr txBox="1"/>
          <p:nvPr/>
        </p:nvSpPr>
        <p:spPr>
          <a:xfrm rot="16200000">
            <a:off x="1077385" y="3892025"/>
            <a:ext cx="1113253" cy="292388"/>
          </a:xfrm>
          <a:prstGeom prst="rect">
            <a:avLst/>
          </a:prstGeom>
          <a:noFill/>
        </p:spPr>
        <p:txBody>
          <a:bodyPr wrap="none" rtlCol="0">
            <a:spAutoFit/>
          </a:bodyPr>
          <a:lstStyle/>
          <a:p>
            <a:r>
              <a:rPr lang="en-GB" sz="1300" b="1" dirty="0">
                <a:solidFill>
                  <a:schemeClr val="bg1"/>
                </a:solidFill>
                <a:latin typeface="Arial" pitchFamily="34" charset="0"/>
                <a:cs typeface="Arial" pitchFamily="34" charset="0"/>
              </a:rPr>
              <a:t>Technology</a:t>
            </a:r>
          </a:p>
        </p:txBody>
      </p:sp>
      <p:sp>
        <p:nvSpPr>
          <p:cNvPr id="38" name="TextBox 37">
            <a:extLst>
              <a:ext uri="{FF2B5EF4-FFF2-40B4-BE49-F238E27FC236}">
                <a16:creationId xmlns:a16="http://schemas.microsoft.com/office/drawing/2014/main" id="{59ECDFF1-F45C-342B-99D0-710EECEE4613}"/>
              </a:ext>
            </a:extLst>
          </p:cNvPr>
          <p:cNvSpPr txBox="1"/>
          <p:nvPr/>
        </p:nvSpPr>
        <p:spPr>
          <a:xfrm>
            <a:off x="7329519" y="2599718"/>
            <a:ext cx="2489730" cy="292388"/>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Key demographics to target</a:t>
            </a:r>
          </a:p>
        </p:txBody>
      </p:sp>
      <p:sp>
        <p:nvSpPr>
          <p:cNvPr id="39" name="TextBox 38">
            <a:extLst>
              <a:ext uri="{FF2B5EF4-FFF2-40B4-BE49-F238E27FC236}">
                <a16:creationId xmlns:a16="http://schemas.microsoft.com/office/drawing/2014/main" id="{DFD64166-0402-4112-A42A-873A79B7D37E}"/>
              </a:ext>
            </a:extLst>
          </p:cNvPr>
          <p:cNvSpPr txBox="1"/>
          <p:nvPr/>
        </p:nvSpPr>
        <p:spPr>
          <a:xfrm>
            <a:off x="7371724" y="3819144"/>
            <a:ext cx="2247826" cy="292388"/>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Key categories to target</a:t>
            </a:r>
          </a:p>
        </p:txBody>
      </p:sp>
      <p:sp>
        <p:nvSpPr>
          <p:cNvPr id="40" name="TextBox 39">
            <a:extLst>
              <a:ext uri="{FF2B5EF4-FFF2-40B4-BE49-F238E27FC236}">
                <a16:creationId xmlns:a16="http://schemas.microsoft.com/office/drawing/2014/main" id="{BD41C271-6E19-5129-72D2-0D54AF9EB00B}"/>
              </a:ext>
            </a:extLst>
          </p:cNvPr>
          <p:cNvSpPr txBox="1"/>
          <p:nvPr/>
        </p:nvSpPr>
        <p:spPr>
          <a:xfrm>
            <a:off x="7371723" y="2986578"/>
            <a:ext cx="2231583" cy="692497"/>
          </a:xfrm>
          <a:prstGeom prst="rect">
            <a:avLst/>
          </a:prstGeom>
          <a:noFill/>
        </p:spPr>
        <p:txBody>
          <a:bodyPr wrap="square" rtlCol="0">
            <a:spAutoFit/>
          </a:bodyPr>
          <a:lstStyle/>
          <a:p>
            <a:pPr>
              <a:buFont typeface="Arial" pitchFamily="34" charset="0"/>
              <a:buChar char="•"/>
            </a:pPr>
            <a:r>
              <a:rPr lang="en-GB" sz="1300" dirty="0">
                <a:latin typeface="Arial" pitchFamily="34" charset="0"/>
                <a:cs typeface="Arial" pitchFamily="34" charset="0"/>
              </a:rPr>
              <a:t> Women</a:t>
            </a:r>
          </a:p>
          <a:p>
            <a:pPr>
              <a:buFont typeface="Arial" pitchFamily="34" charset="0"/>
              <a:buChar char="•"/>
            </a:pPr>
            <a:r>
              <a:rPr lang="en-GB" sz="1300" dirty="0">
                <a:latin typeface="Arial" pitchFamily="34" charset="0"/>
                <a:cs typeface="Arial" pitchFamily="34" charset="0"/>
              </a:rPr>
              <a:t> Aged </a:t>
            </a:r>
            <a:r>
              <a:rPr lang="en-GB" sz="1300" dirty="0"/>
              <a:t>20-40</a:t>
            </a:r>
            <a:endParaRPr lang="en-GB" sz="1300" dirty="0">
              <a:latin typeface="Arial" pitchFamily="34" charset="0"/>
              <a:cs typeface="Arial" pitchFamily="34" charset="0"/>
            </a:endParaRPr>
          </a:p>
          <a:p>
            <a:pPr>
              <a:buFont typeface="Arial" pitchFamily="34" charset="0"/>
              <a:buChar char="•"/>
            </a:pPr>
            <a:r>
              <a:rPr lang="en-GB" sz="1300" dirty="0">
                <a:latin typeface="Arial" pitchFamily="34" charset="0"/>
                <a:cs typeface="Arial" pitchFamily="34" charset="0"/>
              </a:rPr>
              <a:t> Urban</a:t>
            </a:r>
          </a:p>
        </p:txBody>
      </p:sp>
      <p:sp>
        <p:nvSpPr>
          <p:cNvPr id="41" name="TextBox 40">
            <a:extLst>
              <a:ext uri="{FF2B5EF4-FFF2-40B4-BE49-F238E27FC236}">
                <a16:creationId xmlns:a16="http://schemas.microsoft.com/office/drawing/2014/main" id="{9C6C65A2-ED04-E757-FE3F-4F6C25D1B5F2}"/>
              </a:ext>
            </a:extLst>
          </p:cNvPr>
          <p:cNvSpPr txBox="1"/>
          <p:nvPr/>
        </p:nvSpPr>
        <p:spPr>
          <a:xfrm>
            <a:off x="7371723" y="4113067"/>
            <a:ext cx="2948101" cy="292388"/>
          </a:xfrm>
          <a:prstGeom prst="rect">
            <a:avLst/>
          </a:prstGeom>
          <a:noFill/>
        </p:spPr>
        <p:txBody>
          <a:bodyPr wrap="square" rtlCol="0">
            <a:spAutoFit/>
          </a:bodyPr>
          <a:lstStyle/>
          <a:p>
            <a:pPr>
              <a:buFont typeface="Arial" pitchFamily="34" charset="0"/>
              <a:buChar char="•"/>
            </a:pPr>
            <a:r>
              <a:rPr lang="en-GB" sz="1300" dirty="0"/>
              <a:t> </a:t>
            </a:r>
            <a:r>
              <a:rPr lang="en-GB" sz="1300" dirty="0">
                <a:latin typeface="Arial" pitchFamily="34" charset="0"/>
                <a:cs typeface="Arial" pitchFamily="34" charset="0"/>
              </a:rPr>
              <a:t>Disposable Razors</a:t>
            </a:r>
          </a:p>
        </p:txBody>
      </p:sp>
      <p:sp>
        <p:nvSpPr>
          <p:cNvPr id="42" name="TextBox 41">
            <a:extLst>
              <a:ext uri="{FF2B5EF4-FFF2-40B4-BE49-F238E27FC236}">
                <a16:creationId xmlns:a16="http://schemas.microsoft.com/office/drawing/2014/main" id="{11B2D5D5-077E-90C5-7774-1A952794A006}"/>
              </a:ext>
            </a:extLst>
          </p:cNvPr>
          <p:cNvSpPr txBox="1"/>
          <p:nvPr/>
        </p:nvSpPr>
        <p:spPr>
          <a:xfrm>
            <a:off x="7371724" y="4504944"/>
            <a:ext cx="2548486" cy="492443"/>
          </a:xfrm>
          <a:prstGeom prst="rect">
            <a:avLst/>
          </a:prstGeom>
          <a:noFill/>
        </p:spPr>
        <p:txBody>
          <a:bodyPr wrap="square" rtlCol="0">
            <a:spAutoFit/>
          </a:bodyPr>
          <a:lstStyle/>
          <a:p>
            <a:r>
              <a:rPr lang="en-GB" sz="1300" b="1" dirty="0">
                <a:solidFill>
                  <a:schemeClr val="accent6">
                    <a:lumMod val="50000"/>
                  </a:schemeClr>
                </a:solidFill>
                <a:latin typeface="Arial" pitchFamily="34" charset="0"/>
                <a:cs typeface="Arial" pitchFamily="34" charset="0"/>
              </a:rPr>
              <a:t>Rate at which the trend will evolve</a:t>
            </a:r>
          </a:p>
        </p:txBody>
      </p:sp>
      <p:sp>
        <p:nvSpPr>
          <p:cNvPr id="43" name="TextBox 42">
            <a:extLst>
              <a:ext uri="{FF2B5EF4-FFF2-40B4-BE49-F238E27FC236}">
                <a16:creationId xmlns:a16="http://schemas.microsoft.com/office/drawing/2014/main" id="{F5A3E2A2-B59A-0E5A-71CD-F160DE773DBF}"/>
              </a:ext>
            </a:extLst>
          </p:cNvPr>
          <p:cNvSpPr txBox="1"/>
          <p:nvPr/>
        </p:nvSpPr>
        <p:spPr>
          <a:xfrm>
            <a:off x="7371724" y="4997387"/>
            <a:ext cx="1205165" cy="292388"/>
          </a:xfrm>
          <a:prstGeom prst="rect">
            <a:avLst/>
          </a:prstGeom>
          <a:noFill/>
        </p:spPr>
        <p:txBody>
          <a:bodyPr wrap="square" rtlCol="0">
            <a:spAutoFit/>
          </a:bodyPr>
          <a:lstStyle/>
          <a:p>
            <a:pPr>
              <a:buFont typeface="Arial" pitchFamily="34" charset="0"/>
              <a:buChar char="•"/>
            </a:pPr>
            <a:r>
              <a:rPr lang="en-GB" sz="1300" dirty="0">
                <a:latin typeface="Arial" panose="020B0604020202020204" pitchFamily="34" charset="0"/>
                <a:cs typeface="Arial" panose="020B0604020202020204" pitchFamily="34" charset="0"/>
              </a:rPr>
              <a:t> Fast</a:t>
            </a:r>
          </a:p>
        </p:txBody>
      </p:sp>
      <p:sp>
        <p:nvSpPr>
          <p:cNvPr id="44" name="TextBox 43">
            <a:extLst>
              <a:ext uri="{FF2B5EF4-FFF2-40B4-BE49-F238E27FC236}">
                <a16:creationId xmlns:a16="http://schemas.microsoft.com/office/drawing/2014/main" id="{F685C2B5-5DF4-CF21-EB59-E2186EEE31DB}"/>
              </a:ext>
            </a:extLst>
          </p:cNvPr>
          <p:cNvSpPr txBox="1"/>
          <p:nvPr/>
        </p:nvSpPr>
        <p:spPr>
          <a:xfrm>
            <a:off x="2803316" y="1887860"/>
            <a:ext cx="4039444" cy="4893647"/>
          </a:xfrm>
          <a:prstGeom prst="rect">
            <a:avLst/>
          </a:prstGeom>
          <a:noFill/>
        </p:spPr>
        <p:txBody>
          <a:bodyPr wrap="square" rtlCol="0">
            <a:spAutoFit/>
          </a:bodyPr>
          <a:lstStyle/>
          <a:p>
            <a:pPr marL="179388" indent="-179388">
              <a:buFont typeface="Arial" pitchFamily="34" charset="0"/>
              <a:buChar char="•"/>
            </a:pPr>
            <a:r>
              <a:rPr lang="en-US" sz="1300" dirty="0"/>
              <a:t>Disposable razors are  hugely in demand and used extensively by the expat women in the UAE. International brands like </a:t>
            </a:r>
            <a:r>
              <a:rPr lang="en-US" sz="1300" dirty="0" err="1"/>
              <a:t>Bic</a:t>
            </a:r>
            <a:r>
              <a:rPr lang="en-US" sz="1300" dirty="0"/>
              <a:t>, Gillette and  Super-max  strive  to cater  to  the consumer trends by offering superior quality  razors for a smooth shave in the intimate areas.</a:t>
            </a:r>
            <a:endParaRPr lang="en-US" sz="1300" dirty="0">
              <a:latin typeface="Arial" pitchFamily="34" charset="0"/>
              <a:cs typeface="Arial" pitchFamily="34" charset="0"/>
            </a:endParaRPr>
          </a:p>
          <a:p>
            <a:pPr marL="179388" indent="-179388">
              <a:buFont typeface="Arial" pitchFamily="34" charset="0"/>
              <a:buChar char="•"/>
            </a:pPr>
            <a:endParaRPr lang="en-US" sz="1300" dirty="0"/>
          </a:p>
          <a:p>
            <a:pPr marL="179388" indent="-179388">
              <a:buFont typeface="Arial" pitchFamily="34" charset="0"/>
              <a:buChar char="•"/>
            </a:pPr>
            <a:r>
              <a:rPr lang="en-US" sz="1300" dirty="0"/>
              <a:t> Super-Max  brand scores  very high on the quality and reliability aspects of their blades.. The company has been trying to improve their product by  researching about the  material technology  and improvising the product design of their  shaver blades to meet  customer expectation.</a:t>
            </a:r>
          </a:p>
          <a:p>
            <a:pPr marL="179388" indent="-179388">
              <a:buFont typeface="Arial" pitchFamily="34" charset="0"/>
              <a:buChar char="•"/>
            </a:pPr>
            <a:endParaRPr lang="en-US" sz="1300" dirty="0"/>
          </a:p>
          <a:p>
            <a:pPr marL="179388" indent="-179388">
              <a:buFont typeface="Arial" pitchFamily="34" charset="0"/>
              <a:buChar char="•"/>
            </a:pPr>
            <a:r>
              <a:rPr lang="en-US" sz="1300" dirty="0">
                <a:latin typeface="Arial" pitchFamily="34" charset="0"/>
                <a:cs typeface="Arial" pitchFamily="34" charset="0"/>
              </a:rPr>
              <a:t>For instance, Super-Max razors have launched world’s first battery </a:t>
            </a:r>
            <a:r>
              <a:rPr lang="en-US" sz="1300" dirty="0"/>
              <a:t>operated four blade disposable razor</a:t>
            </a:r>
            <a:r>
              <a:rPr lang="en-US" sz="1300" dirty="0">
                <a:latin typeface="Arial" pitchFamily="34" charset="0"/>
                <a:cs typeface="Arial" pitchFamily="34" charset="0"/>
              </a:rPr>
              <a:t> that is enriched with Tea tree </a:t>
            </a:r>
            <a:r>
              <a:rPr lang="en-US" sz="1300" dirty="0"/>
              <a:t>oil, Aloe vera and Vitamin E  to reduce irritation and moisturize the skin. It has </a:t>
            </a:r>
            <a:r>
              <a:rPr lang="en-US" sz="1300" dirty="0">
                <a:latin typeface="Arial" pitchFamily="34" charset="0"/>
                <a:cs typeface="Arial" pitchFamily="34" charset="0"/>
              </a:rPr>
              <a:t>a battery-operated pulse system to reduce friction and an Italian-designed  handle for better grip.</a:t>
            </a:r>
            <a:endParaRPr lang="en-US" sz="1300" dirty="0"/>
          </a:p>
          <a:p>
            <a:pPr marL="179388" indent="-179388"/>
            <a:endParaRPr lang="en-US" sz="1300" dirty="0"/>
          </a:p>
          <a:p>
            <a:pPr marL="179388" indent="-179388"/>
            <a:endParaRPr lang="en-US" sz="1300" dirty="0"/>
          </a:p>
          <a:p>
            <a:endParaRPr lang="en-US" sz="1300" dirty="0">
              <a:latin typeface="Arial" pitchFamily="34" charset="0"/>
              <a:cs typeface="Arial" pitchFamily="34" charset="0"/>
            </a:endParaRPr>
          </a:p>
        </p:txBody>
      </p:sp>
      <p:sp>
        <p:nvSpPr>
          <p:cNvPr id="45" name="TextBox 44">
            <a:extLst>
              <a:ext uri="{FF2B5EF4-FFF2-40B4-BE49-F238E27FC236}">
                <a16:creationId xmlns:a16="http://schemas.microsoft.com/office/drawing/2014/main" id="{A710D572-3F26-B72E-DB4A-85C00C4DBA6C}"/>
              </a:ext>
            </a:extLst>
          </p:cNvPr>
          <p:cNvSpPr txBox="1"/>
          <p:nvPr/>
        </p:nvSpPr>
        <p:spPr>
          <a:xfrm>
            <a:off x="2346960" y="1242661"/>
            <a:ext cx="5991225" cy="492443"/>
          </a:xfrm>
          <a:prstGeom prst="rect">
            <a:avLst/>
          </a:prstGeom>
          <a:noFill/>
        </p:spPr>
        <p:txBody>
          <a:bodyPr wrap="square" rtlCol="0">
            <a:spAutoFit/>
          </a:bodyPr>
          <a:lstStyle/>
          <a:p>
            <a:pPr lvl="0"/>
            <a:r>
              <a:rPr lang="en-GB" sz="1300" b="1" dirty="0">
                <a:latin typeface="Arial" pitchFamily="34" charset="0"/>
                <a:cs typeface="Arial" pitchFamily="34" charset="0"/>
              </a:rPr>
              <a:t>How the Technology trend will influence the </a:t>
            </a:r>
            <a:r>
              <a:rPr lang="en-GB" sz="1300" b="1" dirty="0"/>
              <a:t>Feminine Hygiene products </a:t>
            </a:r>
            <a:r>
              <a:rPr lang="en-GB" sz="1300" b="1" dirty="0">
                <a:latin typeface="Arial" pitchFamily="34" charset="0"/>
                <a:cs typeface="Arial" pitchFamily="34" charset="0"/>
              </a:rPr>
              <a:t>in South Korea</a:t>
            </a:r>
          </a:p>
        </p:txBody>
      </p:sp>
      <p:pic>
        <p:nvPicPr>
          <p:cNvPr id="46" name="Picture 7" descr="\\172.18.24.1\data\NRI\Nri3\prod\PDDP\Canadean\Icons\Technology.png">
            <a:extLst>
              <a:ext uri="{FF2B5EF4-FFF2-40B4-BE49-F238E27FC236}">
                <a16:creationId xmlns:a16="http://schemas.microsoft.com/office/drawing/2014/main" id="{EA3EAA57-1EA3-74D3-806C-5CA386EE75DB}"/>
              </a:ext>
            </a:extLst>
          </p:cNvPr>
          <p:cNvPicPr>
            <a:picLocks noChangeAspect="1" noChangeArrowheads="1"/>
          </p:cNvPicPr>
          <p:nvPr/>
        </p:nvPicPr>
        <p:blipFill>
          <a:blip r:embed="rId3" cstate="print"/>
          <a:srcRect/>
          <a:stretch>
            <a:fillRect/>
          </a:stretch>
        </p:blipFill>
        <p:spPr bwMode="auto">
          <a:xfrm>
            <a:off x="8002884" y="1435799"/>
            <a:ext cx="1143000" cy="1143974"/>
          </a:xfrm>
          <a:prstGeom prst="rect">
            <a:avLst/>
          </a:prstGeom>
          <a:noFill/>
        </p:spPr>
      </p:pic>
      <p:pic>
        <p:nvPicPr>
          <p:cNvPr id="47" name="Picture 2" descr="C:\Users\lbandla\Desktop\Trends\South Korea\SK pic.jpg">
            <a:extLst>
              <a:ext uri="{FF2B5EF4-FFF2-40B4-BE49-F238E27FC236}">
                <a16:creationId xmlns:a16="http://schemas.microsoft.com/office/drawing/2014/main" id="{C9EAF04B-0601-F762-F065-E8479E33B0CC}"/>
              </a:ext>
            </a:extLst>
          </p:cNvPr>
          <p:cNvPicPr>
            <a:picLocks noChangeAspect="1" noChangeArrowheads="1"/>
          </p:cNvPicPr>
          <p:nvPr/>
        </p:nvPicPr>
        <p:blipFill>
          <a:blip r:embed="rId4" cstate="print"/>
          <a:srcRect/>
          <a:stretch>
            <a:fillRect/>
          </a:stretch>
        </p:blipFill>
        <p:spPr bwMode="auto">
          <a:xfrm>
            <a:off x="1813560" y="1837944"/>
            <a:ext cx="914400" cy="762000"/>
          </a:xfrm>
          <a:prstGeom prst="rect">
            <a:avLst/>
          </a:prstGeom>
          <a:noFill/>
        </p:spPr>
      </p:pic>
      <p:pic>
        <p:nvPicPr>
          <p:cNvPr id="48" name="Picture 2" descr="C:\Users\lbandla\Desktop\Trends\South Korea\SK pic.jpg">
            <a:extLst>
              <a:ext uri="{FF2B5EF4-FFF2-40B4-BE49-F238E27FC236}">
                <a16:creationId xmlns:a16="http://schemas.microsoft.com/office/drawing/2014/main" id="{9719B999-523A-CEC6-01D9-497D7C770CA1}"/>
              </a:ext>
            </a:extLst>
          </p:cNvPr>
          <p:cNvPicPr>
            <a:picLocks noChangeAspect="1" noChangeArrowheads="1"/>
          </p:cNvPicPr>
          <p:nvPr/>
        </p:nvPicPr>
        <p:blipFill>
          <a:blip r:embed="rId4" cstate="print"/>
          <a:srcRect/>
          <a:stretch>
            <a:fillRect/>
          </a:stretch>
        </p:blipFill>
        <p:spPr bwMode="auto">
          <a:xfrm>
            <a:off x="1813560" y="5343144"/>
            <a:ext cx="914400" cy="762000"/>
          </a:xfrm>
          <a:prstGeom prst="rect">
            <a:avLst/>
          </a:prstGeom>
          <a:noFill/>
        </p:spPr>
      </p:pic>
    </p:spTree>
    <p:extLst>
      <p:ext uri="{BB962C8B-B14F-4D97-AF65-F5344CB8AC3E}">
        <p14:creationId xmlns:p14="http://schemas.microsoft.com/office/powerpoint/2010/main" val="116588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7118A4F-68FD-5A4F-CB87-D3C080AC83E7}"/>
              </a:ext>
            </a:extLst>
          </p:cNvPr>
          <p:cNvSpPr txBox="1">
            <a:spLocks/>
          </p:cNvSpPr>
          <p:nvPr/>
        </p:nvSpPr>
        <p:spPr>
          <a:xfrm>
            <a:off x="914400" y="269310"/>
            <a:ext cx="10780775" cy="130229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sz="2800" b="1" dirty="0">
                <a:cs typeface="Arial" pitchFamily="34" charset="0"/>
              </a:rPr>
              <a:t>Despite high economic growth ,increasing pay inequalities and high unemployment rate over the last few years would impact consumerism</a:t>
            </a:r>
          </a:p>
        </p:txBody>
      </p:sp>
      <p:sp>
        <p:nvSpPr>
          <p:cNvPr id="5" name="Rounded Rectangle 25">
            <a:extLst>
              <a:ext uri="{FF2B5EF4-FFF2-40B4-BE49-F238E27FC236}">
                <a16:creationId xmlns:a16="http://schemas.microsoft.com/office/drawing/2014/main" id="{7A0F224C-B0A3-1F38-845E-E928F9EDB223}"/>
              </a:ext>
            </a:extLst>
          </p:cNvPr>
          <p:cNvSpPr/>
          <p:nvPr/>
        </p:nvSpPr>
        <p:spPr>
          <a:xfrm>
            <a:off x="6787896" y="1916386"/>
            <a:ext cx="2971800" cy="472440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spcBef>
                <a:spcPct val="20000"/>
              </a:spcBef>
              <a:defRPr/>
            </a:pPr>
            <a:r>
              <a:rPr lang="en-US" sz="1300" b="1" dirty="0">
                <a:solidFill>
                  <a:schemeClr val="tx1"/>
                </a:solidFill>
                <a:latin typeface="Arial" panose="020B0604020202020204" pitchFamily="34" charset="0"/>
                <a:cs typeface="Arial" panose="020B0604020202020204" pitchFamily="34" charset="0"/>
              </a:rPr>
              <a:t>Increase in online shopping to boost sales for Feminine Hygiene products</a:t>
            </a:r>
          </a:p>
          <a:p>
            <a:pPr lvl="0">
              <a:spcBef>
                <a:spcPct val="20000"/>
              </a:spcBef>
              <a:defRPr/>
            </a:pPr>
            <a:r>
              <a:rPr lang="en-US" sz="1300" dirty="0">
                <a:solidFill>
                  <a:schemeClr val="tx1"/>
                </a:solidFill>
                <a:latin typeface="Arial" pitchFamily="34" charset="0"/>
                <a:cs typeface="Arial" pitchFamily="34" charset="0"/>
              </a:rPr>
              <a:t>In order to save money and experience variety at one go, Koreans choose shopping online  for personal care items on American websites such as  amazon.com ,ebay.com etc compared to local online stores. Korean subsidiaries  of </a:t>
            </a:r>
            <a:r>
              <a:rPr lang="en-US" sz="1300" dirty="0" err="1">
                <a:solidFill>
                  <a:schemeClr val="tx1"/>
                </a:solidFill>
                <a:latin typeface="Arial" pitchFamily="34" charset="0"/>
                <a:cs typeface="Arial" pitchFamily="34" charset="0"/>
              </a:rPr>
              <a:t>ebay</a:t>
            </a:r>
            <a:r>
              <a:rPr lang="en-US" sz="1300" dirty="0">
                <a:solidFill>
                  <a:schemeClr val="tx1"/>
                </a:solidFill>
                <a:latin typeface="Arial" pitchFamily="34" charset="0"/>
                <a:cs typeface="Arial" pitchFamily="34" charset="0"/>
              </a:rPr>
              <a:t>, specializing in this direct purchasing business are growing more prosperous, accelerating the growth of the market. In March 2014, the Korean government has made some reforms by exempting tariffs on a few categories available on these sites. Moreover, the government believes the inflow of lower-priced foreign products would eventually stabilize the domestic price level.</a:t>
            </a:r>
          </a:p>
        </p:txBody>
      </p:sp>
      <p:sp>
        <p:nvSpPr>
          <p:cNvPr id="7" name="Rounded Rectangle 33">
            <a:extLst>
              <a:ext uri="{FF2B5EF4-FFF2-40B4-BE49-F238E27FC236}">
                <a16:creationId xmlns:a16="http://schemas.microsoft.com/office/drawing/2014/main" id="{B72385EA-92C7-3950-5F71-AD061A3A5323}"/>
              </a:ext>
            </a:extLst>
          </p:cNvPr>
          <p:cNvSpPr/>
          <p:nvPr/>
        </p:nvSpPr>
        <p:spPr>
          <a:xfrm>
            <a:off x="2156326" y="2016824"/>
            <a:ext cx="2895600" cy="4724400"/>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spcBef>
                <a:spcPct val="20000"/>
              </a:spcBef>
              <a:defRPr/>
            </a:pPr>
            <a:r>
              <a:rPr lang="en-US" sz="1300" b="1" kern="0" dirty="0">
                <a:solidFill>
                  <a:schemeClr val="tx1"/>
                </a:solidFill>
                <a:latin typeface="Arial" pitchFamily="34" charset="0"/>
                <a:cs typeface="Arial" pitchFamily="34" charset="0"/>
              </a:rPr>
              <a:t>Despite rapid economic  growth, rising income inequality will  decrease consumerism</a:t>
            </a:r>
          </a:p>
          <a:p>
            <a:pPr lvl="0">
              <a:spcBef>
                <a:spcPct val="20000"/>
              </a:spcBef>
              <a:defRPr/>
            </a:pPr>
            <a:r>
              <a:rPr lang="en-US" sz="1300" kern="0" dirty="0">
                <a:solidFill>
                  <a:schemeClr val="tx1"/>
                </a:solidFill>
                <a:latin typeface="Arial" pitchFamily="34" charset="0"/>
                <a:cs typeface="Arial" pitchFamily="34" charset="0"/>
              </a:rPr>
              <a:t>Following the Asian Financial Crisis of 1997-98, the IMF package bailed South Korea out of financial distress. Although, the country has been experiencing robust economic growth since then it didn’t do much to ameliorate the  debt –ridden woes of the working middle class and the SMEs.. Furthermore, the  country’s two-tier labor market  with unequal pay structure ,makes upward mobility difficult, which in turn is affecting consumerism. Thus, the  demand for consumer-packaged goods is  uneven in the rich urban areas  and  those urban areas with low-income households. </a:t>
            </a:r>
            <a:endParaRPr lang="en-US" sz="1300" kern="0" dirty="0">
              <a:solidFill>
                <a:srgbClr val="FF0000"/>
              </a:solidFill>
              <a:latin typeface="Arial" pitchFamily="34" charset="0"/>
              <a:cs typeface="Arial" pitchFamily="34" charset="0"/>
            </a:endParaRPr>
          </a:p>
        </p:txBody>
      </p:sp>
      <p:sp>
        <p:nvSpPr>
          <p:cNvPr id="8" name="Round Diagonal Corner Rectangle 56">
            <a:extLst>
              <a:ext uri="{FF2B5EF4-FFF2-40B4-BE49-F238E27FC236}">
                <a16:creationId xmlns:a16="http://schemas.microsoft.com/office/drawing/2014/main" id="{A34AF454-0EF6-F2BD-AFAC-E329318B85A0}"/>
              </a:ext>
            </a:extLst>
          </p:cNvPr>
          <p:cNvSpPr/>
          <p:nvPr/>
        </p:nvSpPr>
        <p:spPr bwMode="auto">
          <a:xfrm>
            <a:off x="2156326" y="1402601"/>
            <a:ext cx="8136904" cy="513785"/>
          </a:xfrm>
          <a:prstGeom prst="round2DiagRect">
            <a:avLst/>
          </a:prstGeom>
          <a:solidFill>
            <a:srgbClr val="92D050">
              <a:alpha val="30000"/>
            </a:srgb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GB" sz="1300" b="1" dirty="0">
                <a:latin typeface="Arial" pitchFamily="34" charset="0"/>
                <a:cs typeface="Arial" pitchFamily="34" charset="0"/>
              </a:rPr>
              <a:t>The following drivers will rise in importance over the next five years to become increasingly influential motivators of consumption within the market. </a:t>
            </a:r>
          </a:p>
        </p:txBody>
      </p:sp>
    </p:spTree>
    <p:extLst>
      <p:ext uri="{BB962C8B-B14F-4D97-AF65-F5344CB8AC3E}">
        <p14:creationId xmlns:p14="http://schemas.microsoft.com/office/powerpoint/2010/main" val="390090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3CC89AE-E437-6853-D98D-1E583497EC54}"/>
              </a:ext>
            </a:extLst>
          </p:cNvPr>
          <p:cNvSpPr txBox="1">
            <a:spLocks/>
          </p:cNvSpPr>
          <p:nvPr/>
        </p:nvSpPr>
        <p:spPr>
          <a:xfrm>
            <a:off x="1532731" y="300035"/>
            <a:ext cx="9126537" cy="6429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GB" sz="2800" dirty="0">
                <a:latin typeface="Calibri" pitchFamily="34" charset="0"/>
                <a:cs typeface="Arial" pitchFamily="34" charset="0"/>
              </a:rPr>
              <a:t>Examples of new product development in the South Korea’s Feminine Hygiene</a:t>
            </a:r>
            <a:r>
              <a:rPr lang="en-GB" sz="2800" dirty="0">
                <a:cs typeface="Arial" pitchFamily="34" charset="0"/>
              </a:rPr>
              <a:t> </a:t>
            </a:r>
            <a:r>
              <a:rPr lang="en-GB" sz="2800" dirty="0">
                <a:latin typeface="Calibri" pitchFamily="34" charset="0"/>
                <a:cs typeface="Arial" pitchFamily="34" charset="0"/>
              </a:rPr>
              <a:t>market</a:t>
            </a:r>
          </a:p>
        </p:txBody>
      </p:sp>
      <p:sp>
        <p:nvSpPr>
          <p:cNvPr id="5" name="TextBox 4">
            <a:extLst>
              <a:ext uri="{FF2B5EF4-FFF2-40B4-BE49-F238E27FC236}">
                <a16:creationId xmlns:a16="http://schemas.microsoft.com/office/drawing/2014/main" id="{81596682-5AF0-D150-4D09-0865FF60F4B3}"/>
              </a:ext>
            </a:extLst>
          </p:cNvPr>
          <p:cNvSpPr txBox="1"/>
          <p:nvPr/>
        </p:nvSpPr>
        <p:spPr>
          <a:xfrm>
            <a:off x="3221439" y="1247112"/>
            <a:ext cx="2624328" cy="2621880"/>
          </a:xfrm>
          <a:prstGeom prst="rect">
            <a:avLst/>
          </a:prstGeom>
          <a:solidFill>
            <a:schemeClr val="accent5">
              <a:lumMod val="20000"/>
              <a:lumOff val="80000"/>
            </a:schemeClr>
          </a:solidFill>
        </p:spPr>
        <p:txBody>
          <a:bodyPr wrap="square" rtlCol="0">
            <a:noAutofit/>
          </a:bodyPr>
          <a:lstStyle/>
          <a:p>
            <a:r>
              <a:rPr lang="en-GB" sz="1300" b="1" dirty="0">
                <a:latin typeface="Arial" panose="020B0604020202020204" pitchFamily="34" charset="0"/>
                <a:cs typeface="Arial" pitchFamily="34" charset="0"/>
              </a:rPr>
              <a:t>Brand: </a:t>
            </a:r>
            <a:r>
              <a:rPr lang="en-GB" sz="1300" dirty="0">
                <a:latin typeface="Arial" pitchFamily="34" charset="0"/>
                <a:cs typeface="Arial" pitchFamily="34" charset="0"/>
              </a:rPr>
              <a:t>Kotex</a:t>
            </a:r>
          </a:p>
          <a:p>
            <a:r>
              <a:rPr lang="en-GB" sz="1300" b="1" dirty="0">
                <a:latin typeface="Arial" panose="020B0604020202020204" pitchFamily="34" charset="0"/>
                <a:cs typeface="Arial" pitchFamily="34" charset="0"/>
              </a:rPr>
              <a:t>Manufacturer</a:t>
            </a:r>
            <a:r>
              <a:rPr lang="en-GB" sz="1300" dirty="0">
                <a:latin typeface="Arial" panose="020B0604020202020204" pitchFamily="34" charset="0"/>
                <a:cs typeface="Arial" pitchFamily="34" charset="0"/>
              </a:rPr>
              <a:t>: Kimberley Clark Corporation</a:t>
            </a:r>
          </a:p>
          <a:p>
            <a:r>
              <a:rPr lang="en-GB" sz="1300" dirty="0">
                <a:latin typeface="Arial" panose="020B0604020202020204" pitchFamily="34" charset="0"/>
                <a:cs typeface="Arial" pitchFamily="34" charset="0"/>
              </a:rPr>
              <a:t>Kotex has launched its new “jumbo value pack” containing 56 pads at the regular price. Their product is unscented and has the 3D capture core technology  that absorbs all the wetness to help stop excess leakage.</a:t>
            </a:r>
          </a:p>
          <a:p>
            <a:endParaRPr lang="en-GB" sz="1300" b="1" dirty="0">
              <a:latin typeface="Arial" panose="020B0604020202020204" pitchFamily="34" charset="0"/>
              <a:cs typeface="Arial" panose="020B0604020202020204" pitchFamily="34" charset="0"/>
            </a:endParaRPr>
          </a:p>
          <a:p>
            <a:r>
              <a:rPr lang="en-GB" sz="1300" b="1" dirty="0">
                <a:latin typeface="Arial" panose="020B0604020202020204" pitchFamily="34" charset="0"/>
                <a:cs typeface="Arial" panose="020B0604020202020204" pitchFamily="34" charset="0"/>
              </a:rPr>
              <a:t>Trend alignment: </a:t>
            </a:r>
            <a:r>
              <a:rPr lang="en-GB" sz="1300" dirty="0">
                <a:latin typeface="Arial" panose="020B0604020202020204" pitchFamily="34" charset="0"/>
                <a:cs typeface="Arial" panose="020B0604020202020204" pitchFamily="34" charset="0"/>
              </a:rPr>
              <a:t>Better Value for Money </a:t>
            </a:r>
          </a:p>
          <a:p>
            <a:endParaRPr lang="en-GB" sz="1300" b="1" dirty="0">
              <a:latin typeface="Arial" pitchFamily="34" charset="0"/>
              <a:cs typeface="Arial" pitchFamily="34" charset="0"/>
            </a:endParaRPr>
          </a:p>
          <a:p>
            <a:endParaRPr lang="en-GB" sz="1300" b="1" dirty="0"/>
          </a:p>
          <a:p>
            <a:endParaRPr lang="en-GB" sz="1300" b="1" dirty="0">
              <a:latin typeface="Arial" pitchFamily="34" charset="0"/>
              <a:cs typeface="Arial" pitchFamily="34" charset="0"/>
            </a:endParaRPr>
          </a:p>
          <a:p>
            <a:endParaRPr lang="en-GB" sz="1300" b="1" dirty="0"/>
          </a:p>
          <a:p>
            <a:endParaRPr lang="en-GB" sz="1300" b="1" dirty="0">
              <a:latin typeface="Arial" pitchFamily="34" charset="0"/>
              <a:cs typeface="Arial" pitchFamily="34" charset="0"/>
            </a:endParaRPr>
          </a:p>
          <a:p>
            <a:endParaRPr lang="en-GB" sz="1300" b="1" dirty="0">
              <a:latin typeface="Arial" pitchFamily="34" charset="0"/>
              <a:cs typeface="Arial" pitchFamily="34" charset="0"/>
            </a:endParaRPr>
          </a:p>
        </p:txBody>
      </p:sp>
      <p:sp>
        <p:nvSpPr>
          <p:cNvPr id="6" name="TextBox 5">
            <a:extLst>
              <a:ext uri="{FF2B5EF4-FFF2-40B4-BE49-F238E27FC236}">
                <a16:creationId xmlns:a16="http://schemas.microsoft.com/office/drawing/2014/main" id="{A1F7777D-FEE2-10D9-3711-B9BEE4D82463}"/>
              </a:ext>
            </a:extLst>
          </p:cNvPr>
          <p:cNvSpPr txBox="1"/>
          <p:nvPr/>
        </p:nvSpPr>
        <p:spPr>
          <a:xfrm>
            <a:off x="6010475" y="1244664"/>
            <a:ext cx="2624328" cy="2624328"/>
          </a:xfrm>
          <a:prstGeom prst="rect">
            <a:avLst/>
          </a:prstGeom>
          <a:solidFill>
            <a:schemeClr val="accent5">
              <a:lumMod val="20000"/>
              <a:lumOff val="80000"/>
            </a:schemeClr>
          </a:solidFill>
        </p:spPr>
        <p:txBody>
          <a:bodyPr wrap="square" rtlCol="0">
            <a:noAutofit/>
          </a:bodyPr>
          <a:lstStyle/>
          <a:p>
            <a:r>
              <a:rPr lang="en-GB" sz="1300" b="1" dirty="0">
                <a:latin typeface="Arial" panose="020B0604020202020204" pitchFamily="34" charset="0"/>
                <a:cs typeface="Arial" pitchFamily="34" charset="0"/>
              </a:rPr>
              <a:t>Brand:</a:t>
            </a:r>
            <a:r>
              <a:rPr lang="en-US" sz="1300" b="1" dirty="0">
                <a:latin typeface="Arial" panose="020B0604020202020204" pitchFamily="34" charset="0"/>
                <a:cs typeface="Arial" pitchFamily="34" charset="0"/>
              </a:rPr>
              <a:t> </a:t>
            </a:r>
            <a:r>
              <a:rPr lang="en-US" sz="1300" dirty="0">
                <a:latin typeface="Arial" pitchFamily="34" charset="0"/>
                <a:cs typeface="Arial" pitchFamily="34" charset="0"/>
              </a:rPr>
              <a:t>pH care</a:t>
            </a:r>
          </a:p>
          <a:p>
            <a:r>
              <a:rPr lang="en-GB" sz="1300" b="1" dirty="0">
                <a:latin typeface="Arial" panose="020B0604020202020204" pitchFamily="34" charset="0"/>
                <a:cs typeface="Arial" pitchFamily="34" charset="0"/>
              </a:rPr>
              <a:t>Manufacturer: </a:t>
            </a:r>
            <a:r>
              <a:rPr lang="en-US" sz="1300" dirty="0">
                <a:latin typeface="Arial" panose="020B0604020202020204" pitchFamily="34" charset="0"/>
                <a:cs typeface="Arial" panose="020B0604020202020204" pitchFamily="34" charset="0"/>
              </a:rPr>
              <a:t>pH care</a:t>
            </a:r>
            <a:endParaRPr lang="en-GB" sz="1300" b="1" dirty="0">
              <a:latin typeface="Arial" panose="020B0604020202020204" pitchFamily="34" charset="0"/>
              <a:cs typeface="Arial" pitchFamily="34" charset="0"/>
            </a:endParaRPr>
          </a:p>
          <a:p>
            <a:r>
              <a:rPr lang="en-GB" sz="1300" dirty="0">
                <a:latin typeface="Arial" panose="020B0604020202020204" pitchFamily="34" charset="0"/>
                <a:cs typeface="Arial" panose="020B0604020202020204" pitchFamily="34" charset="0"/>
              </a:rPr>
              <a:t>Keeping in mind consumers choices, the pH care brand has introduced the </a:t>
            </a:r>
            <a:r>
              <a:rPr lang="en-US" sz="1300" dirty="0">
                <a:latin typeface="Arial" panose="020B0604020202020204" pitchFamily="34" charset="0"/>
                <a:cs typeface="Arial" panose="020B0604020202020204" pitchFamily="34" charset="0"/>
              </a:rPr>
              <a:t>pH Care Naturals Papaya and pH Care Naturals Guava internal cleansers. These contain natural ingredients that are mild in quality and  keep the  intimate area fresh and clean.</a:t>
            </a:r>
          </a:p>
          <a:p>
            <a:endParaRPr lang="en-GB" sz="1300" b="1" dirty="0">
              <a:latin typeface="Arial" panose="020B0604020202020204" pitchFamily="34" charset="0"/>
              <a:cs typeface="Arial" pitchFamily="34" charset="0"/>
            </a:endParaRPr>
          </a:p>
          <a:p>
            <a:r>
              <a:rPr lang="en-GB" sz="1300" b="1" dirty="0">
                <a:latin typeface="Arial" panose="020B0604020202020204" pitchFamily="34" charset="0"/>
                <a:cs typeface="Arial" pitchFamily="34" charset="0"/>
              </a:rPr>
              <a:t>Trend alignment: </a:t>
            </a:r>
            <a:r>
              <a:rPr lang="en-GB" sz="1300" dirty="0">
                <a:latin typeface="Arial" panose="020B0604020202020204" pitchFamily="34" charset="0"/>
                <a:cs typeface="Arial" panose="020B0604020202020204" pitchFamily="34" charset="0"/>
              </a:rPr>
              <a:t>Quality </a:t>
            </a:r>
          </a:p>
          <a:p>
            <a:endParaRPr lang="en-GB" sz="1300" b="1" dirty="0"/>
          </a:p>
          <a:p>
            <a:endParaRPr lang="en-GB" sz="1300" b="1" dirty="0">
              <a:latin typeface="Arial" pitchFamily="34" charset="0"/>
              <a:cs typeface="Arial" pitchFamily="34" charset="0"/>
            </a:endParaRPr>
          </a:p>
          <a:p>
            <a:endParaRPr lang="en-GB" sz="1300" b="1" dirty="0"/>
          </a:p>
          <a:p>
            <a:endParaRPr lang="en-GB" sz="1300" dirty="0">
              <a:latin typeface="Arial" pitchFamily="34" charset="0"/>
              <a:cs typeface="Arial" pitchFamily="34" charset="0"/>
            </a:endParaRPr>
          </a:p>
        </p:txBody>
      </p:sp>
      <p:sp>
        <p:nvSpPr>
          <p:cNvPr id="7" name="AutoShape 2" descr="DELISSIO Vintage Pizzeria 4 Cheese">
            <a:extLst>
              <a:ext uri="{FF2B5EF4-FFF2-40B4-BE49-F238E27FC236}">
                <a16:creationId xmlns:a16="http://schemas.microsoft.com/office/drawing/2014/main" id="{AA4FEDF2-B27B-880F-7224-A9A0051FCEAD}"/>
              </a:ext>
            </a:extLst>
          </p:cNvPr>
          <p:cNvSpPr>
            <a:spLocks noChangeAspect="1" noChangeArrowheads="1"/>
          </p:cNvSpPr>
          <p:nvPr/>
        </p:nvSpPr>
        <p:spPr bwMode="auto">
          <a:xfrm>
            <a:off x="1670843" y="662749"/>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8" name="AutoShape 4" descr="data:image/jpeg;base64,/9j/4AAQSkZJRgABAQAAAQABAAD/2wCEAAkGBxQTEhUUEhQWFhUWFRYYGBgXGBwYFxgaFRkWFxgYGhoYHCggGxslHBgZITIhJSkrLi4uFx8zODMsNygtLisBCgoKDgwOGxAQGy0kHyQsLy0sLSw3LTQsLCwtMC0sMCwsLCwsLCwtNyw3LSwsLCwsLCstLCwsLCwsLC8sLC0sLP/AABEIAOEA4QMBIgACEQEDEQH/xAAcAAEAAgMBAQEAAAAAAAAAAAAABQYDBAcCAQj/xABDEAABBAAEAgcFBQUGBgMAAAABAAIDEQQSITEFQQYTIlFhcYEHMpGhsSNCgsHRFFJicvAkM0OS0uEVFjSys/Elc8L/xAAaAQEAAwEBAQAAAAAAAAAAAAAAAQIDBAUG/8QALxEAAgIBAwICCAcBAAAAAAAAAAECEQMEITESQQVRFEJhcYGhseETIjJSkdHwI//aAAwDAQACEQMRAD8A7iiIgCIiAIiIAvJcOZX1y/PntV6XTyYueBr3MhiPVta1xaHOAcHl4BpxzA1d1QIQlKzsfFumuBw99biGAjk3NIbq6qMGiQq9P7XsAAcomcRezK2395y4BDI4g6nfWz4tCzy3Z1HMaH+AfrXoVRs0WNHdYfbDgSO0ydp7sgd8w5SvDPaTw6bQYjIe6VjmV4lxGX5r82zXR/F+f5LyXup3pdeR/RTYcEfsCKdrhbXBw7wbHyXsL8pdGukuJwjw6GR4ILSWlzsjhbQQ5t0RXeNLJGuq/UnDMUJYo5W+7JGx48ntDh9VKZRxo2kWOaXLXitJuLJ+A/JSVJC0zBahd9PyKxPP9epQEjaKLE5B9B/7WWPGG6Ou3z3QG+i+Ar6gCIiAIiIAiIgCIiAIiIAiIgCIiA+Ffl/p8P7Xizp/1kwHfYdKv1AuSYr2eS4rF4kyO6mIzyPa7Rz5BK7PbdaaBmI1F2PjDLwdHGIm7jXc/UH8lsvaO7+soH1v4rueC9kWBZWZ00ju9zz8KYGtr0vxW072a8OBvqpD+N3/AOio6WXWRH58kr6/O1icN99a+hXecZ7POH8oZB+L9Coyb2dYA6ASA+Dn6fOkojrRx/ANNu2/uz8iwlfqjogP7DhK2/ZYP/G1cun9mZjjc/CyGUgf3UuQOdyprxlDSdNxW+q61wLCmLDwxO3jijYfNjA0/REVk01sZsUNR5H8lHRD6D6hSWJeByJOwA52tdsLjrTW+Gp+isUPZG/l+TlimGnx+pXt4fzcwD+R3+paeIlI++31jP8AqQHutfQL6wdr1CjjjnA6mM+Qc36krewWKsdpo03IN141uUBLx7Bel8bsvqAIiIAiIgCIiAIiIAiIgCIiAIiID4Vq4eMh7sxuzY8ASdPyWy91Cyo7ryXXy5eSAkqWOSdo3K1HzmlF4uQlAbGP4kLoHRR0WJBOq0JiVrslIKAt7MpZlYcrjpY7+XmpGBlNAu6AF99DdVDD4kjVWnAYoSNsbjceKA+4hpzNP3eY8eRWxS08RNbqHLdZWynmgMriBuo/HY9o2pYsZMSoLFP13QG2MQ1zuSlsMGZDlNOoj46BVMSUVI4fEFAWvDsIaA42a1WRamAxYe3xG620AREQBERAEREAREQBERAEREARF4lfQJ7ggNLGvzHINhqfyCNiXzCs5nc7rFxPFBrT3DcbEk7N8NNSeQ+QGrxHGtY2y4NG1nn4NHM+J0VU4px1odlylxsAW1z7cdmigGBx3o+dBbrcKMRK44gNfq6KJr2Z2ZwzM92V2hDdGeBzDc2tL9niBwjYv7mFk0reecxNEbXE8yS8vvvAPNDohjj3IaXijwRniawdb1VvDBT+Y03AqrB58918HEpQxshjYxpYHlzpCGAEaNIIJzm9h3b7AxXGGQzYTDl2JjYalleys7nySEOIcGm2lpLmkkGr2K9Y3jcD3dUXjqRFE5jshPVyx3Yc07gg0fUc1Wzf0dVtH3lx4VjBIxrgCMwBo+P6f1yU3g8Q5llu5FeHgVRujvF2SMztNC+2y7LCdnNvUtOoB9NbCuuDOYcvTnet+u6scU4uMqaom+GOzN8ef6rJipg3z58gB4nl5a2otmI6vY6+OwHMnwH1oc1F46YTvaxxIgFvfqe2wENF1vneQNOQcBzsIx6nR44v0hjb96713ysoGr761GpoeVqvYnjL7NxEABpJcCzK2Q0w9uQZgdTQ2rWtLmOIcKia2WGFrQJMVCyWgGgMJY4xtAugI9KGhLydCq3x90M0eJZJiI4S7FAOB7bhHE0NY1sd3RLb0oe9qqtnTjwwl5m4OKPOoj0t+vWAsAjOVxcTs27rKT9VL8G4iJWNeNMwsAkHnRojQ14eexCpf/GYOqhwznXE6JzZCGnsPa4FjqI7QsHTxF81JdHOLskBLPumnsF+XWx3rRPqLAN2FKZGbA4q1E6BgsQWEOHr4hWaN4IBGxVUwLsw/TY3qCPAhT3CX9kt7tvIqTlN9ERAEREAREQBERAEREAREQBanEndkDvcB+f5LbUfxQ6sH8x+FfqgMkejbrYctzSq3SPiPVNkkIvqY7F7GaSsoPhmI0vZqsz9Y3X3fmufe0Z5EEgH3sU0O/laJC3XzUN0jfTY1kyxi+GytYfieJxRw0GH7ErBJ9oHZS90pzSPcQNAdSQB5L70l6POw0EUn7V1sbSYhVtDRrYbqez2SCPDmsHQ/h8k+KYyN7o6Bc97TTmsqnUSNzeX18FJ9N8POHw5ohHhmW2CMEbM3LmjYltUOQ0NGwqLiz38kVi1MceOvMx8P4Rh4Bh48RD1k2KGYjKX9SwbEgXXacAXd5OtNUfgy3DYWTEsYHSPndDCJGkgAONXzvsnx7IV6xfEYGvbif2lrYpWRs6vSy5pdRP3mgZ3ZrAqjtSpmB6RwZXNxTXPyYl8sTgMwJzuc06VRFu121+Ntked1Zclum/Mj8c4YLiDsmkZILm7DJKO0D5WSO7RdN4Do7IT7rsvPUGy36H/ADLjmLxD8VO+QNJc86MHaLQBQGnh810PotxSRssEbonMzxRAuc4WXROiY85QSQCXHQ1v50ixrMD6IvvW5cukOFdlAbu5zR6E/rS5ViulD5hPHG3SaSERu2c2OB+aJre63AH8RXW+lL7w8lb9VJ/2OXCeCYV0sjIo/fkLQ3wJ1v039FE2+xfwrDjmpzn2LlxjoxIzDTSyYxz5Yy2WaME5M5DaF7l9VR8G6BaPBeGRxQMxEkBnfPJkjYWl1MvtylvPQXeuhFe8VOdO+EyxYZjGuAw8ZbeZ1yzvdVyOJ3o8t9SeQXzA8awrcLhpHzPjlw8ZjdEzeT3RVZTbTka6wRXMjZKLqWSWC473Lt9vMgnQMwox2KZHXVSCOBrwey54jJNO+6DIK8AVHcck/Zcc2RmmZrJHtGxz2JG13OrbvN7qRHSqIS4nrI3SwSyteyxRDmBgHZfX7rfIt2UBxGSbF4hzurOd/ut2AY261dQI7z4qGTixz6/+uyrv7jrnRw9rINgRV6dmTtN9b8vePcArSyPJKK+8CPhqubdDZ52TwwyMYKgp3bzv+yyAONaCyW7E/p0uV32jK8foVoePlx9EqNxERDMIiIAiIgCIiAIiIAiIgCjeL/cPiR8Rf5KSUdxwdgH917T8bb+aA9wi2OFXpt3qo9NcH1mHxLQDeVszdLvIcxA7zRd8PFWrAPUB07w39ncdcrXNLqF3DnBkHjlFmu4lDXA2skWvM5t0e4ziMGyWWOC2vaGmR7HZGlpNEGqdqaq+Y9ZKLgGMn+1nlDnZc4D3kmq5MApg8tPmsnTvEzmMmJ8cmEnyiMtHaa4C8ljkS0nnzGlKS6R8XiwrpmBxMroGQtAFBjRmIcXHcnMTQ7gq9K4Z7cs05SWSEV1S+PH0ImHgUPVxSTl14h4ZE1um5oFxGvdZ2FjzUfDwuNuKxQYwPZDEMrHDrLkcGkVd7FpHfqrRxaFrDgy97BFhYacCdc+UAkd+rQfNU2HpAyJs0hJMkuIzbVTQRoSdNQNlOyOeWXLltpt3/ZszyH9vgYyg7IxkmUDnb3t8gG36qw9DYs8suIJLi6VzGa6NY1xIq+7K06eKqUTJ3Yl0scRDn3lz6FuZobmrWjoRryK6L0bwXVQxs07DQCe9273f5tPQ96Lc5dQ1GKS5pIm8fiKbmOoG/lzXJuBcGxUc5kwgDhBI8MlNFrqD2aajNYJbpzBF6Lqk4zCiLHPvrvFcxv6FUDhb+uwpbBOWT4ZrsxY77OVn3nAjXWt9xqPFQ0X0OSUFJdnSdnjh3Apce5k+IxJzSPLWgsL3dgnMGiw1jaGlaeu+UcMhhw82InHX5JjCxoOUPcDRNXv4a7LMzjv7HhMEcmaV0Urm9rstMhaQXCrcS1wr171jHEcOcHhWyyjNHK6d7QLc55c5wB7iA6jQKlUdssmZRa9RuqXx8tzC/hsbOI1GxrRDh7IaA0dY7MBfI212/go7Hve/FYWIuOdgYJS0kWXZXyAEVbcrfna0/wDmIvmnMbC5+Ic0MAskMb92m2e/bQd63f8AheKlxGclkcjmi67WSxqDY3qvh8F3wczThK8n7drLT0NwrXSS4gtIdJM8A8wxjtj4W1o9Wq+YZ9yN9foVW+A4MRRMY3VrWgNJ3I5uPi46+VKx8KFvvuH1Unm5JdUiXREQoEREAREQBERAEREAREQBYMZDnY5o5g158lnQoCv8Oe6tQQeY7vBY+l2AfPhi1rOsLXxvyGgXiNwc5gJ0tzQR6qSw0/adYF5j/XyUgQhaEnGSkuxyGfhWJmYyODCDDxsl64dZ2Wl7NACL0BvY1sK7l7m6JSPe5+NMvWGsrostABtUQQQRtsR56ELqsh8lpjBk+64tHcD2fgdvSlFHT6ZNfp2+vzOTYnolE51uxGIdQoAsbdfu2Sefp481t8P6PsiNxQmx/jTEFw5adkAegXQMdgZG6mVxHkP0URJD3kuI5u1/2B8d0pGc9TlkqbIrDYJzc2UFxN9o6E+V7ee+prvUtw8S5Gl7A11atabA7gDXcskEx71LYbE6bqTA1MOHXZUJ/wAmYzqxhziGDDtaGCmkSFg2a43lvlYAHgFZsLIM456/VTT3d+iGkMsocHPMP0JbEQc/XHLlyT1QbQFNGjdtND681jxXRCPQnBxWOWbs+gMlK/vDT7xFdxK0MXw7D5TTYvg1KLPUZW7cmU3D8LMYyt6qIHdkTe0ddjR1Hma17luYfhJ1rS7uzZJ73EUPQaLela0aCq8KWOCXXdDJtt2zb4dwmVrADI6Qi7e/LmNknWgBpdDwA3OqneE4fK2ybJ/Lko3D4oAclL8O9wHvv6oQbSIiAIiIAiIgCIiAIiIAiIgCIiAiXYQiV1HR2vld2Pl81IsYQN1G4h+WY/xAH5V+Sko5AQEBBcRxU5mMcNdloJshu9cy12uu1cioxnEcSX5GzQF2uglYTpd6dV4H4L3x7DyPdjWQ6yPhblAIF9lg0JIA57lVDj3RqLC4OGV1x4jM3Nb7o0SdAS0UQNRojPQ02DFkSUnTey/t7lj4ljcU2hJPE29s0rBfKxcHiFoPbiSLEkRB2OcH6YdR2Jw+FlxmIdi3tAaGgW/LrQGmu41NeK3OjOA6mJwD2vY55cwtOYAHx5nZVuy2fBDFC++3Z9zZ4Y2XrSyV7fdDtDYokga5Gn7psV3Kxx4M1fWD+vRV2F39qB7ofq41/wBp+CsUWK0q/RWOCfJscLgBcPDUleekbM7oI7y53myKvKGucazAi+z3c164Pef4r1x1tSQP5CQA+T/s/q8fNCIfqKFiePYcOdkZipI2OoyAR5e7S468rI9Fk4vjsNH1QYJ5XStD2tZkvK7Yn7O/SuR7lscSxmHw0E3D8L1k8snWAig7I9+hsgAHKTsNuZUbGJ8LicOxsHWStw3uWBWcyE67dm1DPcjgxyVpNc1b5Vc+zczcIbDiGuLevY5hpzXFoIPo3wPwW/gMIyLENb2nZ2kjMbILLD9fHPHp/CVp8K4o09c90Bjm6xrJGtOYue4kNAsgDY/DxW7gH9dNFI1rgGxucLFEh5HwIysP41ETgzxkpPakWyOBmW8osd5/2Uxhz2Ry0Cg44JK2oaanZT0baAHcK+CscB7REQBERAEREAREQBERAEREAREQGhiyDI0EbNu/M1XyW21orRaGOiPWNcObcvwJP5/Jb8V1qgKzxrFiPESSDePCzE+YMJbapXAX4N1T46frZiSckhJa2jpYrXy2G1K+YrCB+Mc14tr8PICDzFwA/moDiHCeGwPcx+GfbQw6PNEPcGAi5QaBO5rwtGrPS0uaEIOLu33VXW5XnSYU47FHEsZlcGmMv92nNaSRyuiKO/qtHhbc+GLWxvfG3FONN3LXMeA7cbOLT6glXDpA7BTMt+Fkd1WdoIphAiDr161pIprgAf3eWhWpGYHgYcQkNv3HNblFAvN043R3PeR5qlG8tRcNovtzxseOikzXZTl9+CJw8soZX+aN5/EriWjIaa0eN6qscPh/tBDG01kTGaaAEF7qHpI34qxdU4Nsg0rI8vNLqlZt8Dfd3vS8cf8AegHIysv0ewj5gfNeuCR6kjavqsPSzEsiYyR7g3LJGbO1dZHd/wBbEqSuNNySRSsJh+I4abEuhwmfrZ5HZyW2W53Ftdsaa36le+IcN4gXxY3qR1uRzHxWOzTnhp9/m0g76fSa450iw8lGHGNYQyUHK8gEuADb1GoINE7WeaiY+PtzVJjLbbDpLQoFoI0Nn/Eu9TmbdkdmNj1vxcs/zuCT77O2uKI/AcHmEc8kwLJJJGyNbGW5wWaggutt687Uh0ehfG9rXHtCNo3sgZsQQL56Nb8FF4Pjbc0ZkxQyjR46zMXU1rr3Ouexv7p8AFMcIx8EuJOSQOHVsHZI3uSq9C6/wqFRhqHkafUtvp7C1tlGWq181Nx7DyURHG3LYaTXfspeN1gHvFqx5p7REQBERAEREAREQBERAEREAREQEdiH/a77NHzJW8NlEQ4uOWeUDeJwjf8AzZWycu4PG/j5qVzADf5oDnvT7pHLhcSx0WTNkc3tgkUercdA4a2FGYrjuPkLQ6PCnrGxnZ+o+0ey+3uC13kVq+1fHQnEholaXs0e3Xs5msIs7cgfVU2DiLQbEjR5ur6n+rWblufSaLBingi3037S1Yvi+Mb1gMMBbZznK/Lcmdp/xL17W3isGJx+NjeR9g19m6a4nY626xWnf/tCYniBePeB31Fnlaimzl2tmtas6nx18VWzonpoKltv5L7l/wCgnG5Z5pDIQSWg6CtgBy8APgF0VjgW62T5rgOC4y+APETqLxRcNwNR2e467rqfQHj0U2HZG57nTsblIOpdQ0dvbtBXM3urxZ4GtglkbjwXDg7iHVyN/JV/2sa4Qfzt+ZA/T4qb4VKM/hbgDysEgjzsEeYW3xTDsla6OVocx2hBHI1XrY+QUtpmGnyfhZYzfZnCcNiWhmQxMcbsPPvVrY+nw5rPLNDRPVsJ1oAkVeXlzIAPxV+4h0KwskgLC6MNPaY3UOA5DNq0+I+CcQ6MYUAAREUQSQTdDkb0PlSzXB9C/E9JzUrfyOf4jEN6th/Z2NaANbp0mrdRbT+6df4it72ctvFPNfdPpZuvgPkVK8S6KCSZznzEMsBrWsAysGjQNaoDwU5hOFQYWn4ckZqBtxIOUHUg86J27yi8zk1GswzxOMeX/u5aIMxGgNfJTOGFNaPBQODxzXHUnRuoB0tS3CXXH6u+q1Ukzw6N1ERSAiIgCIiAIiIAiIgCIiAL4vq+EoDhfHMRLBxHHjMWOc8PGVx1aWMynzoKBh6V4hjXATvLHWHMccwdf3e1dXtYorRg4i6Xr8ZI4ufK5xN933W1yAFBV3E4onU94+trKSOmOy3JnH25znONuJsnmStD9nJKS8XY47EeiwPxLTtRUIs2uxvYjAlkF8y9x9Mv+y0ASReuo2B7t1jnkGX3a9T6Lw6ahY0Ow8ddfJTRCmzdZNoveA4vK2ZnVOLcp3aaPd/Xmotr7B8QpHhLHAtygDtC3EKaoq22d49nrj+ysLjdyPLfAZyD8XBx9VcseRuDfIga6Xv6LlvQF5yyx5j2XCQDkM9g+Vlp+JV6dG81lA1rU3p81Scq2Mq3PLuItuUMFuicy755+fwBWSPGtc02WUfitRuHZ1rwQ3M4NL3AUX1enpfzXzF4RjR2RR5KkFKt2TsYpsgOutDl39yw4rANdGXmShkdsO8EX5i1zjpZ0qmjxJbH2GMOUZ2HJJXvHNY8R5d9rHw/2gMNdfGR4xHM0/hcQ4eAWjTaIo6nw2NrDTgdA33QDmGzSDeun/pWTg05c0tIrKfkVzzo900hmkiZE2YNBFvkjyMDL1txOvcKtdDwT/tXDkR9D/ukNnQfBJIiLYoEREAREQBERAEREAREQHwqK6U4sRYPEvcaDYJTfd2TXzpSqr3tAAPDsUDsYnA+qFox6pJeZ+dom5cCB3hV07U70XQMbwYGBrWurQb6/oq/jOjsgGmQ+RN/Mfms7R6XoOerUb9xWnRdxC+wjfSzy1+PyUk7gcv7o+IXhnA5b0YfSv1S7MXo8y9VmCQkgE2BWt+GnxWs8hxs6AbBSc/B561Y75fqsP8AwiX935hCvo+V+q/4NMuHKwtzCT5SLJruu16j4RJzyjzP6ArYh4GTq54/CCdPAqG0aw0maXETovs5xlzkaZXwO1/iY9mUfBz/AILrHD30zYny2XBocG1kAqyQdz+my2cHjJNB1r2iwCcztATqatVa7o7cXhEssW5SqjrT39tzgHGicxDSRpQIb+9W2ncVixkurRq3OaGm5uqPdzOvJpPJUwYHFMz1iXgsbM6szrcIXForX72VxH8vitqXB4vq8xxL6LI3g5nGxI15rwIyfMKVjZg9BBK/xV8zPPJE8UW3Y1DmciSNcwobbHVRp6FYOQuLocmu7ezf8TSDVeKh8dFK0zXM8mLqydXa9YQO/TcfBaXE8O5rIXOeX9Ywuom8pFGtT+65h/EoWxZeG7pda3Lfw7o9w/CSNcZyCynCN85Isah3V3Zo67K18E6Txy4uJkVuD84LtgKY5+gOp90d264wFc/Zv/1mH/ml/wDFIpjuzTP4bDFicrbdHbEXwL6tjwgiIgCIiAIiIAiIgCIiA+FV/p8P/j8T/wDUfyVhUX0mw3WYTEMq80MmnecpI28UL45dM0zjOId9kz0+i1ZHWW91i/iFGYfj8b4GFxymhvt8VlZiWvFtc1w7wQR8li1R9po82PJClJFyxeAa7rzNE2INdGI3taLLDLlHZBGldnNzB5rM7hEWcxCJojpr+sAOYOOLMZZnvLlyADLVqmYd4vtl1abHxHxGnzUhgsWLpz5Mhc4kAne7adTV7a72T5q6kjnnpMq4m/hdfUseLwTcsj/2ZttprW07I4daWl2XNmsDS7pQeP4OwSwBrOxnmzuo5csc8g7Tv5G0suMx/ZLutkL8pAdndddqhd+DdFASStoC31rpmNdqzppXrzsqG0ZrFOO9/X/e0m20x7WDq8jsRGRlykFrwZCA87tD9vIBV7ikhMzyS4mxq5zXHYbuZ2T6aLDiHs+6CNveq613rbcaVWm+q0peIRN3e3yBs/JVZbEo4fzSl/JMk/YfiH1WPCMzUNNe/ZSHQGSLFT9U5maMRueb07QcwAaHxJ/CukRez3CFoNPF/wAZoehUPYrj8VwY24u2UlnHcS1zXEsuogTVlzYmuADtdiHOsite7ZbTOKy5DEOro5RRsAGOJrBRJ2LS3fuU7jfZ/hmAuM04A5DKa18W7ePLfko93RTCEhoxE1nYHI2/izn8TSupFHqNFJWl8vuVt/EHvcQY8P22MzEtdrqwNJt/vA0tHisry0Ne9rgHaNGzKa1mUHkABRGgttq1f8rYQPy9a95siszdC0Wbyi+74jvWWPoxhWuvIT4OcSFRsxetwQey+Rz610T2XcKk69sr2EMY1+Uu0OZ3Z0B1PZLtfFS/DuGQx6xxMae/KC7/ADHX5qy8LbzHPT0Uwe5y6vxJZYOEVVk80r6vMbaC9LY8cIiIAiIgCIiAIiIAiIgC+EL6iA/KPTno7Jw6eSB4IjJc6B3J8dmgCd3N2I8jzVStftDH8PjnYY5o2yMO7XgOHwKoHG/Ytw+Y5ohJAdTUbhlN/wALgQB4CkB+cm4t42e7/Mf1Vh6KYOXFPewTSNLW5gQC8fi7QrloLJs1sug4r2DOAPV4kk8raPnqoqT2H4sf4rD+E/6kouss13ZEcX4FLHE5wxEjy1wa5paY8llg7RzuF24WG3XiofiPB5oopHmUvMb4QerzlobKx7y4lzRVVGO7ta6q1t9imMO8jBt90n81tYb2GTk9uZoH8LNfmUpEvLN92cnc4nck+eqBdwwHsJZf2s7yO4ZW/kfqrt0f9mWCwpDmx28fed2j8XIZ2Uj2QdFJmMdM8FjpKAB5MFmyDtd/RdaMEo0GUj4LfihDRTQAPBZFVxT5JuiBxeFke0tdHYPc8t213FEKOHAXCssNU4u/vHEWaOxdVWAa20Ct6J0IssklwylN6LvLs2RgNk3mJNkAHl/CFtM6MyH3pGjyH6q1onSiHJvkhsJ0fjb7xc8+J0+AUtHEG6AUvaK1FQiIgCIiAIiIAiIgCIiAIiIAiIgCIiAIiID4EREB9REQBERAEREAREQBERAEREAREQBERAEREB//2Q==">
            <a:extLst>
              <a:ext uri="{FF2B5EF4-FFF2-40B4-BE49-F238E27FC236}">
                <a16:creationId xmlns:a16="http://schemas.microsoft.com/office/drawing/2014/main" id="{7F81FB7F-CA74-A225-5223-6DAF90DBF638}"/>
              </a:ext>
            </a:extLst>
          </p:cNvPr>
          <p:cNvSpPr>
            <a:spLocks noChangeAspect="1" noChangeArrowheads="1"/>
          </p:cNvSpPr>
          <p:nvPr/>
        </p:nvSpPr>
        <p:spPr bwMode="auto">
          <a:xfrm>
            <a:off x="1670843" y="662749"/>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9" name="AutoShape 2" descr="data:image/jpeg;base64,/9j/4AAQSkZJRgABAQAAAQABAAD/2wCEAAkGBxQQDA8PEBQUFBQWFBQQFBQUEBQVFRYVFRQWGBYVFRQYHCggGBolHxYUJDEiJiwsLjEwFyAzODMtNygtLisBCgoKDg0OGxAQGywlICU0NywyNC8sLCwvNCw2MiwyNDQsLCwsLCwsLCwsNC8vLCw0LCwsLCwvLCwsLCwsLCwsLP/AABEIARQAtgMBEQACEQEDEQH/xAAcAAEAAgIDAQAAAAAAAAAAAAAAAQcFBgMECAL/xABNEAACAQMCAwQGBAgJDAMBAAABAgMABBEFEgYhMQcTQVEiMmFxgZEUI6GxCEJScnOCssElM2J0kqKz0eEVJDQ1Q1NUY2SDk8IXw/EW/8QAGwEBAAIDAQEAAAAAAAAAAAAAAAUGAgMEAQf/xAA4EQACAQIEAwYFAgUEAwAAAAAAAQIDEQQhMUEFElETImFxgZEyobHB8CPRBhRC4fEVJDNSJWJy/9oADAMBAAIRAxEAPwC8aAUAoBQCgFAKAUAzQHw0qjqwHxFAQsynowPuYUBJAPj9teWACgD+816D4E6dNy/0hQHIGB6H5GgI7v2n5mgPugFAKAUAoBQCgFARQE0AoBQCgFAatxNxR9GcxjaCACWY56+SivNTw0TUuPk3EPO3nhfuwvP7KzUG9EDX5O0KHPqyN8/31n2UhcymndrlvCm0WszHxO9APhzrLsX1FztjtvQdLOT/AMyD91e9g+p6G7dYypU2cgyMZEqH7OVY9iwax/8AI6O5Zo2XJzyH9xp2TFjK2HH6ZHdysp8jn7j+6sHCSPC4OFdTN1ZRzEgk8iR7KwPTL0AoBQCgFAKAUAoBQEUAoCaAUAoCm+0HSlfWZVYsQ0ccmNxAycjljr6oqMx2MqUJJQJrhmCpV4N1F9jROKdEWAIyZ2sDnJzgj/8Aa7eF4uWIjJT1Rp4phIUJRcNGatIQOQqVIg+Ur09RyNWTsenA1YglFr1I8bOUrypJWMU7npzssiC8P2GB60QY+0knJrgn8TM1obXWJ6KAUAoBQCgFARQCgFAKAUAoCaArLjaHdrB/QR5/pPUDxRtVo26Fk4PbsJX6/sarxtb7tObaMlCG+HQ/YfsrZwqsoV0tnke8TpOdBy3WZVbKSQB1JAHvJwKs05qMXJ6IrCi27I3Phrgd7pcopkGdrSFjHECfAOSMnwwMn2VD9viq0uaHdXj/AIO5wo01aWb8DZpeySSC3llnmtwgJdi5kO1MDCllUZwc88ePTlW6pGrUalz2aWy366mmM4RuuW/qaXxnwVcadsldMwv0lRt8YJ9Ubuoz7QPea6sPOp8NRp+PXzNdTl1ic3B+lK8RlcA+kcZx0HL791RnFcbOnPs4PYnOEYOFSn2k1v8An3MrqujxFfUUHzAxUZR4jiIu3M2iWrcNw01dwVy6uz6LZotgg6CFQPcM4qfhNzipPcqFeChUlFbM2GszUKAUAoBQCgFAKAigFAKAUAoCaArPjN/4aZf+niPzaQfuqE4tDvQl5lg4LPuTj4ox1zGHjZD0IIPxqNjJxaa2JdxUk09yvOGeHkuNUdbhu7t4CJJ26cjIEjjB8C7EDPgATVv7RTpK+5TasHCo0ti3OLbu0trCLT0+sMLJKoE+xYRG25GmlUEgeAXBZvtrmrV4UUk9dktRTpSqtvbd7GH1TtKcWssF1BGTMoSLdFII2DEBhJFL1G3J6jOMEDrWqni+eMmlmvG/0Nk8PyNXevhb6nWj4nmvJLWynMTW8ziB407o7o3Up+Ix5LkEchgqOdaqGLqTqcsl8mvqbauGhGDkn80/oYXQYlhhEGecbNEx82R2Un5g1GY9TlXlJll4dyrDQS6HPqnqVxU/iJB/CW5wQP4Isv0K/dVsof8AHHyKJi/+efmzOVtOcUAoBQCgFAKAigFATQEUAoBQE0BWPGkv8O7MdbVGz7ncYqJ4rTfLGd8r2sTXBp9+cfA6bVDMn0YmDSmlstajgBabvLW5CL6zInMqPPJWTHtqfwbdXC8voVviSVHF83WzNasdVRdq+iGU5USmNVjb8oQJ6z++uCWHnezT9L3fq9jYqsbXv72t7I3jhDg76dIZ7mJxbhHCvICs00rjHeg8iqqM7Ty54wMDnI4XDyim575W2SOHEVlJpQ997nan0iz0hfpwna7mJdbSNmiO6XBXl3ajdt55Y5wAfGtyp0aCc7WsYxlWxElTWbZqel2Doil2yxGXx0ZiSzE+3JqAxGJVSTaRb8NhZUoKLeiscmrv9UzeQJ+ytFGN6iXU6K0+Wk5dC2+z+Qtomnsept4ifioq3cih3VsUGU3OTk9WbBQxFAKAUAoBQCgIoBQCgFAKAUBNAVPx8+3iOH+Va7f6z1ycQhzYZ+DTJHhc+XEpdU0fJqtstCNb1jVZ9PnTULXBZfqpUbmkkTH1W9zYII5jPvBk+E1P1HTe+a8/8EbxuipUY1VqsvR/3O1qPakt7bNHb2ssFyTGxnjEb7FEi72L43KpGRnHjU3VfJHNpdPMrlCKlUimsrq/lc6Nxxjf3X8HRSS3Oc7ggjWQqOqmVQPR8+nlk9K5J1ZxoupUkorqS9aOAoYlRjGU0tVfL93452OvY8PvE9qVhJuTLdoyNMAscSbMDOSiKC3UeLVFVsSqkGnLuWjtq7v12MaeJhTxUq0Y63svzIykM8m9VlhaLdvCbnQk92218qpyBkHB6HFcU6cUrxlfTrvmvl7E5heIRrzcEmjGcYXQjtSo9ZvQ+fU13cMw8qldN6LM0cXxUaeHklrLIujs8GNC03+aw/sDNWKWrKgjYaxPRQCgFAKAUAoCKAUAoBQCgFATQFNdqrbdftW/5Kf2jf317OPNRmvBmyhLlrRfijt+A91U9l1RhptNF65gkmaFJHe2jCRhmklSLvGLk8kQDHtJrZGrLD/qQjdpczu9Fe2XVv2IniOKlJugslo/ExnC3Dktvayxzyj642bvbJtIKS3CoplbGcMN3ojA5c81IYrGQr1ouMfh5ld9VFt28siEjTcVmblcW4kjItoRG+2WBRGuPq0vkR8EeYUnHtqLo3g06s7ruSd+ri7fZGx22XVHVupAVmx3TOz3scaSTrFvkFyjhM5z6sZJ93tr2KaUddIu6V7Kzz92ZWMGiuZYJbgxNM4uvShkDoY+/wC8QoRz25lZefP0a6KjjGLULpLl1Wd7W98rknwnOpJP8zMPx3GEgQeJYfDlk1IcIc5VXfSw41yKgra3Ly7P/wDUem/zWD+zWpiWrK6tDYKxPRQCgFAKAUAoCKAUAoBQCgFATQFM9sELNq8OwFiLYsQOZAV254+Nbabsjx6naLgQQv4Min5jNVPEU3GbXQuGEqKcUYG91Nbewa5HOYTXq26AfjtEiNIT4BF3H3kVhGm6lVU/6XGN34czdvVkXi4uWIklqn9jH33Egtbq82x98WFjHG+76tXto1fD4OTg+AqQoYN11FXtZzb62ldEbN8q5mssl66nQsOIWEqtdLJOA5kiRJmi7uR5C7YxyKsTgg+FSNfh9qf6TUXZJu17pL7GiFXmlZ9fqZa34bSRpbm6jQzSu8jj1gu5iwUZ8uQ+FQtTEzilCnJqKyRbMLgKUY3qRTk9d/Y7dro8cUheNQhPI7VAyMcs1zSrTkrSd/M7o0KcHzQST8DXu0FyZEXn13df5O39xq04Cgo0lNbpFL4jiHOpKF8k2X5wIP4F07+awf2a1slqzljojO14ZCgFAKAUAoBQEUAoBQCgFAKAmgKy4zk28T2Ptt3X7WP7qyWh4zD2cTzWs6spIhmkjD7gMbGyuR5YIFcWIwyk29LnfhsW6dtzV+Z2RzJ3axNctIZOSk3LAIF/KGEbn8Ki8RRlSbtm3ZK3/re/1JPAzVStKrLTPXxO9Z6JFJBIFIMJQA7QAI5I+jr8/sryliqkJp27ye+6ezN9bBwqpwi+7JbbNbo6lhpCw6ksTsD3SrKzEjGSikbc+GWHyqZxGL7TCc8f6nZe/wDYgsBh/wDdqMv6c3+eZsLXsbMQrqSOZAINVuUJdC4QqQ6nO9o425xuO3K7uhbovtNbaeGc58u3U5KuPjCm5LXoafx7pM6qJ5U2oG2AlhlifIDw61babSShEpVXO8nrqXxwWuNI08f9NB/ZrWmWrNkdEZqvD0UAoBQCgFAKAigFAKAUAoBQE0BVXaRkcQac69VRSR5qZSrH4Zrx1FGye/1PVG92tjvWtntt7qMnaJbtvS5eq2wnry6A16zxM+rvgO3uZ4ZZ5Zdq49AMgjkAIOGyM45eHmfOtbhG6ubFUmk7GVsbbToVtrfuY42ut4RFjYqxUZb0uYHIDqa8lQpt3aVzOGJrQXdk0cU/B1iJbiWeN3MUabiXf+KVTtGFPpEAEefIVroUezTg81e68L7e9z2rXlOfPo3qahoej2GqavMbQSQwQQQsVVQm6Qu+c7snptrPkhPNHvPUpppmfutLSKynfG54BL3bEnrGCFLDoTyHyrKNNJ2NMqjZoXaprjvIlphQgWOcnnuJIPLyAFdlGPev0OOvLu26l2cIj+CrH+bw/wBmtaJanRHQy1eHooBQCgFAKAUBFAKAUAoBQCgJoCoe16Yx6tZy9AIGBP6/X4V5OmqlOUd9UZ0p9nUUnpo/InjEfStAdvD1mA/K2kfYSDWntL00zcqXLVlHwyOpxfqSw6Bosso3RFoUkXGcqbdjnHsKg/CmJpyqQ7js1mvMxw1SMJ99ZPJllajw2k1xp86N3YtXZ1RVG1g67dp8h41veepoWSsjh0y5a41LUYpYikaxxQqG/wBov1uZBj8U78fCvOZXse8rtzGr8H6jZf5Q1L/JsZRI7ZVZdjLmWN5d3I9eW3n7Kwi4qVkbZqcoc0up39T1FZrOQJjEtgb3kP8AfDl/7VtRoZofaNpcJjSfH1xEaEhj6oQ49HOBSVV080Z0sOqzs+ly5eFhjTLID/h4f7NaS1MI6IyleHooBQCgFAKAUBFAKAUAoBQCgJoCnu2b/Wdlu9UwOrDOMgyAfPnWXLeEup4pWmuhlr5g9tqECAbo4EkA/KJRiu4ePq1oq04Sg779DdSqTjNW+ZoHEGofTtASzEe1ohFcQgDOU7tjt9+0sKjli6lOooVOtm/l+34iXnw+NSiq1L+pZLozc+NeIgYNNDsYpYrq2d1EhXfGyBt/tTpkHp7a7qdZycoPKS9mR1XDckYzXwy90916GxT8S2x1FRLNGgeAKrCYEZLb0bcMbeRPXzrXUm5dycWujT+57Cj3e0hJO2qeT9tzS9OeG0eS4gYmWV5YpgWyrhhhWHLlzb7BUNDF1ItVJap+6eZNf6enGVJLKSUl4MxnZvqUs30yK42judPjtI1Ax6EZfkcn0j7RVlhJSiprQrdSDjLlepreo3xlEkjtuZgSpIwwxgFSPAeXsFcMU51UurJytGNHDcyysj0dw0MadZj/AJEX7C13vUgFoZGvD0mgFAKAUAoBQEUAoBQCgFAKAmgKg7ZEzqumjzCrjz+vT++tkfhZrl8aOGbWja3M+FEplTu1APpFQCV+C7z18KiOeUHJN5fbaxNww9OrCLXx308fzc1K10qWe8+jSMY2ktmaLumOxtnI+lgEkcjgeVcMqtOFLtNbPO+pJ1q1n2M3yq10o6X8XZMzOj6m2o3o3lI54rWVOa4RO6Ef8aTnGDnNbKjqR71rp2WW6zz9jnr16VKnDspXbu3fZux3desQYr5YnjZDAskYFxHhxKyksgY4yiq4yPNa6IOq1DmjZrX0v/Yie3+JXyZgNR0sw75YHVV72RmQuFQohkIfx24ELDl15ZrklLmfLUjnbXxyVvmSuFxypu8fG6elvt+XOEaaEniunIBlXvIgeqRkZ3kflc+S+Z8s1L060aWFjTWu5GTozxGMnVfwq1jDXssYimO7D+iETBJK7ufpdOQ+ea2YShKDU5GPEcZGrF0o7Hprh/8A0C1/QxfsCtz1OJaGQrw9FAKAUBFATQCgIoBQCgFAKAUBNAVJ2ukjWNKYAtgE7R1YrKpAFbIu0Ga2rzRibCKOTUG+kjHfr3DhM+i5HoYYYIB9IZ8+dQXEFXjTckvhzXS30JijVhGL5Hm8n19z64luFtIY4lgijlt5YzYbX3ymGNgZnkPVEZcj27qicBevJzcm1Jd/Kyu9EurRiqcqklBa7GYihF7bvPdLJGvfLEkFmApAuGG4zEc5OWC3QdeVT+HpwhC0fIxdHlmk7PJvPT5GNvuzvvBKkUsWe+ljiSRcGQxrk4Pn1H6tZckr6+BKUsbQjZypbXdvE1oaHcW9r9MWGNNqFz6SkmMnuy8kAI3Jk9eorRKlKSzfd6fs9jOvHCVZ8lrS0TSyv0ZgNzq3fY6AA56cwNvLpz/fXVh1CdRRmaOJReGwyVJZ7v8AN+h176MNEso/GLBvYwx9hzU63duL2KUk42aPU+hj/MrbP+5j/YFRz1JRaHerw9FAKAUAoBQCgIoBQCgFAKAUBNAVf2qADU7GUnGyGYjzzuUDHzrOKbVvFGEpWZhoNM73T7wOPS5Lu3YO6EZBHlzJrCdpuS9DpoKyV9zWNO1iaOSSW5BLvzkDINx9EKBjlgAAcuXnUXDDU6VoxVrEHWx9Xt82WjY3sCWdtOlwYUeVbhtqM3eKE292cDkD+6tsKsFknv0LPTjOq8o811l9bi7l7u175e7SFLWaRZe8RnjuJnJVFHPntOOlZ5ct10+bNyznyO7bkla2qRhOPIjbWd9KdoEkNtp1uOe5gu13IGMYIz0r2UbXfkjPCz7ScIrVNyf2K9hlQ2zxtjcNrFuv+zVdhHsI6jxrj7yqKSJLGQ5ou+hjbyTdp5Yrg98Qccgfq+uKsEZ/q2f/AF+5R5Qsu7/2PUWjjFpbg/7qP9gVzM7EdugFATQCgIoCaAigFAKAUAoBQCgJoCrO1pgNS04H8ZHX5yJW6kjTWNZtb2S4hvIeZXeWAA/FZjnJ6nn9lcOMm6ctcjZJt0e7rp6Gs6zeERFmIY81z1JI5cz1PSuam+d3IX+XlPERpt38f3Lcur1LHRFSMEu0SwxE8wxYYzu9gJOPlXbJKEWoot1Kmu2jGXwpmrJw7HcpHb24VCV7wuC8g5KCDhs9TnpioWjVnOo4uP5mTKx7hOfaJu2WaS3f5uYC+ivHH0IGaWHvEKMwLqp9TMbeCjJ5Dyrqi3KGWdjNToKTq2SZr+t2y21zIuRjJwoJOQAQuc88k86ywzdZLKxxYypGnRUm7yefofeup3djDD4hEdvz37w/cBUxBXm5ei8lYqrdlb19Xc9O6T/osH6KP9kVpOk7VAKAmgIoBQE0BFAKAUAoBQCgFATQFPdusm2609h1CyEe/clbqW5rqK9jUtK09nsLi5jYCXvT3ak4DrtHeLnz9If0ajsXVvio0bXVs30b0OqlBOjLm0Mfpl3ZbGWZ5VlG9TzVgvgxQ459SB41y14V1KySaMsJhMPCXPFWfiZ1DLfwWFso/wA2iEgRi2W3gADvB4Y6D31lXrzhSTlqTmD5adV1H4H3qPfQQFcnBz6fTPLxbyHlXNBxm7olqmJw6vN2v0Nvv+IIdM0W1kbDM0Q7jnydiM5Ps55JqXgnCCSKvWlzVZNvz/sVpoGjS3y3moz9AHMfPIeQHcTnxUdPs8Kjq2PhQxFOitW+95MwkpTpTdtVl6ZmD1u6LoOfNgXPsGAqD5An9arFa0n7EHHRXPVumf6ND+jT9kVxnadmgFAKAUBFATQCgIoBQCgFAKAUBNAU32/H62w/Nl+9K20tzCR98I6aj6VAp9E7WfPUemxY5HiOYqn47GTp42o1pp7KxN0qCVCDt4+5qT6XCtpNfLDgSRSqpZCydcb0weTHbyz4GpXD421Tsm1zGmvSTV9jWRpVzauvfJLED7wCccsHoTW2OJpVl+nJMkMLh4qSctPP7HLFplzcDbGksnPHoqzDPtxyrKpiaVL45JfIw/k0s3ZeqNjk7Pry4te8vpSvcwGO3hGGbCglVOOSjPvNRdTj1LtIwpq+eb2t9zQ6EZStfU3Hh67WTSbPAUDuEQqowAVG1xj3g/OoPFQlDFT87/dHRh6TlFJlN6pCUllRuqsy/AEgfZivpFKoqlOM1ukyq1Kbp1HDo7HrfT/9Hh/Rp+yK5jqOegFATQEUAoCaAUBFAKAUAoBQCgJoCne31SZNOHn3qj3kx1sg1FNvYxa5mkt8j6tpzHZyKgyREyoB57SBVFSU6vNPd3ZdK9C0OWOyOfhyHFrbxNyREQbfFiAPW9mfCuXFz/UlJat69PIj3Re5pXazrZlnt7YdIw0rj+Uxwv8AVB/pVZv4awipQnW65LyWvzIXHvNRMl2OasUNzbE8jicA+4K//pWP8UYVTjCvuu7919zXgX33D1LEupxVPUCep0zRNDzEtxb4IEc8mzy2Od4x8zUxiLTcanVK/msiQw9O1/M0njSLbdOfyhu+Y/wq3cInzYVLpkVbjVNQxTtvmeorH+Ji/MX9kVuOY5qAUBNARQCgJoBQEUAoBQCgFAKAmgKm7a483mk56bpjj83Yf3VqxMuXDza6W9zowcFLE00+t/bMxltJkZ8PD++qjKPLkXf489jn+mbEbPl5kfaOlaey5pKxorwSi2U9qd5311NLknc5Iyc+iOS8/cBV+w1LsqUYdEUevLnm5He4f1Jre7ikQ88hT7Q3LB9mcV5jaMa1CUJGOHbjVjJFvtfFkBbkccxnOD5Z8a+fukk8i70qWWZ0XbJzWyMbHZFWRo3Ha/WxnzUr8sf31auBSXZSj43Kl/Ecf1YS8Gvp+56as/4mP8xfuFdxFnNQCgFAKAUAoBQEUAoBQCgFAKAmgKr7Z4t11pf/AH8+7Edc2Mny0JHbw+HNiImGg9Wqmy7GF4zvu5s2Hi57tcHpkE5+z7akeFUO1xC6LMjOL11Swz6yyMLo+iwvwtqN4yZniuYUjk55VSYwVA6YO41bbvnSKY9DAatGisoi5DYjdSfSI5nPhzrGlNzTcutjqxlCFGUIwd7xTb8X+xZOlX3fWsMn5SAn39D9tU3FUezqyh0ZcsHUVSjGfVHdHSuU6jVONIdyI2OjgZ9jcvvAqe4JUSm4dV9Cu/xDScqcZ20f1PSFr/FJ+av3Cpcrxy0AoBQCgFAKAUBFAKAUAoBQCgJoCtO15Mzaef0//wBdR/EnakSvCVesa9aj0PhVcsWxsrvjTUO9uyg9WMbf1vxv3D4VauEYfs6HO9ZZ+mxUuMYjtMRyLSOXrud3RryT/IF5aIAVlmViMekXVoAoB8P8a66lTlrxT0s2/Q0UsNGWDqVf6lKKXqY/iLQZLMRd4pUuuefQEErjPiTt3e5hWvBY6GK5uR3t/n229Dmq0HStfczfAd1ut3iPVHyPzW5/fmorjNK1RT6r6Fj4HVvSlTez+v8Ac24dKgWThhOI4t0DZ8Cp/rCpDhcuXEx8cvkRvGI82En6P5o9A24+rT80fdVlKcfdAKAmgFARQE0AoCKAUAoBQCgFATQFVduF93D6a56Fpw3uxH++tOIw38xTcVrsdWDxX8vVUnpuahZ64no8+WCTg+OOQ9n+FQ64dUSaazLH/qNOVmnkVzctukdgc5ZjkjBOTnJFWuEbQStsVGbvNtO+ZnNPH8E3P5xPX2w1x1F/uoLwZKUH/wCNrf8A1EjigXIMC3Vx3/1YkT60PsDHBB9vo15gI4e0nRp8mdnla/8AYj6vMmlJ3I4Muu7vQp6SKU+I5r9x+da+LUefDtrWOZIcHrdniVF6Sy/YsYdKpzLgY7U4ww2HoSAfmK6MLJwqqS2Zz4ymp0ZRlo0XxF6q+4fdVtKIfVATQCgFAKAUAoCKAUAoBQCgFATQFOfhFtiLTfz5/wBlK20tTGRpfEelpFYWssecnar5OSSY9wIPUdOnurojqYRldtGk1mZWNr0y1B0mQZ9YSOx8FKlcKT/2x/SFRtapbGQVvD3J7DUFLhVWXMtb28v32MBeGIle6VlGxA24jnIB6bcvAmpCmqiT53fN28tiDdtjgt5SkiOOqsG+RpUgpxcXuewm4SU1tmW1bzBo0deYYBh8RVAqwcJuL1R9ApTVSKktGdO6PpL+cPvFZ4fOa8zHFZU35F8J0Huq3FBJoBQE0BFAKAmgFARQCgFAKAUAoCaArLtt4bkvbe3eJSxiL+ipGSW28ufiQDj21nTdmYyKy1zVmn0+3s+7PewnMngQFTaAYz6QPMHBrpgs7mCVjSq2mxHIrHBGTg9Rk4PvHjXp6TQ8IPKh5qWXwW/f2cGeQX6ljj8kgcvPkV+dVHiGEl/NPo3f3Lfw/FxWDXVK3sc3E0a94sFvuMm9EyCeWS3pE+GMe/lXXS4coNNEbW4s5xalr4fnmXvCMIoPMgAH5VIkIfVATQCgFARQE0AoCKAUAoBQCgFATQHy6AggjIPUGgNb4h4QguQWeFJT/KJRwD12SrzHuPKslJrQ8sV1qvZNa5JRr219jQC6jH60fP5mtqrvcGCk7LBn0NStP+4jxH4gk4rNV10Bx/8AxdJ/x9h/5jWXbroenTl7PSpwbuNz5QwvIfsNeOsuh5c2TQuAZhD3SC7ZSxch9tvHuOATk+n+KvTyrnqOM2m0sjZGrUimouyZv/CXAUdowll2s4O5UQYRW/KJPN29prxyua7G61iekUBNAKAUAoBQCgIoBQCgOG8uBFDJK2cIrOcdcKMnHyoDj0rUY7q3iuIGDxyKHVh5Hz8j7KA7VATQGt65x3YWU4gublEkyAUGWK5/L2g7fjQGwxSBlVlIKkBgQcggjIIPiKA+6A61/OkUMk0vqIrOx25wqjJOPHkKAWwikjSSMIysodWUAgqRkEGgOdVA6AD4UB9UBi9R4itbaVIri4hikcgKjyqrHPTkTyHtoDJigFAKAmgFARQE0AoCKAUAoCre3PiprezaxhkEcksfePy9Joi+woh8CcNk+Q9uQBUGicYano0fcRs0cb5kVJYlZcsB6aFh7uhxnqKXBeHZRxAW0aGbULpGmmklkXvpkD7N5UAAnkMqcD20BvUr74X7phuKnYwIIBI9E/PFAecuIuAlseH5b7Ui4v5Z9sa94G6uc7sZ3EqHYn3UBbXYldSS8OWhlz6JkiQnxjSRgvy5r+rQG90BWHbhxW1tYSWcDIJZEBly3piGRinoL4kkMM+Az40BVPC3adf6Vb/RAqugyUWdG3Ju/JOR6OcnFAXv2YatcXWjQXN84aWQu4O1E+r3kJ6KgDoKA2a/L9xKYsd5sbZnpu2nb9uKA8z8R8EvDobatqMsgvJpwFifqQSc78892AzewAUBd/ZHqT3PD9lJLksqtFubqwjYqrZ8eQHP2UBuNAVJ258bG0S3tLYsLgSpc94PVj7vmFz0YnIyvl160B8Wvbxa/Qg8kM30gKAYgF2M3iVkzyX3jPsNAWrpt131vDNtK70STaTkruUHBPxoDB9onEbaZpFxeRqHddqID6oZ2Chm9gzn29KAo+74g1nTbiw1K+nkZZ/rO6Mgw0YKlkaEYVCQwIwOWfCgPSFtMJI0kXmrKHB9jDI++gOSgFAKApH8JPSV22N6M7stbMPArzdfkd/zoCkJrl3Ch2Zto2ruYnaPIZ6CgOKgMpoPENzYzLLazPGwOcBjtb2MnRh76A2/iHie54mvNPs1jWNh6GFYld7Y3ynPRQq5xz6HrQHpLRNMS0tILWIYSJFjX24HU+0nJ+NAd6gKG/CR0fE9nfA+shtmX8wl1I/pt9lAU/f6jLOUMzs5RRGpY5woJOPmT868SsD4+myej9Y/ojC+m3ogdAvPkK9BsXDnaDf2MyyR3EkigjdFK7SRsPIhjy94xQGwcZ8VycS32nWltE0f4uwsCO9fHeOcfiKq9Tzxu86A9F6DpSWdnBaxepEixj24HMn2k5PxoDv0B5Z7UZJbfiK4W5XvIxMbiONzlGjkwcA9QCBj3ivLA0u6nVpzJHGI1yCse4sBjHLJ5n/GvQb5F206mr5DQ7fCP6OuwDyGDux8aA3Hhjtkhvc2esQRLHJhe8C7oSc5xLG2do5Dnk/voDXOOro6/wAUw2ds26FCtujLzUKPSmlHh58/HatAejLeERxpGvJVUIB5BRgUB90AoBQFf9uGjPdaFIYlLvC6z4HXaMhyB48jn4UB5doBQCgN97D1c8R22zwWUt+bsOftxQHqagFAVh+EFpbTaIkqKWMEyyNgZwjKysx9gJWgPNdAKAUBYXYRn/8Ao4NoyO7m3H8kbDz+eB8aA9Q0AoDzp+EbaFdXtpvB7cL8Ud8/tCgKnoBQCgLr/BqhjM2oSEZlVIlDY6IxbIB8MlR8qAvigIoBQCgBFAeVO2PQEsdcmSIbY5VW4RQMBd+dwHs3BvnQGvcN8Oz6jO0FogeQRtLtLBchcZAJ5Z5igOhfWckEzwzI0ciHayOCGB9oNAXd+Djw/hLrUXHrf5tFy8BhpG+e0fA0Bd1AKA+Jog6MjgMrAqykZBB5EEeIoDyR2m8PLp2s3NtGMR5EsQ8kkGQvwOR8KAwmkaPPeSNHbRNK6oZSqDJ2LgE48eo6edAdORCrFWBBBIIIwQRyIIPQ0BeP4OPD+Bdai464tojj3NIR/UHwNAXhQEUBqPaXwUmrWBTpPGGeB/Jseo38lsDPwPhQHk2RCrFWBBBKkHqCORBoD5oBQHo38HnQzBpUt24wbiT0P0Ufog/Fi/wAoC1qAigFAKAUB567TJU1bihbaIZW3hkjlbnjMIklkBPgAfRz50B9fg/WzRnU9QEbSd1BsREGXkc5con8rCAfrCgMdxTw7qerTXepzWUyHMcMMAU7gMeHIEqoBJYjmXHwAu7s00VrHRLO2kXbIELyL4h3YsQfaM4+FAbPQCgFAedO1YpqnFHcQekIbZo5WXpugE0r8/ZkL7xigOx2AJ3CapqTqzJDCFwgy5PN2VR4nCj50BrXF9pc6pcXmrC0ljjMiQxoITuY45FgBknAyT5kDNAegOzPSjaaFYwumx+7DupGCGcljuHnzoDaKAUAoDyFxxZA6tqrw4MUdw5JHTLyYwPju+RoCyOynRbE8M3dxqixiJ52G+TCkBEUDu36hslsY55oCnbi0y+6JW7t5WSEN67DPIe081Bx4mgPZejactraQW0fqxRpEP1QBn49aA7lARQCgFAKAwPEPCsN1a3cUYS3luI2ie4jhTvSGxuDHALAgYIz0NAdTs84MXR7N7dZTMXkMrOUCcyqqAFBOBhR40BtVAKAUAoBQGo8QcDQyW96bJIra6uUZGuNhJIkcNKDg8t2DzHnmgI7MeDTpFg9u8iyO8rSsyqQOaqoAzz6L9poDbqAUBNARQHBf25lgliV2jLo6CRfWQspAdfaM5HuoCkOLuzaXTtIktrFJb2S5njaWRYuaJECyjaCerE86AsHhzgmF+HrCwvoQ3dqszRliNszbyxyp6/WOPjQGVXgmwBtiLWL/NxiHkfQ9LdnGeZzzycnNAbDQCgIoBQCgFAKAUBNAKAUAoBQCgFAKAUAoCKAUBNAKAUAoBQH/9k=">
            <a:extLst>
              <a:ext uri="{FF2B5EF4-FFF2-40B4-BE49-F238E27FC236}">
                <a16:creationId xmlns:a16="http://schemas.microsoft.com/office/drawing/2014/main" id="{74EB8BFA-4DDE-93D9-8364-8A9523A07363}"/>
              </a:ext>
            </a:extLst>
          </p:cNvPr>
          <p:cNvSpPr>
            <a:spLocks noChangeAspect="1" noChangeArrowheads="1"/>
          </p:cNvSpPr>
          <p:nvPr/>
        </p:nvSpPr>
        <p:spPr bwMode="auto">
          <a:xfrm>
            <a:off x="1670843" y="662749"/>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0" name="AutoShape 4" descr="data:image/jpeg;base64,/9j/4AAQSkZJRgABAQAAAQABAAD/2wCEAAkGBxQQDA8PEBQUFBQWFBQQFBQUEBQVFRYVFRQWGBYVFRQYHCggGBolHxYUJDEiJiwsLjEwFyAzODMtNygtLisBCgoKDg0OGxAQGywlICU0NywyNC8sLCwvNCw2MiwyNDQsLCwsLCwsLCwsNC8vLCw0LCwsLCwvLCwsLCwsLCwsLP/AABEIARQAtgMBEQACEQEDEQH/xAAcAAEAAgIDAQAAAAAAAAAAAAAAAQcFBgMECAL/xABNEAACAQMCAwQGBAgJDAMBAAABAgMABBEFEgYhMQcTQVEiMmFxgZEUI6GxCEJScnOCssElM2J0kqKz0eEVJDQ1Q1NUY2SDk8IXw/EW/8QAGwEBAAIDAQEAAAAAAAAAAAAAAAUGAgMEAQf/xAA4EQACAQIEAwYFAgUEAwAAAAAAAQIDEQQhMUEFElETImFxgZEyobHB8CPRBhRC4fEVJDNSJWJy/9oADAMBAAIRAxEAPwC8aAUAoBQCgFAKAUAzQHw0qjqwHxFAQsynowPuYUBJAPj9teWACgD+816D4E6dNy/0hQHIGB6H5GgI7v2n5mgPugFAKAUAoBQCgFARQE0AoBQCgFAatxNxR9GcxjaCACWY56+SivNTw0TUuPk3EPO3nhfuwvP7KzUG9EDX5O0KHPqyN8/31n2UhcymndrlvCm0WszHxO9APhzrLsX1FztjtvQdLOT/AMyD91e9g+p6G7dYypU2cgyMZEqH7OVY9iwax/8AI6O5Zo2XJzyH9xp2TFjK2HH6ZHdysp8jn7j+6sHCSPC4OFdTN1ZRzEgk8iR7KwPTL0AoBQCgFAKAUAoBQEUAoCaAUAoCm+0HSlfWZVYsQ0ccmNxAycjljr6oqMx2MqUJJQJrhmCpV4N1F9jROKdEWAIyZ2sDnJzgj/8Aa7eF4uWIjJT1Rp4phIUJRcNGatIQOQqVIg+Ur09RyNWTsenA1YglFr1I8bOUrypJWMU7npzssiC8P2GB60QY+0knJrgn8TM1obXWJ6KAUAoBQCgFARQCgFAKAUAoCaArLjaHdrB/QR5/pPUDxRtVo26Fk4PbsJX6/sarxtb7tObaMlCG+HQ/YfsrZwqsoV0tnke8TpOdBy3WZVbKSQB1JAHvJwKs05qMXJ6IrCi27I3Phrgd7pcopkGdrSFjHECfAOSMnwwMn2VD9viq0uaHdXj/AIO5wo01aWb8DZpeySSC3llnmtwgJdi5kO1MDCllUZwc88ePTlW6pGrUalz2aWy366mmM4RuuW/qaXxnwVcadsldMwv0lRt8YJ9Ubuoz7QPea6sPOp8NRp+PXzNdTl1ic3B+lK8RlcA+kcZx0HL791RnFcbOnPs4PYnOEYOFSn2k1v8An3MrqujxFfUUHzAxUZR4jiIu3M2iWrcNw01dwVy6uz6LZotgg6CFQPcM4qfhNzipPcqFeChUlFbM2GszUKAUAoBQCgFAKAigFAKAUAoCaArPjN/4aZf+niPzaQfuqE4tDvQl5lg4LPuTj4ox1zGHjZD0IIPxqNjJxaa2JdxUk09yvOGeHkuNUdbhu7t4CJJ26cjIEjjB8C7EDPgATVv7RTpK+5TasHCo0ti3OLbu0trCLT0+sMLJKoE+xYRG25GmlUEgeAXBZvtrmrV4UUk9dktRTpSqtvbd7GH1TtKcWssF1BGTMoSLdFII2DEBhJFL1G3J6jOMEDrWqni+eMmlmvG/0Nk8PyNXevhb6nWj4nmvJLWynMTW8ziB407o7o3Up+Ix5LkEchgqOdaqGLqTqcsl8mvqbauGhGDkn80/oYXQYlhhEGecbNEx82R2Un5g1GY9TlXlJll4dyrDQS6HPqnqVxU/iJB/CW5wQP4Isv0K/dVsof8AHHyKJi/+efmzOVtOcUAoBQCgFAKAigFATQEUAoBQE0BWPGkv8O7MdbVGz7ncYqJ4rTfLGd8r2sTXBp9+cfA6bVDMn0YmDSmlstajgBabvLW5CL6zInMqPPJWTHtqfwbdXC8voVviSVHF83WzNasdVRdq+iGU5USmNVjb8oQJ6z++uCWHnezT9L3fq9jYqsbXv72t7I3jhDg76dIZ7mJxbhHCvICs00rjHeg8iqqM7Ty54wMDnI4XDyim575W2SOHEVlJpQ997nan0iz0hfpwna7mJdbSNmiO6XBXl3ajdt55Y5wAfGtyp0aCc7WsYxlWxElTWbZqel2Doil2yxGXx0ZiSzE+3JqAxGJVSTaRb8NhZUoKLeiscmrv9UzeQJ+ytFGN6iXU6K0+Wk5dC2+z+Qtomnsept4ifioq3cih3VsUGU3OTk9WbBQxFAKAUAoBQCgIoBQCgFAKAUBNAVPx8+3iOH+Va7f6z1ycQhzYZ+DTJHhc+XEpdU0fJqtstCNb1jVZ9PnTULXBZfqpUbmkkTH1W9zYII5jPvBk+E1P1HTe+a8/8EbxuipUY1VqsvR/3O1qPakt7bNHb2ssFyTGxnjEb7FEi72L43KpGRnHjU3VfJHNpdPMrlCKlUimsrq/lc6Nxxjf3X8HRSS3Oc7ggjWQqOqmVQPR8+nlk9K5J1ZxoupUkorqS9aOAoYlRjGU0tVfL93452OvY8PvE9qVhJuTLdoyNMAscSbMDOSiKC3UeLVFVsSqkGnLuWjtq7v12MaeJhTxUq0Y63svzIykM8m9VlhaLdvCbnQk92218qpyBkHB6HFcU6cUrxlfTrvmvl7E5heIRrzcEmjGcYXQjtSo9ZvQ+fU13cMw8qldN6LM0cXxUaeHklrLIujs8GNC03+aw/sDNWKWrKgjYaxPRQCgFAKAUAoCKAUAoBQCgFATQFNdqrbdftW/5Kf2jf317OPNRmvBmyhLlrRfijt+A91U9l1RhptNF65gkmaFJHe2jCRhmklSLvGLk8kQDHtJrZGrLD/qQjdpczu9Fe2XVv2IniOKlJugslo/ExnC3Dktvayxzyj642bvbJtIKS3CoplbGcMN3ojA5c81IYrGQr1ouMfh5ld9VFt28siEjTcVmblcW4kjItoRG+2WBRGuPq0vkR8EeYUnHtqLo3g06s7ruSd+ri7fZGx22XVHVupAVmx3TOz3scaSTrFvkFyjhM5z6sZJ93tr2KaUddIu6V7Kzz92ZWMGiuZYJbgxNM4uvShkDoY+/wC8QoRz25lZefP0a6KjjGLULpLl1Wd7W98rknwnOpJP8zMPx3GEgQeJYfDlk1IcIc5VXfSw41yKgra3Ly7P/wDUem/zWD+zWpiWrK6tDYKxPRQCgFAKAUAoCKAUAoBQCgFATQFM9sELNq8OwFiLYsQOZAV254+Nbabsjx6naLgQQv4Min5jNVPEU3GbXQuGEqKcUYG91Nbewa5HOYTXq26AfjtEiNIT4BF3H3kVhGm6lVU/6XGN34czdvVkXi4uWIklqn9jH33Egtbq82x98WFjHG+76tXto1fD4OTg+AqQoYN11FXtZzb62ldEbN8q5mssl66nQsOIWEqtdLJOA5kiRJmi7uR5C7YxyKsTgg+FSNfh9qf6TUXZJu17pL7GiFXmlZ9fqZa34bSRpbm6jQzSu8jj1gu5iwUZ8uQ+FQtTEzilCnJqKyRbMLgKUY3qRTk9d/Y7dro8cUheNQhPI7VAyMcs1zSrTkrSd/M7o0KcHzQST8DXu0FyZEXn13df5O39xq04Cgo0lNbpFL4jiHOpKF8k2X5wIP4F07+awf2a1slqzljojO14ZCgFAKAUAoBQEUAoBQCgFAKAmgKy4zk28T2Ptt3X7WP7qyWh4zD2cTzWs6spIhmkjD7gMbGyuR5YIFcWIwyk29LnfhsW6dtzV+Z2RzJ3axNctIZOSk3LAIF/KGEbn8Ki8RRlSbtm3ZK3/re/1JPAzVStKrLTPXxO9Z6JFJBIFIMJQA7QAI5I+jr8/sryliqkJp27ye+6ezN9bBwqpwi+7JbbNbo6lhpCw6ksTsD3SrKzEjGSikbc+GWHyqZxGL7TCc8f6nZe/wDYgsBh/wDdqMv6c3+eZsLXsbMQrqSOZAINVuUJdC4QqQ6nO9o425xuO3K7uhbovtNbaeGc58u3U5KuPjCm5LXoafx7pM6qJ5U2oG2AlhlifIDw61babSShEpVXO8nrqXxwWuNI08f9NB/ZrWmWrNkdEZqvD0UAoBQCgFAKAigFAKAUAoBQE0BVXaRkcQac69VRSR5qZSrH4Zrx1FGye/1PVG92tjvWtntt7qMnaJbtvS5eq2wnry6A16zxM+rvgO3uZ4ZZ5Zdq49AMgjkAIOGyM45eHmfOtbhG6ubFUmk7GVsbbToVtrfuY42ut4RFjYqxUZb0uYHIDqa8lQpt3aVzOGJrQXdk0cU/B1iJbiWeN3MUabiXf+KVTtGFPpEAEefIVroUezTg81e68L7e9z2rXlOfPo3qahoej2GqavMbQSQwQQQsVVQm6Qu+c7snptrPkhPNHvPUpppmfutLSKynfG54BL3bEnrGCFLDoTyHyrKNNJ2NMqjZoXaprjvIlphQgWOcnnuJIPLyAFdlGPev0OOvLu26l2cIj+CrH+bw/wBmtaJanRHQy1eHooBQCgFAKAUBFAKAUAoBQCgJoCoe16Yx6tZy9AIGBP6/X4V5OmqlOUd9UZ0p9nUUnpo/InjEfStAdvD1mA/K2kfYSDWntL00zcqXLVlHwyOpxfqSw6Bosso3RFoUkXGcqbdjnHsKg/CmJpyqQ7js1mvMxw1SMJ99ZPJllajw2k1xp86N3YtXZ1RVG1g67dp8h41veepoWSsjh0y5a41LUYpYikaxxQqG/wBov1uZBj8U78fCvOZXse8rtzGr8H6jZf5Q1L/JsZRI7ZVZdjLmWN5d3I9eW3n7Kwi4qVkbZqcoc0up39T1FZrOQJjEtgb3kP8AfDl/7VtRoZofaNpcJjSfH1xEaEhj6oQ49HOBSVV080Z0sOqzs+ly5eFhjTLID/h4f7NaS1MI6IyleHooBQCgFAKAUBFAKAUAoBQCgJoCnu2b/Wdlu9UwOrDOMgyAfPnWXLeEup4pWmuhlr5g9tqECAbo4EkA/KJRiu4ePq1oq04Sg779DdSqTjNW+ZoHEGofTtASzEe1ohFcQgDOU7tjt9+0sKjli6lOooVOtm/l+34iXnw+NSiq1L+pZLozc+NeIgYNNDsYpYrq2d1EhXfGyBt/tTpkHp7a7qdZycoPKS9mR1XDckYzXwy90916GxT8S2x1FRLNGgeAKrCYEZLb0bcMbeRPXzrXUm5dycWujT+57Cj3e0hJO2qeT9tzS9OeG0eS4gYmWV5YpgWyrhhhWHLlzb7BUNDF1ItVJap+6eZNf6enGVJLKSUl4MxnZvqUs30yK42judPjtI1Ax6EZfkcn0j7RVlhJSiprQrdSDjLlepreo3xlEkjtuZgSpIwwxgFSPAeXsFcMU51UurJytGNHDcyysj0dw0MadZj/AJEX7C13vUgFoZGvD0mgFAKAUAoBQEUAoBQCgFAKAmgKg7ZEzqumjzCrjz+vT++tkfhZrl8aOGbWja3M+FEplTu1APpFQCV+C7z18KiOeUHJN5fbaxNww9OrCLXx308fzc1K10qWe8+jSMY2ktmaLumOxtnI+lgEkcjgeVcMqtOFLtNbPO+pJ1q1n2M3yq10o6X8XZMzOj6m2o3o3lI54rWVOa4RO6Ef8aTnGDnNbKjqR71rp2WW6zz9jnr16VKnDspXbu3fZux3desQYr5YnjZDAskYFxHhxKyksgY4yiq4yPNa6IOq1DmjZrX0v/Yie3+JXyZgNR0sw75YHVV72RmQuFQohkIfx24ELDl15ZrklLmfLUjnbXxyVvmSuFxypu8fG6elvt+XOEaaEniunIBlXvIgeqRkZ3kflc+S+Z8s1L060aWFjTWu5GTozxGMnVfwq1jDXssYimO7D+iETBJK7ufpdOQ+ea2YShKDU5GPEcZGrF0o7Hprh/8A0C1/QxfsCtz1OJaGQrw9FAKAUBFATQCgIoBQCgFAKAUBNAVJ2ukjWNKYAtgE7R1YrKpAFbIu0Ga2rzRibCKOTUG+kjHfr3DhM+i5HoYYYIB9IZ8+dQXEFXjTckvhzXS30JijVhGL5Hm8n19z64luFtIY4lgijlt5YzYbX3ymGNgZnkPVEZcj27qicBevJzcm1Jd/Kyu9EurRiqcqklBa7GYihF7bvPdLJGvfLEkFmApAuGG4zEc5OWC3QdeVT+HpwhC0fIxdHlmk7PJvPT5GNvuzvvBKkUsWe+ljiSRcGQxrk4Pn1H6tZckr6+BKUsbQjZypbXdvE1oaHcW9r9MWGNNqFz6SkmMnuy8kAI3Jk9eorRKlKSzfd6fs9jOvHCVZ8lrS0TSyv0ZgNzq3fY6AA56cwNvLpz/fXVh1CdRRmaOJReGwyVJZ7v8AN+h176MNEso/GLBvYwx9hzU63duL2KUk42aPU+hj/MrbP+5j/YFRz1JRaHerw9FAKAUAoBQCgIoBQCgFAKAUBNAVf2qADU7GUnGyGYjzzuUDHzrOKbVvFGEpWZhoNM73T7wOPS5Lu3YO6EZBHlzJrCdpuS9DpoKyV9zWNO1iaOSSW5BLvzkDINx9EKBjlgAAcuXnUXDDU6VoxVrEHWx9Xt82WjY3sCWdtOlwYUeVbhtqM3eKE292cDkD+6tsKsFknv0LPTjOq8o811l9bi7l7u175e7SFLWaRZe8RnjuJnJVFHPntOOlZ5ct10+bNyznyO7bkla2qRhOPIjbWd9KdoEkNtp1uOe5gu13IGMYIz0r2UbXfkjPCz7ScIrVNyf2K9hlQ2zxtjcNrFuv+zVdhHsI6jxrj7yqKSJLGQ5ou+hjbyTdp5Yrg98Qccgfq+uKsEZ/q2f/AF+5R5Qsu7/2PUWjjFpbg/7qP9gVzM7EdugFATQCgIoCaAigFAKAUAoBQCgJoCrO1pgNS04H8ZHX5yJW6kjTWNZtb2S4hvIeZXeWAA/FZjnJ6nn9lcOMm6ctcjZJt0e7rp6Gs6zeERFmIY81z1JI5cz1PSuam+d3IX+XlPERpt38f3Lcur1LHRFSMEu0SwxE8wxYYzu9gJOPlXbJKEWoot1Kmu2jGXwpmrJw7HcpHb24VCV7wuC8g5KCDhs9TnpioWjVnOo4uP5mTKx7hOfaJu2WaS3f5uYC+ivHH0IGaWHvEKMwLqp9TMbeCjJ5Dyrqi3KGWdjNToKTq2SZr+t2y21zIuRjJwoJOQAQuc88k86ywzdZLKxxYypGnRUm7yefofeup3djDD4hEdvz37w/cBUxBXm5ei8lYqrdlb19Xc9O6T/osH6KP9kVpOk7VAKAmgIoBQE0BFAKAUAoBQCgFATQFPdusm2609h1CyEe/clbqW5rqK9jUtK09nsLi5jYCXvT3ak4DrtHeLnz9If0ajsXVvio0bXVs30b0OqlBOjLm0Mfpl3ZbGWZ5VlG9TzVgvgxQ459SB41y14V1KySaMsJhMPCXPFWfiZ1DLfwWFso/wA2iEgRi2W3gADvB4Y6D31lXrzhSTlqTmD5adV1H4H3qPfQQFcnBz6fTPLxbyHlXNBxm7olqmJw6vN2v0Nvv+IIdM0W1kbDM0Q7jnydiM5Ps55JqXgnCCSKvWlzVZNvz/sVpoGjS3y3moz9AHMfPIeQHcTnxUdPs8Kjq2PhQxFOitW+95MwkpTpTdtVl6ZmD1u6LoOfNgXPsGAqD5An9arFa0n7EHHRXPVumf6ND+jT9kVxnadmgFAKAUBFATQCgIoBQCgFAKAUBNAU32/H62w/Nl+9K20tzCR98I6aj6VAp9E7WfPUemxY5HiOYqn47GTp42o1pp7KxN0qCVCDt4+5qT6XCtpNfLDgSRSqpZCydcb0weTHbyz4GpXD421Tsm1zGmvSTV9jWRpVzauvfJLED7wCccsHoTW2OJpVl+nJMkMLh4qSctPP7HLFplzcDbGksnPHoqzDPtxyrKpiaVL45JfIw/k0s3ZeqNjk7Pry4te8vpSvcwGO3hGGbCglVOOSjPvNRdTj1LtIwpq+eb2t9zQ6EZStfU3Hh67WTSbPAUDuEQqowAVG1xj3g/OoPFQlDFT87/dHRh6TlFJlN6pCUllRuqsy/AEgfZivpFKoqlOM1ukyq1Kbp1HDo7HrfT/9Hh/Rp+yK5jqOegFATQEUAoCaAUBFAKAUAoBQCgJoCne31SZNOHn3qj3kx1sg1FNvYxa5mkt8j6tpzHZyKgyREyoB57SBVFSU6vNPd3ZdK9C0OWOyOfhyHFrbxNyREQbfFiAPW9mfCuXFz/UlJat69PIj3Re5pXazrZlnt7YdIw0rj+Uxwv8AVB/pVZv4awipQnW65LyWvzIXHvNRMl2OasUNzbE8jicA+4K//pWP8UYVTjCvuu7919zXgX33D1LEupxVPUCep0zRNDzEtxb4IEc8mzy2Od4x8zUxiLTcanVK/msiQw9O1/M0njSLbdOfyhu+Y/wq3cInzYVLpkVbjVNQxTtvmeorH+Ji/MX9kVuOY5qAUBNARQCgJoBQEUAoBQCgFAKAmgKm7a483mk56bpjj83Yf3VqxMuXDza6W9zowcFLE00+t/bMxltJkZ8PD++qjKPLkXf489jn+mbEbPl5kfaOlaey5pKxorwSi2U9qd5311NLknc5Iyc+iOS8/cBV+w1LsqUYdEUevLnm5He4f1Jre7ikQ88hT7Q3LB9mcV5jaMa1CUJGOHbjVjJFvtfFkBbkccxnOD5Z8a+fukk8i70qWWZ0XbJzWyMbHZFWRo3Ha/WxnzUr8sf31auBSXZSj43Kl/Ecf1YS8Gvp+56as/4mP8xfuFdxFnNQCgFAKAUAoBQEUAoBQCgFAKAmgKr7Z4t11pf/AH8+7Edc2Mny0JHbw+HNiImGg9Wqmy7GF4zvu5s2Hi57tcHpkE5+z7akeFUO1xC6LMjOL11Swz6yyMLo+iwvwtqN4yZniuYUjk55VSYwVA6YO41bbvnSKY9DAatGisoi5DYjdSfSI5nPhzrGlNzTcutjqxlCFGUIwd7xTb8X+xZOlX3fWsMn5SAn39D9tU3FUezqyh0ZcsHUVSjGfVHdHSuU6jVONIdyI2OjgZ9jcvvAqe4JUSm4dV9Cu/xDScqcZ20f1PSFr/FJ+av3Cpcrxy0AoBQCgFAKAUBFAKAUAoBQCgJoCtO15Mzaef0//wBdR/EnakSvCVesa9aj0PhVcsWxsrvjTUO9uyg9WMbf1vxv3D4VauEYfs6HO9ZZ+mxUuMYjtMRyLSOXrud3RryT/IF5aIAVlmViMekXVoAoB8P8a66lTlrxT0s2/Q0UsNGWDqVf6lKKXqY/iLQZLMRd4pUuuefQEErjPiTt3e5hWvBY6GK5uR3t/n229Dmq0HStfczfAd1ut3iPVHyPzW5/fmorjNK1RT6r6Fj4HVvSlTez+v8Ac24dKgWThhOI4t0DZ8Cp/rCpDhcuXEx8cvkRvGI82En6P5o9A24+rT80fdVlKcfdAKAmgFARQE0AoCKAUAoBQCgFATQFVduF93D6a56Fpw3uxH++tOIw38xTcVrsdWDxX8vVUnpuahZ64no8+WCTg+OOQ9n+FQ64dUSaazLH/qNOVmnkVzctukdgc5ZjkjBOTnJFWuEbQStsVGbvNtO+ZnNPH8E3P5xPX2w1x1F/uoLwZKUH/wCNrf8A1EjigXIMC3Vx3/1YkT60PsDHBB9vo15gI4e0nRp8mdnla/8AYj6vMmlJ3I4Muu7vQp6SKU+I5r9x+da+LUefDtrWOZIcHrdniVF6Sy/YsYdKpzLgY7U4ww2HoSAfmK6MLJwqqS2Zz4ymp0ZRlo0XxF6q+4fdVtKIfVATQCgFAKAUAoCKAUAoBQCgFATQFOfhFtiLTfz5/wBlK20tTGRpfEelpFYWssecnar5OSSY9wIPUdOnurojqYRldtGk1mZWNr0y1B0mQZ9YSOx8FKlcKT/2x/SFRtapbGQVvD3J7DUFLhVWXMtb28v32MBeGIle6VlGxA24jnIB6bcvAmpCmqiT53fN28tiDdtjgt5SkiOOqsG+RpUgpxcXuewm4SU1tmW1bzBo0deYYBh8RVAqwcJuL1R9ApTVSKktGdO6PpL+cPvFZ4fOa8zHFZU35F8J0Huq3FBJoBQE0BFAKAmgFARQCgFAKAUAoCaArLtt4bkvbe3eJSxiL+ipGSW28ufiQDj21nTdmYyKy1zVmn0+3s+7PewnMngQFTaAYz6QPMHBrpgs7mCVjSq2mxHIrHBGTg9Rk4PvHjXp6TQ8IPKh5qWXwW/f2cGeQX6ljj8kgcvPkV+dVHiGEl/NPo3f3Lfw/FxWDXVK3sc3E0a94sFvuMm9EyCeWS3pE+GMe/lXXS4coNNEbW4s5xalr4fnmXvCMIoPMgAH5VIkIfVATQCgFARQE0AoCKAUAoBQCgFATQHy6AggjIPUGgNb4h4QguQWeFJT/KJRwD12SrzHuPKslJrQ8sV1qvZNa5JRr219jQC6jH60fP5mtqrvcGCk7LBn0NStP+4jxH4gk4rNV10Bx/8AxdJ/x9h/5jWXbroenTl7PSpwbuNz5QwvIfsNeOsuh5c2TQuAZhD3SC7ZSxch9tvHuOATk+n+KvTyrnqOM2m0sjZGrUimouyZv/CXAUdowll2s4O5UQYRW/KJPN29prxyua7G61iekUBNAKAUAoBQCgIoBQCgOG8uBFDJK2cIrOcdcKMnHyoDj0rUY7q3iuIGDxyKHVh5Hz8j7KA7VATQGt65x3YWU4gublEkyAUGWK5/L2g7fjQGwxSBlVlIKkBgQcggjIIPiKA+6A61/OkUMk0vqIrOx25wqjJOPHkKAWwikjSSMIysodWUAgqRkEGgOdVA6AD4UB9UBi9R4itbaVIri4hikcgKjyqrHPTkTyHtoDJigFAKAmgFARQE0AoCKAUAoCre3PiprezaxhkEcksfePy9Joi+woh8CcNk+Q9uQBUGicYano0fcRs0cb5kVJYlZcsB6aFh7uhxnqKXBeHZRxAW0aGbULpGmmklkXvpkD7N5UAAnkMqcD20BvUr74X7phuKnYwIIBI9E/PFAecuIuAlseH5b7Ui4v5Z9sa94G6uc7sZ3EqHYn3UBbXYldSS8OWhlz6JkiQnxjSRgvy5r+rQG90BWHbhxW1tYSWcDIJZEBly3piGRinoL4kkMM+Az40BVPC3adf6Vb/RAqugyUWdG3Ju/JOR6OcnFAXv2YatcXWjQXN84aWQu4O1E+r3kJ6KgDoKA2a/L9xKYsd5sbZnpu2nb9uKA8z8R8EvDobatqMsgvJpwFifqQSc78892AzewAUBd/ZHqT3PD9lJLksqtFubqwjYqrZ8eQHP2UBuNAVJ258bG0S3tLYsLgSpc94PVj7vmFz0YnIyvl160B8Wvbxa/Qg8kM30gKAYgF2M3iVkzyX3jPsNAWrpt131vDNtK70STaTkruUHBPxoDB9onEbaZpFxeRqHddqID6oZ2Chm9gzn29KAo+74g1nTbiw1K+nkZZ/rO6Mgw0YKlkaEYVCQwIwOWfCgPSFtMJI0kXmrKHB9jDI++gOSgFAKApH8JPSV22N6M7stbMPArzdfkd/zoCkJrl3Ch2Zto2ruYnaPIZ6CgOKgMpoPENzYzLLazPGwOcBjtb2MnRh76A2/iHie54mvNPs1jWNh6GFYld7Y3ynPRQq5xz6HrQHpLRNMS0tILWIYSJFjX24HU+0nJ+NAd6gKG/CR0fE9nfA+shtmX8wl1I/pt9lAU/f6jLOUMzs5RRGpY5woJOPmT868SsD4+myej9Y/ojC+m3ogdAvPkK9BsXDnaDf2MyyR3EkigjdFK7SRsPIhjy94xQGwcZ8VycS32nWltE0f4uwsCO9fHeOcfiKq9Tzxu86A9F6DpSWdnBaxepEixj24HMn2k5PxoDv0B5Z7UZJbfiK4W5XvIxMbiONzlGjkwcA9QCBj3ivLA0u6nVpzJHGI1yCse4sBjHLJ5n/GvQb5F206mr5DQ7fCP6OuwDyGDux8aA3Hhjtkhvc2esQRLHJhe8C7oSc5xLG2do5Dnk/voDXOOro6/wAUw2ds26FCtujLzUKPSmlHh58/HatAejLeERxpGvJVUIB5BRgUB90AoBQFf9uGjPdaFIYlLvC6z4HXaMhyB48jn4UB5doBQCgN97D1c8R22zwWUt+bsOftxQHqagFAVh+EFpbTaIkqKWMEyyNgZwjKysx9gJWgPNdAKAUBYXYRn/8Ao4NoyO7m3H8kbDz+eB8aA9Q0AoDzp+EbaFdXtpvB7cL8Ud8/tCgKnoBQCgLr/BqhjM2oSEZlVIlDY6IxbIB8MlR8qAvigIoBQCgBFAeVO2PQEsdcmSIbY5VW4RQMBd+dwHs3BvnQGvcN8Oz6jO0FogeQRtLtLBchcZAJ5Z5igOhfWckEzwzI0ciHayOCGB9oNAXd+Djw/hLrUXHrf5tFy8BhpG+e0fA0Bd1AKA+Jog6MjgMrAqykZBB5EEeIoDyR2m8PLp2s3NtGMR5EsQ8kkGQvwOR8KAwmkaPPeSNHbRNK6oZSqDJ2LgE48eo6edAdORCrFWBBBIIIwQRyIIPQ0BeP4OPD+Bdai464tojj3NIR/UHwNAXhQEUBqPaXwUmrWBTpPGGeB/Jseo38lsDPwPhQHk2RCrFWBBBKkHqCORBoD5oBQHo38HnQzBpUt24wbiT0P0Ufog/Fi/wAoC1qAigFAKAUB567TJU1bihbaIZW3hkjlbnjMIklkBPgAfRz50B9fg/WzRnU9QEbSd1BsREGXkc5con8rCAfrCgMdxTw7qerTXepzWUyHMcMMAU7gMeHIEqoBJYjmXHwAu7s00VrHRLO2kXbIELyL4h3YsQfaM4+FAbPQCgFAedO1YpqnFHcQekIbZo5WXpugE0r8/ZkL7xigOx2AJ3CapqTqzJDCFwgy5PN2VR4nCj50BrXF9pc6pcXmrC0ljjMiQxoITuY45FgBknAyT5kDNAegOzPSjaaFYwumx+7DupGCGcljuHnzoDaKAUAoDyFxxZA6tqrw4MUdw5JHTLyYwPju+RoCyOynRbE8M3dxqixiJ52G+TCkBEUDu36hslsY55oCnbi0y+6JW7t5WSEN67DPIe081Bx4mgPZejactraQW0fqxRpEP1QBn49aA7lARQCgFAKAwPEPCsN1a3cUYS3luI2ie4jhTvSGxuDHALAgYIz0NAdTs84MXR7N7dZTMXkMrOUCcyqqAFBOBhR40BtVAKAUAoBQGo8QcDQyW96bJIra6uUZGuNhJIkcNKDg8t2DzHnmgI7MeDTpFg9u8iyO8rSsyqQOaqoAzz6L9poDbqAUBNARQHBf25lgliV2jLo6CRfWQspAdfaM5HuoCkOLuzaXTtIktrFJb2S5njaWRYuaJECyjaCerE86AsHhzgmF+HrCwvoQ3dqszRliNszbyxyp6/WOPjQGVXgmwBtiLWL/NxiHkfQ9LdnGeZzzycnNAbDQCgIoBQCgFAKAUBNAKAUAoBQCgFAKAUAoCKAUBNAKAUAoBQH/9k=">
            <a:extLst>
              <a:ext uri="{FF2B5EF4-FFF2-40B4-BE49-F238E27FC236}">
                <a16:creationId xmlns:a16="http://schemas.microsoft.com/office/drawing/2014/main" id="{7E768647-9C55-7FEB-6EF1-F1A594D7A623}"/>
              </a:ext>
            </a:extLst>
          </p:cNvPr>
          <p:cNvSpPr>
            <a:spLocks noChangeAspect="1" noChangeArrowheads="1"/>
          </p:cNvSpPr>
          <p:nvPr/>
        </p:nvSpPr>
        <p:spPr bwMode="auto">
          <a:xfrm>
            <a:off x="1670843" y="662749"/>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1" name="AutoShape 6" descr="https://images.thorntons.co.uk/get/w/380/h/380/63189b.image?notfound=notavailable">
            <a:extLst>
              <a:ext uri="{FF2B5EF4-FFF2-40B4-BE49-F238E27FC236}">
                <a16:creationId xmlns:a16="http://schemas.microsoft.com/office/drawing/2014/main" id="{50871357-52BC-4697-DFB8-87C2FEAA0CA8}"/>
              </a:ext>
            </a:extLst>
          </p:cNvPr>
          <p:cNvSpPr>
            <a:spLocks noChangeAspect="1" noChangeArrowheads="1"/>
          </p:cNvSpPr>
          <p:nvPr/>
        </p:nvSpPr>
        <p:spPr bwMode="auto">
          <a:xfrm>
            <a:off x="1670843" y="662749"/>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2" name="AutoShape 2" descr="Heidi Tablet SummerVenture India">
            <a:extLst>
              <a:ext uri="{FF2B5EF4-FFF2-40B4-BE49-F238E27FC236}">
                <a16:creationId xmlns:a16="http://schemas.microsoft.com/office/drawing/2014/main" id="{FC752709-F3F2-24FA-16EA-412F0377D419}"/>
              </a:ext>
            </a:extLst>
          </p:cNvPr>
          <p:cNvSpPr>
            <a:spLocks noChangeAspect="1" noChangeArrowheads="1"/>
          </p:cNvSpPr>
          <p:nvPr/>
        </p:nvSpPr>
        <p:spPr bwMode="auto">
          <a:xfrm>
            <a:off x="1670843" y="662749"/>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sp>
        <p:nvSpPr>
          <p:cNvPr id="13" name="TextBox 12">
            <a:extLst>
              <a:ext uri="{FF2B5EF4-FFF2-40B4-BE49-F238E27FC236}">
                <a16:creationId xmlns:a16="http://schemas.microsoft.com/office/drawing/2014/main" id="{ECEAB4B6-C655-4C3D-B209-D8251806F8BA}"/>
              </a:ext>
            </a:extLst>
          </p:cNvPr>
          <p:cNvSpPr txBox="1"/>
          <p:nvPr/>
        </p:nvSpPr>
        <p:spPr>
          <a:xfrm>
            <a:off x="3271408" y="4173151"/>
            <a:ext cx="2624328" cy="2433281"/>
          </a:xfrm>
          <a:prstGeom prst="rect">
            <a:avLst/>
          </a:prstGeom>
          <a:solidFill>
            <a:schemeClr val="accent5">
              <a:lumMod val="20000"/>
              <a:lumOff val="80000"/>
            </a:schemeClr>
          </a:solidFill>
        </p:spPr>
        <p:txBody>
          <a:bodyPr wrap="square" rtlCol="0">
            <a:noAutofit/>
          </a:bodyPr>
          <a:lstStyle/>
          <a:p>
            <a:r>
              <a:rPr lang="en-GB" sz="1300" b="1" dirty="0">
                <a:latin typeface="Arial" panose="020B0604020202020204" pitchFamily="34" charset="0"/>
                <a:cs typeface="Arial" pitchFamily="34" charset="0"/>
              </a:rPr>
              <a:t>Brand: </a:t>
            </a:r>
            <a:r>
              <a:rPr lang="en-GB" sz="1300" dirty="0">
                <a:latin typeface="Arial" pitchFamily="34" charset="0"/>
                <a:cs typeface="Arial" pitchFamily="34" charset="0"/>
              </a:rPr>
              <a:t>Carefree</a:t>
            </a:r>
          </a:p>
          <a:p>
            <a:r>
              <a:rPr lang="en-GB" sz="1300" b="1" dirty="0">
                <a:latin typeface="Arial" panose="020B0604020202020204" pitchFamily="34" charset="0"/>
                <a:cs typeface="Arial" pitchFamily="34" charset="0"/>
              </a:rPr>
              <a:t>Manufacturer: </a:t>
            </a:r>
            <a:r>
              <a:rPr lang="en-GB" sz="1300" dirty="0">
                <a:latin typeface="Arial" pitchFamily="34" charset="0"/>
                <a:cs typeface="Arial" pitchFamily="34" charset="0"/>
              </a:rPr>
              <a:t>Johnson &amp; Johnson</a:t>
            </a:r>
          </a:p>
          <a:p>
            <a:pPr eaLnBrk="1" hangingPunct="1">
              <a:spcBef>
                <a:spcPts val="0"/>
              </a:spcBef>
              <a:defRPr/>
            </a:pPr>
            <a:r>
              <a:rPr lang="en-GB" sz="1300" dirty="0">
                <a:latin typeface="Arial" pitchFamily="34" charset="0"/>
                <a:cs typeface="Arial" pitchFamily="34" charset="0"/>
              </a:rPr>
              <a:t>These pantiliners have a top  layer  made of  soft cotton for quick absorption and is mildly scented with natural Aloe Vera  for a fresh and comfortable feeling.</a:t>
            </a:r>
            <a:endParaRPr lang="en-GB" sz="1300" b="1" dirty="0">
              <a:latin typeface="Arial" panose="020B0604020202020204" pitchFamily="34" charset="0"/>
              <a:cs typeface="Arial" panose="020B0604020202020204" pitchFamily="34" charset="0"/>
            </a:endParaRPr>
          </a:p>
          <a:p>
            <a:pPr eaLnBrk="1" hangingPunct="1">
              <a:spcBef>
                <a:spcPts val="0"/>
              </a:spcBef>
              <a:defRPr/>
            </a:pPr>
            <a:endParaRPr lang="en-GB" sz="1300" b="1" dirty="0">
              <a:latin typeface="Arial" panose="020B0604020202020204" pitchFamily="34" charset="0"/>
              <a:cs typeface="Arial" panose="020B0604020202020204" pitchFamily="34" charset="0"/>
            </a:endParaRPr>
          </a:p>
          <a:p>
            <a:pPr eaLnBrk="1" hangingPunct="1">
              <a:spcBef>
                <a:spcPts val="0"/>
              </a:spcBef>
              <a:defRPr/>
            </a:pPr>
            <a:r>
              <a:rPr lang="en-GB" sz="1300" b="1" dirty="0">
                <a:latin typeface="Arial" panose="020B0604020202020204" pitchFamily="34" charset="0"/>
                <a:cs typeface="Arial" panose="020B0604020202020204" pitchFamily="34" charset="0"/>
              </a:rPr>
              <a:t>Trend alignment: </a:t>
            </a:r>
            <a:r>
              <a:rPr lang="en-GB" sz="1300" dirty="0">
                <a:latin typeface="Arial" panose="020B0604020202020204" pitchFamily="34" charset="0"/>
                <a:cs typeface="Arial" pitchFamily="34" charset="0"/>
              </a:rPr>
              <a:t>Individualism</a:t>
            </a:r>
          </a:p>
        </p:txBody>
      </p:sp>
      <p:sp>
        <p:nvSpPr>
          <p:cNvPr id="14" name="TextBox 13">
            <a:extLst>
              <a:ext uri="{FF2B5EF4-FFF2-40B4-BE49-F238E27FC236}">
                <a16:creationId xmlns:a16="http://schemas.microsoft.com/office/drawing/2014/main" id="{BE5005B0-F167-F072-D28A-08C66E72CA87}"/>
              </a:ext>
            </a:extLst>
          </p:cNvPr>
          <p:cNvSpPr txBox="1"/>
          <p:nvPr/>
        </p:nvSpPr>
        <p:spPr>
          <a:xfrm>
            <a:off x="6034214" y="4124683"/>
            <a:ext cx="2684008" cy="2433282"/>
          </a:xfrm>
          <a:prstGeom prst="rect">
            <a:avLst/>
          </a:prstGeom>
          <a:solidFill>
            <a:schemeClr val="accent5">
              <a:lumMod val="20000"/>
              <a:lumOff val="80000"/>
            </a:schemeClr>
          </a:solidFill>
        </p:spPr>
        <p:txBody>
          <a:bodyPr wrap="square" rtlCol="0">
            <a:noAutofit/>
          </a:bodyPr>
          <a:lstStyle/>
          <a:p>
            <a:r>
              <a:rPr lang="en-GB" sz="1300" b="1" dirty="0">
                <a:latin typeface="Arial" panose="020B0604020202020204" pitchFamily="34" charset="0"/>
                <a:cs typeface="Arial" pitchFamily="34" charset="0"/>
              </a:rPr>
              <a:t>Brand: </a:t>
            </a:r>
            <a:r>
              <a:rPr lang="en-GB" sz="1300" dirty="0">
                <a:latin typeface="Arial" pitchFamily="34" charset="0"/>
                <a:cs typeface="Arial" pitchFamily="34" charset="0"/>
              </a:rPr>
              <a:t>Gillette</a:t>
            </a:r>
          </a:p>
          <a:p>
            <a:r>
              <a:rPr lang="en-GB" sz="1300" b="1" dirty="0">
                <a:latin typeface="Arial" panose="020B0604020202020204" pitchFamily="34" charset="0"/>
                <a:cs typeface="Arial" pitchFamily="34" charset="0"/>
              </a:rPr>
              <a:t>Manufacturer: </a:t>
            </a:r>
            <a:r>
              <a:rPr lang="en-GB" sz="1300" dirty="0">
                <a:latin typeface="Arial" panose="020B0604020202020204" pitchFamily="34" charset="0"/>
                <a:cs typeface="Arial" pitchFamily="34" charset="0"/>
              </a:rPr>
              <a:t>Procter &amp; Gamble</a:t>
            </a:r>
          </a:p>
          <a:p>
            <a:r>
              <a:rPr lang="en-GB" sz="1300" dirty="0">
                <a:latin typeface="Arial" panose="020B0604020202020204" pitchFamily="34" charset="0"/>
                <a:cs typeface="Arial" pitchFamily="34" charset="0"/>
              </a:rPr>
              <a:t>P&amp;G has designed a new sleek razor that tucks easily into any bag/luggage for the woman on- the- go. The product has five blades surrounded by a protective shield  for an easy shave and a mini handle for better grip .</a:t>
            </a:r>
            <a:endParaRPr lang="en-GB" sz="1300" b="1" dirty="0">
              <a:latin typeface="Arial" pitchFamily="34" charset="0"/>
              <a:cs typeface="Arial" pitchFamily="34" charset="0"/>
            </a:endParaRPr>
          </a:p>
          <a:p>
            <a:endParaRPr lang="en-GB" sz="1300" b="1" dirty="0">
              <a:latin typeface="Arial" pitchFamily="34" charset="0"/>
              <a:cs typeface="Arial" pitchFamily="34" charset="0"/>
            </a:endParaRPr>
          </a:p>
          <a:p>
            <a:r>
              <a:rPr lang="en-GB" sz="1300" b="1" dirty="0">
                <a:latin typeface="Arial" pitchFamily="34" charset="0"/>
                <a:cs typeface="Arial" pitchFamily="34" charset="0"/>
              </a:rPr>
              <a:t>Trend alignment:</a:t>
            </a:r>
            <a:r>
              <a:rPr lang="en-GB" sz="1300" dirty="0">
                <a:latin typeface="Arial" panose="020B0604020202020204" pitchFamily="34" charset="0"/>
                <a:cs typeface="Arial" pitchFamily="34" charset="0"/>
              </a:rPr>
              <a:t> Technology</a:t>
            </a:r>
          </a:p>
          <a:p>
            <a:endParaRPr lang="en-GB" sz="1300" b="1" dirty="0"/>
          </a:p>
          <a:p>
            <a:endParaRPr lang="en-GB" sz="1300" b="1" dirty="0">
              <a:latin typeface="Arial" pitchFamily="34" charset="0"/>
              <a:cs typeface="Arial" pitchFamily="34" charset="0"/>
            </a:endParaRPr>
          </a:p>
          <a:p>
            <a:endParaRPr lang="en-GB" sz="1300" b="1" dirty="0">
              <a:latin typeface="Arial" pitchFamily="34" charset="0"/>
              <a:cs typeface="Arial" pitchFamily="34" charset="0"/>
            </a:endParaRPr>
          </a:p>
          <a:p>
            <a:endParaRPr lang="en-GB" sz="1300" b="1" dirty="0">
              <a:latin typeface="Arial" pitchFamily="34" charset="0"/>
              <a:cs typeface="Arial" pitchFamily="34" charset="0"/>
            </a:endParaRPr>
          </a:p>
          <a:p>
            <a:endParaRPr lang="en-GB" sz="1300" b="1" dirty="0">
              <a:latin typeface="Arial" pitchFamily="34" charset="0"/>
              <a:cs typeface="Arial" pitchFamily="34" charset="0"/>
            </a:endParaRPr>
          </a:p>
          <a:p>
            <a:endParaRPr lang="en-GB" sz="1300" b="1" dirty="0">
              <a:latin typeface="Arial" pitchFamily="34" charset="0"/>
              <a:cs typeface="Arial" pitchFamily="34" charset="0"/>
            </a:endParaRPr>
          </a:p>
          <a:p>
            <a:endParaRPr lang="en-GB" sz="1300" b="1" dirty="0"/>
          </a:p>
          <a:p>
            <a:endParaRPr lang="en-GB" sz="1300" b="1" dirty="0">
              <a:latin typeface="Arial" pitchFamily="34" charset="0"/>
              <a:cs typeface="Arial" pitchFamily="34" charset="0"/>
            </a:endParaRPr>
          </a:p>
          <a:p>
            <a:endParaRPr lang="en-GB" sz="1300" dirty="0">
              <a:latin typeface="Arial" pitchFamily="34" charset="0"/>
              <a:cs typeface="Arial" pitchFamily="34" charset="0"/>
            </a:endParaRPr>
          </a:p>
        </p:txBody>
      </p:sp>
      <p:sp>
        <p:nvSpPr>
          <p:cNvPr id="15" name="AutoShape 6" descr="Image result for fair gin in australia">
            <a:extLst>
              <a:ext uri="{FF2B5EF4-FFF2-40B4-BE49-F238E27FC236}">
                <a16:creationId xmlns:a16="http://schemas.microsoft.com/office/drawing/2014/main" id="{9AC546BD-B4CB-FE22-701B-E87149F4C79C}"/>
              </a:ext>
            </a:extLst>
          </p:cNvPr>
          <p:cNvSpPr>
            <a:spLocks noChangeAspect="1" noChangeArrowheads="1"/>
          </p:cNvSpPr>
          <p:nvPr/>
        </p:nvSpPr>
        <p:spPr bwMode="auto">
          <a:xfrm>
            <a:off x="1670843" y="662749"/>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dirty="0"/>
          </a:p>
        </p:txBody>
      </p:sp>
      <p:pic>
        <p:nvPicPr>
          <p:cNvPr id="16" name="Picture 2" descr="C:\Users\lbandla\Desktop\Trends\UAE\Carefree UAE.jpg">
            <a:extLst>
              <a:ext uri="{FF2B5EF4-FFF2-40B4-BE49-F238E27FC236}">
                <a16:creationId xmlns:a16="http://schemas.microsoft.com/office/drawing/2014/main" id="{B00C92C2-D4A1-545A-16FA-7189E6323F70}"/>
              </a:ext>
            </a:extLst>
          </p:cNvPr>
          <p:cNvPicPr>
            <a:picLocks noChangeAspect="1" noChangeArrowheads="1"/>
          </p:cNvPicPr>
          <p:nvPr/>
        </p:nvPicPr>
        <p:blipFill>
          <a:blip r:embed="rId2" cstate="print"/>
          <a:srcRect/>
          <a:stretch>
            <a:fillRect/>
          </a:stretch>
        </p:blipFill>
        <p:spPr bwMode="auto">
          <a:xfrm>
            <a:off x="1456531" y="4241331"/>
            <a:ext cx="1676400" cy="1752600"/>
          </a:xfrm>
          <a:prstGeom prst="rect">
            <a:avLst/>
          </a:prstGeom>
          <a:noFill/>
        </p:spPr>
      </p:pic>
      <p:pic>
        <p:nvPicPr>
          <p:cNvPr id="17" name="Picture 4" descr="C:\Users\lbandla\Desktop\Trends\UAE\Ph care new.jpg">
            <a:extLst>
              <a:ext uri="{FF2B5EF4-FFF2-40B4-BE49-F238E27FC236}">
                <a16:creationId xmlns:a16="http://schemas.microsoft.com/office/drawing/2014/main" id="{24BE2918-CC42-3CE9-23B7-73062BE87B5B}"/>
              </a:ext>
            </a:extLst>
          </p:cNvPr>
          <p:cNvPicPr>
            <a:picLocks noChangeAspect="1" noChangeArrowheads="1"/>
          </p:cNvPicPr>
          <p:nvPr/>
        </p:nvPicPr>
        <p:blipFill>
          <a:blip r:embed="rId3" cstate="print"/>
          <a:srcRect/>
          <a:stretch>
            <a:fillRect/>
          </a:stretch>
        </p:blipFill>
        <p:spPr bwMode="auto">
          <a:xfrm>
            <a:off x="8799511" y="1447800"/>
            <a:ext cx="1752600" cy="2133600"/>
          </a:xfrm>
          <a:prstGeom prst="rect">
            <a:avLst/>
          </a:prstGeom>
          <a:noFill/>
        </p:spPr>
      </p:pic>
      <p:pic>
        <p:nvPicPr>
          <p:cNvPr id="18" name="Picture 5" descr="C:\Users\lbandla\Desktop\Trends\UAE\kotex.jpg">
            <a:extLst>
              <a:ext uri="{FF2B5EF4-FFF2-40B4-BE49-F238E27FC236}">
                <a16:creationId xmlns:a16="http://schemas.microsoft.com/office/drawing/2014/main" id="{8DFEB87D-36EC-30EA-2290-6F6FDE90CB0E}"/>
              </a:ext>
            </a:extLst>
          </p:cNvPr>
          <p:cNvPicPr>
            <a:picLocks noChangeAspect="1" noChangeArrowheads="1"/>
          </p:cNvPicPr>
          <p:nvPr/>
        </p:nvPicPr>
        <p:blipFill>
          <a:blip r:embed="rId4" cstate="print"/>
          <a:srcRect/>
          <a:stretch>
            <a:fillRect/>
          </a:stretch>
        </p:blipFill>
        <p:spPr bwMode="auto">
          <a:xfrm>
            <a:off x="1532731" y="1447800"/>
            <a:ext cx="1524000" cy="1981200"/>
          </a:xfrm>
          <a:prstGeom prst="rect">
            <a:avLst/>
          </a:prstGeom>
          <a:noFill/>
        </p:spPr>
      </p:pic>
      <p:pic>
        <p:nvPicPr>
          <p:cNvPr id="19" name="Picture 6" descr="C:\Users\lbandla\Desktop\Trends\UAE\razor new.jpg">
            <a:extLst>
              <a:ext uri="{FF2B5EF4-FFF2-40B4-BE49-F238E27FC236}">
                <a16:creationId xmlns:a16="http://schemas.microsoft.com/office/drawing/2014/main" id="{B6BF370C-3F47-B4CB-E800-2BC13EC4A4B8}"/>
              </a:ext>
            </a:extLst>
          </p:cNvPr>
          <p:cNvPicPr>
            <a:picLocks noChangeAspect="1" noChangeArrowheads="1"/>
          </p:cNvPicPr>
          <p:nvPr/>
        </p:nvPicPr>
        <p:blipFill>
          <a:blip r:embed="rId5" cstate="print"/>
          <a:srcRect/>
          <a:stretch>
            <a:fillRect/>
          </a:stretch>
        </p:blipFill>
        <p:spPr bwMode="auto">
          <a:xfrm>
            <a:off x="8906669" y="4086247"/>
            <a:ext cx="1828800" cy="2209800"/>
          </a:xfrm>
          <a:prstGeom prst="rect">
            <a:avLst/>
          </a:prstGeom>
          <a:noFill/>
        </p:spPr>
      </p:pic>
    </p:spTree>
    <p:extLst>
      <p:ext uri="{BB962C8B-B14F-4D97-AF65-F5344CB8AC3E}">
        <p14:creationId xmlns:p14="http://schemas.microsoft.com/office/powerpoint/2010/main" val="1134329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1328</Words>
  <Application>Microsoft Office PowerPoint</Application>
  <PresentationFormat>Widescreen</PresentationFormat>
  <Paragraphs>125</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ヒラギノ角ゴ Pro W3</vt:lpstr>
      <vt:lpstr>Office Theme</vt:lpstr>
      <vt:lpstr>Consumer and Market Insights: Feminine Hygiene Market in South Korea </vt:lpstr>
      <vt:lpstr>PowerPoint Presentation</vt:lpstr>
      <vt:lpstr>PowerPoint Presentation</vt:lpstr>
      <vt:lpstr>PowerPoint Presentation</vt:lpstr>
      <vt:lpstr>PowerPoint Presentation</vt:lpstr>
      <vt:lpstr>Trend 4: Technology:  Rising demand in the usage of disposable razors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Likhitha</dc:creator>
  <cp:lastModifiedBy>Likhitha</cp:lastModifiedBy>
  <cp:revision>2</cp:revision>
  <dcterms:created xsi:type="dcterms:W3CDTF">2026-02-11T08:40:52Z</dcterms:created>
  <dcterms:modified xsi:type="dcterms:W3CDTF">2026-02-11T09:34:41Z</dcterms:modified>
</cp:coreProperties>
</file>