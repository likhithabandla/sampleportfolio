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576" r:id="rId3"/>
    <p:sldId id="581" r:id="rId4"/>
    <p:sldId id="544" r:id="rId5"/>
    <p:sldId id="552" r:id="rId6"/>
    <p:sldId id="553" r:id="rId7"/>
    <p:sldId id="575" r:id="rId8"/>
    <p:sldId id="554" r:id="rId9"/>
    <p:sldId id="577" r:id="rId10"/>
    <p:sldId id="578" r:id="rId11"/>
    <p:sldId id="579" r:id="rId12"/>
    <p:sldId id="580" r:id="rId13"/>
    <p:sldId id="582" r:id="rId14"/>
    <p:sldId id="583" r:id="rId15"/>
    <p:sldId id="584" r:id="rId16"/>
    <p:sldId id="589" r:id="rId17"/>
    <p:sldId id="590" r:id="rId18"/>
    <p:sldId id="591" r:id="rId19"/>
    <p:sldId id="5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5" autoAdjust="0"/>
    <p:restoredTop sz="94660"/>
  </p:normalViewPr>
  <p:slideViewPr>
    <p:cSldViewPr snapToGrid="0">
      <p:cViewPr>
        <p:scale>
          <a:sx n="80" d="100"/>
          <a:sy n="80" d="100"/>
        </p:scale>
        <p:origin x="136" y="-50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22069687453267534"/>
          <c:y val="8.8970139415995256E-2"/>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4927356179038548"/>
          <c:y val="0.22324133965089349"/>
          <c:w val="0.3828662439698779"/>
          <c:h val="0.55756712204595382"/>
        </c:manualLayout>
      </c:layout>
      <c:doughnutChart>
        <c:varyColors val="1"/>
        <c:ser>
          <c:idx val="0"/>
          <c:order val="0"/>
          <c:tx>
            <c:strRef>
              <c:f>Sheet1!$B$1</c:f>
              <c:strCache>
                <c:ptCount val="1"/>
                <c:pt idx="0">
                  <c:v> 2018 Sales percentage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3DC-49BF-91E1-9E8EB2B83C7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23DC-49BF-91E1-9E8EB2B83C7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23DC-49BF-91E1-9E8EB2B83C7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4-23DC-49BF-91E1-9E8EB2B83C75}"/>
              </c:ext>
            </c:extLst>
          </c:dPt>
          <c:dLbls>
            <c:dLbl>
              <c:idx val="0"/>
              <c:layout>
                <c:manualLayout>
                  <c:x val="6.9062087904618194E-2"/>
                  <c:y val="-3.868266931130228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3DC-49BF-91E1-9E8EB2B83C75}"/>
                </c:ext>
              </c:extLst>
            </c:dLbl>
            <c:dLbl>
              <c:idx val="1"/>
              <c:layout>
                <c:manualLayout>
                  <c:x val="0.17103193083636586"/>
                  <c:y val="3.8683191877129492E-3"/>
                </c:manualLayout>
              </c:layout>
              <c:showLegendKey val="0"/>
              <c:showVal val="1"/>
              <c:showCatName val="0"/>
              <c:showSerName val="0"/>
              <c:showPercent val="0"/>
              <c:showBubbleSize val="0"/>
              <c:extLst>
                <c:ext xmlns:c15="http://schemas.microsoft.com/office/drawing/2012/chart" uri="{CE6537A1-D6FC-4f65-9D91-7224C49458BB}">
                  <c15:layout>
                    <c:manualLayout>
                      <c:w val="0.11058644123165044"/>
                      <c:h val="6.8120285170368763E-2"/>
                    </c:manualLayout>
                  </c15:layout>
                </c:ext>
                <c:ext xmlns:c16="http://schemas.microsoft.com/office/drawing/2014/chart" uri="{C3380CC4-5D6E-409C-BE32-E72D297353CC}">
                  <c16:uniqueId val="{00000002-23DC-49BF-91E1-9E8EB2B83C75}"/>
                </c:ext>
              </c:extLst>
            </c:dLbl>
            <c:dLbl>
              <c:idx val="2"/>
              <c:layout>
                <c:manualLayout>
                  <c:x val="-5.5780917153730097E-2"/>
                  <c:y val="1.16048007933906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3DC-49BF-91E1-9E8EB2B83C75}"/>
                </c:ext>
              </c:extLst>
            </c:dLbl>
            <c:dLbl>
              <c:idx val="3"/>
              <c:layout>
                <c:manualLayout>
                  <c:x val="-5.0468448853374828E-2"/>
                  <c:y val="-5.41557370358232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23DC-49BF-91E1-9E8EB2B83C75}"/>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Material Analysis</c:v>
                </c:pt>
                <c:pt idx="1">
                  <c:v>Test &amp; Measurement</c:v>
                </c:pt>
                <c:pt idx="2">
                  <c:v>In-line Instrumentation</c:v>
                </c:pt>
                <c:pt idx="3">
                  <c:v>Industrial Controls</c:v>
                </c:pt>
              </c:strCache>
            </c:strRef>
          </c:cat>
          <c:val>
            <c:numRef>
              <c:f>Sheet1!$B$2:$B$5</c:f>
              <c:numCache>
                <c:formatCode>0%</c:formatCode>
                <c:ptCount val="4"/>
                <c:pt idx="0">
                  <c:v>0.34</c:v>
                </c:pt>
                <c:pt idx="1">
                  <c:v>0.33</c:v>
                </c:pt>
                <c:pt idx="2">
                  <c:v>0.19</c:v>
                </c:pt>
                <c:pt idx="3">
                  <c:v>0.14000000000000001</c:v>
                </c:pt>
              </c:numCache>
            </c:numRef>
          </c:val>
          <c:extLst>
            <c:ext xmlns:c16="http://schemas.microsoft.com/office/drawing/2014/chart" uri="{C3380CC4-5D6E-409C-BE32-E72D297353CC}">
              <c16:uniqueId val="{00000000-23DC-49BF-91E1-9E8EB2B83C75}"/>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80914762890466518"/>
          <c:w val="0.84403752611428684"/>
          <c:h val="0.19085244322903228"/>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600" dirty="0"/>
              <a:t>2018 Adjusted Operating profit by segment</a:t>
            </a:r>
          </a:p>
        </c:rich>
      </c:tx>
      <c:layout>
        <c:manualLayout>
          <c:xMode val="edge"/>
          <c:yMode val="edge"/>
          <c:x val="0.21408218472240109"/>
          <c:y val="3.9639598023263759E-3"/>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8480329769419042"/>
          <c:y val="0.25905090517508694"/>
          <c:w val="0.32855133324745589"/>
          <c:h val="0.47932915748148397"/>
        </c:manualLayout>
      </c:layout>
      <c:doughnutChart>
        <c:varyColors val="1"/>
        <c:ser>
          <c:idx val="0"/>
          <c:order val="0"/>
          <c:tx>
            <c:strRef>
              <c:f>Sheet1!$B$1</c:f>
              <c:strCache>
                <c:ptCount val="1"/>
                <c:pt idx="0">
                  <c:v>2018 Adjusted Operating profit by segment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3DC-4D71-9F1D-40F39EE936F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4-43DC-4D71-9F1D-40F39EE936F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43DC-4D71-9F1D-40F39EE936F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2-43DC-4D71-9F1D-40F39EE936FF}"/>
              </c:ext>
            </c:extLst>
          </c:dPt>
          <c:dLbls>
            <c:dLbl>
              <c:idx val="0"/>
              <c:layout>
                <c:manualLayout>
                  <c:x val="7.1982480999613546E-2"/>
                  <c:y val="-5.15314774302429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3DC-4D71-9F1D-40F39EE936FF}"/>
                </c:ext>
              </c:extLst>
            </c:dLbl>
            <c:dLbl>
              <c:idx val="1"/>
              <c:layout>
                <c:manualLayout>
                  <c:x val="-0.11451758340847611"/>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3DC-4D71-9F1D-40F39EE936FF}"/>
                </c:ext>
              </c:extLst>
            </c:dLbl>
            <c:dLbl>
              <c:idx val="2"/>
              <c:layout>
                <c:manualLayout>
                  <c:x val="-8.1798273863197254E-2"/>
                  <c:y val="7.927919604652678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3DC-4D71-9F1D-40F39EE936FF}"/>
                </c:ext>
              </c:extLst>
            </c:dLbl>
            <c:dLbl>
              <c:idx val="3"/>
              <c:layout>
                <c:manualLayout>
                  <c:x val="-5.5622826226974106E-2"/>
                  <c:y val="-5.54954372325692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3DC-4D71-9F1D-40F39EE936F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Materials Analysis</c:v>
                </c:pt>
                <c:pt idx="1">
                  <c:v>Test and Measurement</c:v>
                </c:pt>
                <c:pt idx="2">
                  <c:v>In-line Instrumentation </c:v>
                </c:pt>
                <c:pt idx="3">
                  <c:v>Industrial Controls</c:v>
                </c:pt>
              </c:strCache>
            </c:strRef>
          </c:cat>
          <c:val>
            <c:numRef>
              <c:f>Sheet1!$B$2:$B$5</c:f>
              <c:numCache>
                <c:formatCode>0%</c:formatCode>
                <c:ptCount val="4"/>
                <c:pt idx="0">
                  <c:v>0.39</c:v>
                </c:pt>
                <c:pt idx="1">
                  <c:v>0.27</c:v>
                </c:pt>
                <c:pt idx="2">
                  <c:v>0.17</c:v>
                </c:pt>
                <c:pt idx="3">
                  <c:v>0.17</c:v>
                </c:pt>
              </c:numCache>
            </c:numRef>
          </c:val>
          <c:extLst>
            <c:ext xmlns:c16="http://schemas.microsoft.com/office/drawing/2014/chart" uri="{C3380CC4-5D6E-409C-BE32-E72D297353CC}">
              <c16:uniqueId val="{00000000-43DC-4D71-9F1D-40F39EE936FF}"/>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4.9685688522478413E-2"/>
          <c:y val="0.76565803494409956"/>
          <c:w val="0.9235321396367383"/>
          <c:h val="0.1882080107948213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0675133498681822"/>
          <c:y val="3.0313554335852699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1305766148593622"/>
          <c:y val="0.19938004405410772"/>
          <c:w val="0.38370021478815269"/>
          <c:h val="0.59247961294126217"/>
        </c:manualLayout>
      </c:layout>
      <c:doughnutChart>
        <c:varyColors val="1"/>
        <c:ser>
          <c:idx val="0"/>
          <c:order val="0"/>
          <c:tx>
            <c:strRef>
              <c:f>Sheet1!$B$1</c:f>
              <c:strCache>
                <c:ptCount val="1"/>
                <c:pt idx="0">
                  <c:v>Sales by Region </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9B8-4EA5-8166-FF4076AE8EA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89B8-4EA5-8166-FF4076AE8EA4}"/>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3-89B8-4EA5-8166-FF4076AE8EA4}"/>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4-89B8-4EA5-8166-FF4076AE8EA4}"/>
              </c:ext>
            </c:extLst>
          </c:dPt>
          <c:dLbls>
            <c:dLbl>
              <c:idx val="0"/>
              <c:layout>
                <c:manualLayout>
                  <c:x val="0.10142988572198525"/>
                  <c:y val="-4.631183968145101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9B8-4EA5-8166-FF4076AE8EA4}"/>
                </c:ext>
              </c:extLst>
            </c:dLbl>
            <c:dLbl>
              <c:idx val="1"/>
              <c:layout>
                <c:manualLayout>
                  <c:x val="0.19304397605152029"/>
                  <c:y val="-1.5156777167926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9B8-4EA5-8166-FF4076AE8EA4}"/>
                </c:ext>
              </c:extLst>
            </c:dLbl>
            <c:dLbl>
              <c:idx val="2"/>
              <c:layout>
                <c:manualLayout>
                  <c:x val="-9.1614090329535061E-2"/>
                  <c:y val="2.5261295279877187E-2"/>
                </c:manualLayout>
              </c:layout>
              <c:spPr>
                <a:noFill/>
                <a:ln>
                  <a:noFill/>
                </a:ln>
                <a:effectLst/>
              </c:spPr>
              <c:txPr>
                <a:bodyPr rot="0" spcFirstLastPara="1" vertOverflow="ellipsis" vert="horz" wrap="square" lIns="38100" tIns="19050" rIns="38100" bIns="19050" anchor="ctr" anchorCtr="1">
                  <a:no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3855492427023679E-2"/>
                      <c:h val="0.1647541678153594"/>
                    </c:manualLayout>
                  </c15:layout>
                </c:ext>
                <c:ext xmlns:c16="http://schemas.microsoft.com/office/drawing/2014/chart" uri="{C3380CC4-5D6E-409C-BE32-E72D297353CC}">
                  <c16:uniqueId val="{00000003-89B8-4EA5-8166-FF4076AE8EA4}"/>
                </c:ext>
              </c:extLst>
            </c:dLbl>
            <c:dLbl>
              <c:idx val="3"/>
              <c:layout>
                <c:manualLayout>
                  <c:x val="-7.8526363139601485E-2"/>
                  <c:y val="-5.05225905597544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9B8-4EA5-8166-FF4076AE8EA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North America</c:v>
                </c:pt>
                <c:pt idx="1">
                  <c:v>Europe</c:v>
                </c:pt>
                <c:pt idx="2">
                  <c:v>Asia</c:v>
                </c:pt>
                <c:pt idx="3">
                  <c:v>Rest of the world</c:v>
                </c:pt>
              </c:strCache>
            </c:strRef>
          </c:cat>
          <c:val>
            <c:numRef>
              <c:f>Sheet1!$B$2:$B$5</c:f>
              <c:numCache>
                <c:formatCode>0%</c:formatCode>
                <c:ptCount val="4"/>
                <c:pt idx="0">
                  <c:v>0.31</c:v>
                </c:pt>
                <c:pt idx="1">
                  <c:v>0.34</c:v>
                </c:pt>
                <c:pt idx="2">
                  <c:v>0.3</c:v>
                </c:pt>
                <c:pt idx="3">
                  <c:v>0.05</c:v>
                </c:pt>
              </c:numCache>
            </c:numRef>
          </c:val>
          <c:extLst>
            <c:ext xmlns:c16="http://schemas.microsoft.com/office/drawing/2014/chart" uri="{C3380CC4-5D6E-409C-BE32-E72D297353CC}">
              <c16:uniqueId val="{00000000-89B8-4EA5-8166-FF4076AE8EA4}"/>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5851679731352704"/>
          <c:y val="0.12181248472548953"/>
          <c:w val="0.27550180345566005"/>
          <c:h val="0.43890273847197775"/>
        </c:manualLayout>
      </c:layout>
      <c:doughnutChart>
        <c:varyColors val="1"/>
        <c:ser>
          <c:idx val="0"/>
          <c:order val="0"/>
          <c:tx>
            <c:strRef>
              <c:f>Sheet1!$B$1</c:f>
              <c:strCache>
                <c:ptCount val="1"/>
                <c:pt idx="0">
                  <c:v>Sales by end-user market</c:v>
                </c:pt>
              </c:strCache>
            </c:strRef>
          </c:tx>
          <c:explosion val="8"/>
          <c:dPt>
            <c:idx val="0"/>
            <c:bubble3D val="0"/>
            <c:spPr>
              <a:solidFill>
                <a:schemeClr val="accent1"/>
              </a:solidFill>
              <a:ln w="19050">
                <a:solidFill>
                  <a:schemeClr val="lt1"/>
                </a:solidFill>
              </a:ln>
              <a:effectLst/>
            </c:spPr>
            <c:extLst>
              <c:ext xmlns:c16="http://schemas.microsoft.com/office/drawing/2014/chart" uri="{C3380CC4-5D6E-409C-BE32-E72D297353CC}">
                <c16:uniqueId val="{00000003-403B-4C8E-A481-39D835A1C39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403B-4C8E-A481-39D835A1C39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1-403B-4C8E-A481-39D835A1C39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A-403B-4C8E-A481-39D835A1C39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03B-4C8E-A481-39D835A1C39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8-403B-4C8E-A481-39D835A1C39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403B-4C8E-A481-39D835A1C39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6-403B-4C8E-A481-39D835A1C39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5-403B-4C8E-A481-39D835A1C392}"/>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04-403B-4C8E-A481-39D835A1C392}"/>
              </c:ext>
            </c:extLst>
          </c:dPt>
          <c:dLbls>
            <c:dLbl>
              <c:idx val="0"/>
              <c:layout>
                <c:manualLayout>
                  <c:x val="6.4693216616478061E-2"/>
                  <c:y val="-2.378375881395827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3B-4C8E-A481-39D835A1C392}"/>
                </c:ext>
              </c:extLst>
            </c:dLbl>
            <c:dLbl>
              <c:idx val="1"/>
              <c:layout>
                <c:manualLayout>
                  <c:x val="4.4787611503715651E-2"/>
                  <c:y val="-2.77477186162846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03B-4C8E-A481-39D835A1C392}"/>
                </c:ext>
              </c:extLst>
            </c:dLbl>
            <c:dLbl>
              <c:idx val="2"/>
              <c:layout>
                <c:manualLayout>
                  <c:x val="4.7275812142810868E-2"/>
                  <c:y val="5.54954372325692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03B-4C8E-A481-39D835A1C392}"/>
                </c:ext>
              </c:extLst>
            </c:dLbl>
            <c:dLbl>
              <c:idx val="3"/>
              <c:layout>
                <c:manualLayout>
                  <c:x val="2.4882006390953136E-2"/>
                  <c:y val="5.54954372325691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403B-4C8E-A481-39D835A1C392}"/>
                </c:ext>
              </c:extLst>
            </c:dLbl>
            <c:dLbl>
              <c:idx val="4"/>
              <c:layout>
                <c:manualLayout>
                  <c:x val="-1.2441003195476568E-2"/>
                  <c:y val="6.342335683722201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03B-4C8E-A481-39D835A1C392}"/>
                </c:ext>
              </c:extLst>
            </c:dLbl>
            <c:dLbl>
              <c:idx val="5"/>
              <c:layout>
                <c:manualLayout>
                  <c:x val="-3.9811112264869983E-2"/>
                  <c:y val="5.5495437232569264E-2"/>
                </c:manualLayout>
              </c:layout>
              <c:showLegendKey val="0"/>
              <c:showVal val="1"/>
              <c:showCatName val="0"/>
              <c:showSerName val="0"/>
              <c:showPercent val="0"/>
              <c:showBubbleSize val="0"/>
              <c:extLst>
                <c:ext xmlns:c15="http://schemas.microsoft.com/office/drawing/2012/chart" uri="{CE6537A1-D6FC-4f65-9D91-7224C49458BB}">
                  <c15:layout>
                    <c:manualLayout>
                      <c:w val="7.1212302290907872E-2"/>
                      <c:h val="6.9805332118967486E-2"/>
                    </c:manualLayout>
                  </c15:layout>
                </c:ext>
                <c:ext xmlns:c16="http://schemas.microsoft.com/office/drawing/2014/chart" uri="{C3380CC4-5D6E-409C-BE32-E72D297353CC}">
                  <c16:uniqueId val="{00000008-403B-4C8E-A481-39D835A1C392}"/>
                </c:ext>
              </c:extLst>
            </c:dLbl>
            <c:dLbl>
              <c:idx val="6"/>
              <c:layout>
                <c:manualLayout>
                  <c:x val="-4.4787611503715651E-2"/>
                  <c:y val="1.585583920930550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03B-4C8E-A481-39D835A1C392}"/>
                </c:ext>
              </c:extLst>
            </c:dLbl>
            <c:dLbl>
              <c:idx val="7"/>
              <c:layout>
                <c:manualLayout>
                  <c:x val="-5.4740414060096949E-2"/>
                  <c:y val="1.18918794069790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03B-4C8E-A481-39D835A1C392}"/>
                </c:ext>
              </c:extLst>
            </c:dLbl>
            <c:dLbl>
              <c:idx val="8"/>
              <c:layout>
                <c:manualLayout>
                  <c:x val="-5.2252213421001587E-2"/>
                  <c:y val="-1.585583920930550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03B-4C8E-A481-39D835A1C392}"/>
                </c:ext>
              </c:extLst>
            </c:dLbl>
            <c:dLbl>
              <c:idx val="9"/>
              <c:layout>
                <c:manualLayout>
                  <c:x val="-6.9669617894668828E-2"/>
                  <c:y val="-1.98197990116318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03B-4C8E-A481-39D835A1C392}"/>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Sheet1!$A$2:$A$11</c:f>
              <c:strCache>
                <c:ptCount val="10"/>
                <c:pt idx="0">
                  <c:v>Pharmaceuticals &amp; fine chemicals</c:v>
                </c:pt>
                <c:pt idx="1">
                  <c:v>Automotive</c:v>
                </c:pt>
                <c:pt idx="2">
                  <c:v>Semicon, telecoms &amp; electronics</c:v>
                </c:pt>
                <c:pt idx="3">
                  <c:v>Metals, minerals &amp; mining</c:v>
                </c:pt>
                <c:pt idx="4">
                  <c:v>Energy &amp; utilities</c:v>
                </c:pt>
                <c:pt idx="5">
                  <c:v>Machine building</c:v>
                </c:pt>
                <c:pt idx="6">
                  <c:v>Pulp, paper &amp; tissue</c:v>
                </c:pt>
                <c:pt idx="7">
                  <c:v>Academic research</c:v>
                </c:pt>
                <c:pt idx="8">
                  <c:v>Aerospace &amp; defence</c:v>
                </c:pt>
                <c:pt idx="9">
                  <c:v>Other, including distribution</c:v>
                </c:pt>
              </c:strCache>
            </c:strRef>
          </c:cat>
          <c:val>
            <c:numRef>
              <c:f>Sheet1!$B$2:$B$11</c:f>
              <c:numCache>
                <c:formatCode>0%</c:formatCode>
                <c:ptCount val="10"/>
                <c:pt idx="0">
                  <c:v>0.15</c:v>
                </c:pt>
                <c:pt idx="1">
                  <c:v>0.14000000000000001</c:v>
                </c:pt>
                <c:pt idx="2">
                  <c:v>0.1</c:v>
                </c:pt>
                <c:pt idx="3">
                  <c:v>0.09</c:v>
                </c:pt>
                <c:pt idx="4">
                  <c:v>0.09</c:v>
                </c:pt>
                <c:pt idx="5">
                  <c:v>7.0000000000000007E-2</c:v>
                </c:pt>
                <c:pt idx="6">
                  <c:v>7.0000000000000007E-2</c:v>
                </c:pt>
                <c:pt idx="7">
                  <c:v>7.0000000000000007E-2</c:v>
                </c:pt>
                <c:pt idx="8">
                  <c:v>0.04</c:v>
                </c:pt>
                <c:pt idx="9">
                  <c:v>0.18</c:v>
                </c:pt>
              </c:numCache>
            </c:numRef>
          </c:val>
          <c:extLst>
            <c:ext xmlns:c16="http://schemas.microsoft.com/office/drawing/2014/chart" uri="{C3380CC4-5D6E-409C-BE32-E72D297353CC}">
              <c16:uniqueId val="{00000000-403B-4C8E-A481-39D835A1C392}"/>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4.0019278656920232E-2"/>
          <c:y val="0.65585025845330025"/>
          <c:w val="0.89756763693430175"/>
          <c:h val="0.3203659827327414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5359830774436068"/>
          <c:y val="3.0404305441173653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75544348446945"/>
          <c:y val="0.17969354922556233"/>
          <c:w val="0.49756744580043216"/>
          <c:h val="0.67691031040484961"/>
        </c:manualLayout>
      </c:layout>
      <c:doughnutChart>
        <c:varyColors val="1"/>
        <c:ser>
          <c:idx val="0"/>
          <c:order val="0"/>
          <c:tx>
            <c:strRef>
              <c:f>Sheet1!$B$1</c:f>
              <c:strCache>
                <c:ptCount val="1"/>
                <c:pt idx="0">
                  <c:v>Sales by Region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3-E3E6-4905-AC34-C58254BC4B70}"/>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E3E6-4905-AC34-C58254BC4B70}"/>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E3E6-4905-AC34-C58254BC4B70}"/>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4-E3E6-4905-AC34-C58254BC4B70}"/>
              </c:ext>
            </c:extLst>
          </c:dPt>
          <c:dLbls>
            <c:dLbl>
              <c:idx val="0"/>
              <c:layout>
                <c:manualLayout>
                  <c:x val="0.1116537056722000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E6-4905-AC34-C58254BC4B70}"/>
                </c:ext>
              </c:extLst>
            </c:dLbl>
            <c:dLbl>
              <c:idx val="1"/>
              <c:layout>
                <c:manualLayout>
                  <c:x val="6.7668912528605976E-2"/>
                  <c:y val="6.51520830882292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E6-4905-AC34-C58254BC4B70}"/>
                </c:ext>
              </c:extLst>
            </c:dLbl>
            <c:dLbl>
              <c:idx val="2"/>
              <c:layout>
                <c:manualLayout>
                  <c:x val="-8.7969586287187956E-2"/>
                  <c:y val="1.737388882352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E6-4905-AC34-C58254BC4B70}"/>
                </c:ext>
              </c:extLst>
            </c:dLbl>
            <c:dLbl>
              <c:idx val="3"/>
              <c:layout>
                <c:manualLayout>
                  <c:x val="-1.6872736342204389E-2"/>
                  <c:y val="-5.40806792216455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3E6-4905-AC34-C58254BC4B7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North America</c:v>
                </c:pt>
                <c:pt idx="1">
                  <c:v>Asia</c:v>
                </c:pt>
                <c:pt idx="2">
                  <c:v>Europe</c:v>
                </c:pt>
                <c:pt idx="3">
                  <c:v>Rest of the world</c:v>
                </c:pt>
              </c:strCache>
            </c:strRef>
          </c:cat>
          <c:val>
            <c:numRef>
              <c:f>Sheet1!$B$2:$B$5</c:f>
              <c:numCache>
                <c:formatCode>0%</c:formatCode>
                <c:ptCount val="4"/>
                <c:pt idx="0">
                  <c:v>0.22</c:v>
                </c:pt>
                <c:pt idx="1">
                  <c:v>0.32</c:v>
                </c:pt>
                <c:pt idx="2">
                  <c:v>0.39</c:v>
                </c:pt>
                <c:pt idx="3">
                  <c:v>7.0000000000000007E-2</c:v>
                </c:pt>
              </c:numCache>
            </c:numRef>
          </c:val>
          <c:extLst>
            <c:ext xmlns:c16="http://schemas.microsoft.com/office/drawing/2014/chart" uri="{C3380CC4-5D6E-409C-BE32-E72D297353CC}">
              <c16:uniqueId val="{00000000-E3E6-4905-AC34-C58254BC4B7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983935584452639"/>
          <c:y val="0.10709014343670888"/>
          <c:w val="0.345410480409716"/>
          <c:h val="0.45813776238308929"/>
        </c:manualLayout>
      </c:layout>
      <c:doughnutChart>
        <c:varyColors val="1"/>
        <c:ser>
          <c:idx val="0"/>
          <c:order val="0"/>
          <c:tx>
            <c:strRef>
              <c:f>Sheet1!$B$1</c:f>
              <c:strCache>
                <c:ptCount val="1"/>
                <c:pt idx="0">
                  <c:v>Sales by end-user market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6C77-438F-831C-872EDDF6D9F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6C77-438F-831C-872EDDF6D9F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6C77-438F-831C-872EDDF6D9F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3-6C77-438F-831C-872EDDF6D9F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4-6C77-438F-831C-872EDDF6D9F9}"/>
              </c:ext>
            </c:extLst>
          </c:dPt>
          <c:dLbls>
            <c:dLbl>
              <c:idx val="0"/>
              <c:layout>
                <c:manualLayout>
                  <c:x val="5.0891920987687772E-2"/>
                  <c:y val="-2.70003513234689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C77-438F-831C-872EDDF6D9F9}"/>
                </c:ext>
              </c:extLst>
            </c:dLbl>
            <c:dLbl>
              <c:idx val="1"/>
              <c:layout>
                <c:manualLayout>
                  <c:x val="-5.0891920987688891E-3"/>
                  <c:y val="-7.42509661395397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C77-438F-831C-872EDDF6D9F9}"/>
                </c:ext>
              </c:extLst>
            </c:dLbl>
            <c:dLbl>
              <c:idx val="2"/>
              <c:layout>
                <c:manualLayout>
                  <c:x val="5.3436517037072362E-2"/>
                  <c:y val="-3.7125483069769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77-438F-831C-872EDDF6D9F9}"/>
                </c:ext>
              </c:extLst>
            </c:dLbl>
            <c:dLbl>
              <c:idx val="3"/>
              <c:layout>
                <c:manualLayout>
                  <c:x val="-5.8525709135841153E-2"/>
                  <c:y val="-3.375043915433624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77-438F-831C-872EDDF6D9F9}"/>
                </c:ext>
              </c:extLst>
            </c:dLbl>
            <c:dLbl>
              <c:idx val="4"/>
              <c:layout>
                <c:manualLayout>
                  <c:x val="-3.8168940740765975E-2"/>
                  <c:y val="-4.38755709006371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C77-438F-831C-872EDDF6D9F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Pharmaceuticals &amp; fine chemicals</c:v>
                </c:pt>
                <c:pt idx="1">
                  <c:v>Semiconductors, telecoms &amp; electronics</c:v>
                </c:pt>
                <c:pt idx="2">
                  <c:v>Metals, Minerals &amp; Mining</c:v>
                </c:pt>
                <c:pt idx="3">
                  <c:v>Academic Research</c:v>
                </c:pt>
                <c:pt idx="4">
                  <c:v>Others</c:v>
                </c:pt>
              </c:strCache>
            </c:strRef>
          </c:cat>
          <c:val>
            <c:numRef>
              <c:f>Sheet1!$B$2:$B$6</c:f>
              <c:numCache>
                <c:formatCode>0%</c:formatCode>
                <c:ptCount val="5"/>
                <c:pt idx="0">
                  <c:v>0.37</c:v>
                </c:pt>
                <c:pt idx="1">
                  <c:v>0.21</c:v>
                </c:pt>
                <c:pt idx="2">
                  <c:v>0.13</c:v>
                </c:pt>
                <c:pt idx="3">
                  <c:v>0.12</c:v>
                </c:pt>
                <c:pt idx="4">
                  <c:v>0.17</c:v>
                </c:pt>
              </c:numCache>
            </c:numRef>
          </c:val>
          <c:extLst>
            <c:ext xmlns:c16="http://schemas.microsoft.com/office/drawing/2014/chart" uri="{C3380CC4-5D6E-409C-BE32-E72D297353CC}">
              <c16:uniqueId val="{00000000-6C77-438F-831C-872EDDF6D9F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57197799365066537"/>
          <c:w val="1"/>
          <c:h val="0.266019898408520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5359830774436068"/>
          <c:y val="3.0404305441173653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75544348446945"/>
          <c:y val="0.17969354922556233"/>
          <c:w val="0.47917826219102372"/>
          <c:h val="0.66268756782342741"/>
        </c:manualLayout>
      </c:layout>
      <c:doughnutChart>
        <c:varyColors val="1"/>
        <c:ser>
          <c:idx val="0"/>
          <c:order val="0"/>
          <c:tx>
            <c:strRef>
              <c:f>Sheet1!$B$1</c:f>
              <c:strCache>
                <c:ptCount val="1"/>
                <c:pt idx="0">
                  <c:v>Sales by Region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3-E3E6-4905-AC34-C58254BC4B70}"/>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E3E6-4905-AC34-C58254BC4B70}"/>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E3E6-4905-AC34-C58254BC4B70}"/>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4-E3E6-4905-AC34-C58254BC4B70}"/>
              </c:ext>
            </c:extLst>
          </c:dPt>
          <c:dLbls>
            <c:dLbl>
              <c:idx val="0"/>
              <c:layout>
                <c:manualLayout>
                  <c:x val="0.1116537056722000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E6-4905-AC34-C58254BC4B70}"/>
                </c:ext>
              </c:extLst>
            </c:dLbl>
            <c:dLbl>
              <c:idx val="1"/>
              <c:layout>
                <c:manualLayout>
                  <c:x val="6.7668912528605976E-2"/>
                  <c:y val="6.51520830882292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E6-4905-AC34-C58254BC4B70}"/>
                </c:ext>
              </c:extLst>
            </c:dLbl>
            <c:dLbl>
              <c:idx val="2"/>
              <c:layout>
                <c:manualLayout>
                  <c:x val="-8.7969586287187956E-2"/>
                  <c:y val="1.737388882352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E6-4905-AC34-C58254BC4B70}"/>
                </c:ext>
              </c:extLst>
            </c:dLbl>
            <c:dLbl>
              <c:idx val="3"/>
              <c:layout>
                <c:manualLayout>
                  <c:x val="-1.6872736342204389E-2"/>
                  <c:y val="-5.40806792216455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3E6-4905-AC34-C58254BC4B7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North America</c:v>
                </c:pt>
                <c:pt idx="1">
                  <c:v>Asia</c:v>
                </c:pt>
                <c:pt idx="2">
                  <c:v>Europe</c:v>
                </c:pt>
                <c:pt idx="3">
                  <c:v>Rest of the world</c:v>
                </c:pt>
              </c:strCache>
            </c:strRef>
          </c:cat>
          <c:val>
            <c:numRef>
              <c:f>Sheet1!$B$2:$B$5</c:f>
              <c:numCache>
                <c:formatCode>0%</c:formatCode>
                <c:ptCount val="4"/>
                <c:pt idx="0">
                  <c:v>0.22</c:v>
                </c:pt>
                <c:pt idx="1">
                  <c:v>0.5</c:v>
                </c:pt>
                <c:pt idx="2">
                  <c:v>0.25</c:v>
                </c:pt>
                <c:pt idx="3">
                  <c:v>0.03</c:v>
                </c:pt>
              </c:numCache>
            </c:numRef>
          </c:val>
          <c:extLst>
            <c:ext xmlns:c16="http://schemas.microsoft.com/office/drawing/2014/chart" uri="{C3380CC4-5D6E-409C-BE32-E72D297353CC}">
              <c16:uniqueId val="{00000000-E3E6-4905-AC34-C58254BC4B7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983935584452639"/>
          <c:y val="0.10709014343670888"/>
          <c:w val="0.345410480409716"/>
          <c:h val="0.45813776238308929"/>
        </c:manualLayout>
      </c:layout>
      <c:doughnutChart>
        <c:varyColors val="1"/>
        <c:ser>
          <c:idx val="0"/>
          <c:order val="0"/>
          <c:tx>
            <c:strRef>
              <c:f>Sheet1!$B$1</c:f>
              <c:strCache>
                <c:ptCount val="1"/>
                <c:pt idx="0">
                  <c:v>Sales by end-user market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6C77-438F-831C-872EDDF6D9F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6C77-438F-831C-872EDDF6D9F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6C77-438F-831C-872EDDF6D9F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3-6C77-438F-831C-872EDDF6D9F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4-6C77-438F-831C-872EDDF6D9F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E460-4D21-8660-CEFEC8DE31C6}"/>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E460-4D21-8660-CEFEC8DE31C6}"/>
              </c:ext>
            </c:extLst>
          </c:dPt>
          <c:dLbls>
            <c:dLbl>
              <c:idx val="0"/>
              <c:layout>
                <c:manualLayout>
                  <c:x val="5.0891920987687772E-2"/>
                  <c:y val="-2.70003513234689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C77-438F-831C-872EDDF6D9F9}"/>
                </c:ext>
              </c:extLst>
            </c:dLbl>
            <c:dLbl>
              <c:idx val="1"/>
              <c:layout>
                <c:manualLayout>
                  <c:x val="-5.0891920987688891E-3"/>
                  <c:y val="-7.42509661395397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C77-438F-831C-872EDDF6D9F9}"/>
                </c:ext>
              </c:extLst>
            </c:dLbl>
            <c:dLbl>
              <c:idx val="2"/>
              <c:layout>
                <c:manualLayout>
                  <c:x val="5.3436517037072362E-2"/>
                  <c:y val="-3.71254830697698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77-438F-831C-872EDDF6D9F9}"/>
                </c:ext>
              </c:extLst>
            </c:dLbl>
            <c:dLbl>
              <c:idx val="3"/>
              <c:layout>
                <c:manualLayout>
                  <c:x val="-5.8525709135841153E-2"/>
                  <c:y val="-3.375043915433624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77-438F-831C-872EDDF6D9F9}"/>
                </c:ext>
              </c:extLst>
            </c:dLbl>
            <c:dLbl>
              <c:idx val="4"/>
              <c:layout>
                <c:manualLayout>
                  <c:x val="-3.8168940740765975E-2"/>
                  <c:y val="-4.38755709006371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C77-438F-831C-872EDDF6D9F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0">
                  <c:v>Automotive</c:v>
                </c:pt>
                <c:pt idx="1">
                  <c:v>Machine building</c:v>
                </c:pt>
                <c:pt idx="2">
                  <c:v>Aerospace &amp; defence</c:v>
                </c:pt>
                <c:pt idx="3">
                  <c:v>Semicon, telecoms &amp; electronics</c:v>
                </c:pt>
                <c:pt idx="4">
                  <c:v>Academic research</c:v>
                </c:pt>
                <c:pt idx="5">
                  <c:v>Energy &amp; utilities</c:v>
                </c:pt>
                <c:pt idx="6">
                  <c:v>Others</c:v>
                </c:pt>
              </c:strCache>
            </c:strRef>
          </c:cat>
          <c:val>
            <c:numRef>
              <c:f>Sheet1!$B$2:$B$8</c:f>
              <c:numCache>
                <c:formatCode>0%</c:formatCode>
                <c:ptCount val="7"/>
                <c:pt idx="0">
                  <c:v>0.39</c:v>
                </c:pt>
                <c:pt idx="1">
                  <c:v>0.2</c:v>
                </c:pt>
                <c:pt idx="2">
                  <c:v>0.09</c:v>
                </c:pt>
                <c:pt idx="3">
                  <c:v>7.0000000000000007E-2</c:v>
                </c:pt>
                <c:pt idx="4">
                  <c:v>0.06</c:v>
                </c:pt>
                <c:pt idx="5">
                  <c:v>0.06</c:v>
                </c:pt>
                <c:pt idx="6">
                  <c:v>0.13</c:v>
                </c:pt>
              </c:numCache>
            </c:numRef>
          </c:val>
          <c:extLst>
            <c:ext xmlns:c16="http://schemas.microsoft.com/office/drawing/2014/chart" uri="{C3380CC4-5D6E-409C-BE32-E72D297353CC}">
              <c16:uniqueId val="{00000000-6C77-438F-831C-872EDDF6D9F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
          <c:y val="0.61247852063586894"/>
          <c:w val="1"/>
          <c:h val="0.266019898408520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5359830774436068"/>
          <c:y val="3.0404305441173653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75544348446945"/>
          <c:y val="0.17969354922556233"/>
          <c:w val="0.47917826219102372"/>
          <c:h val="0.66268756782342741"/>
        </c:manualLayout>
      </c:layout>
      <c:doughnutChart>
        <c:varyColors val="1"/>
        <c:ser>
          <c:idx val="0"/>
          <c:order val="0"/>
          <c:tx>
            <c:strRef>
              <c:f>Sheet1!$B$1</c:f>
              <c:strCache>
                <c:ptCount val="1"/>
                <c:pt idx="0">
                  <c:v>Sales by Region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3-E3E6-4905-AC34-C58254BC4B70}"/>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E3E6-4905-AC34-C58254BC4B70}"/>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E3E6-4905-AC34-C58254BC4B70}"/>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4-E3E6-4905-AC34-C58254BC4B70}"/>
              </c:ext>
            </c:extLst>
          </c:dPt>
          <c:dLbls>
            <c:dLbl>
              <c:idx val="0"/>
              <c:layout>
                <c:manualLayout>
                  <c:x val="0.1116537056722000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E6-4905-AC34-C58254BC4B70}"/>
                </c:ext>
              </c:extLst>
            </c:dLbl>
            <c:dLbl>
              <c:idx val="1"/>
              <c:layout>
                <c:manualLayout>
                  <c:x val="6.7668912528605976E-2"/>
                  <c:y val="6.51520830882292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E6-4905-AC34-C58254BC4B70}"/>
                </c:ext>
              </c:extLst>
            </c:dLbl>
            <c:dLbl>
              <c:idx val="2"/>
              <c:layout>
                <c:manualLayout>
                  <c:x val="-8.7969586287187956E-2"/>
                  <c:y val="1.737388882352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E6-4905-AC34-C58254BC4B70}"/>
                </c:ext>
              </c:extLst>
            </c:dLbl>
            <c:dLbl>
              <c:idx val="3"/>
              <c:layout>
                <c:manualLayout>
                  <c:x val="-1.6872736342204389E-2"/>
                  <c:y val="-5.40806792216455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3E6-4905-AC34-C58254BC4B7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North America</c:v>
                </c:pt>
                <c:pt idx="1">
                  <c:v>Asia</c:v>
                </c:pt>
                <c:pt idx="2">
                  <c:v>Europe</c:v>
                </c:pt>
                <c:pt idx="3">
                  <c:v>Rest of the world</c:v>
                </c:pt>
              </c:strCache>
            </c:strRef>
          </c:cat>
          <c:val>
            <c:numRef>
              <c:f>Sheet1!$B$2:$B$5</c:f>
              <c:numCache>
                <c:formatCode>0%</c:formatCode>
                <c:ptCount val="4"/>
                <c:pt idx="0">
                  <c:v>0.31</c:v>
                </c:pt>
                <c:pt idx="1">
                  <c:v>0.28000000000000003</c:v>
                </c:pt>
                <c:pt idx="2">
                  <c:v>0.35</c:v>
                </c:pt>
                <c:pt idx="3">
                  <c:v>0.06</c:v>
                </c:pt>
              </c:numCache>
            </c:numRef>
          </c:val>
          <c:extLst>
            <c:ext xmlns:c16="http://schemas.microsoft.com/office/drawing/2014/chart" uri="{C3380CC4-5D6E-409C-BE32-E72D297353CC}">
              <c16:uniqueId val="{00000000-E3E6-4905-AC34-C58254BC4B7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983935584452639"/>
          <c:y val="0.10709014343670888"/>
          <c:w val="0.345410480409716"/>
          <c:h val="0.45813776238308929"/>
        </c:manualLayout>
      </c:layout>
      <c:doughnutChart>
        <c:varyColors val="1"/>
        <c:ser>
          <c:idx val="0"/>
          <c:order val="0"/>
          <c:tx>
            <c:strRef>
              <c:f>Sheet1!$B$1</c:f>
              <c:strCache>
                <c:ptCount val="1"/>
                <c:pt idx="0">
                  <c:v>Sales by end-user market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6C77-438F-831C-872EDDF6D9F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6C77-438F-831C-872EDDF6D9F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6C77-438F-831C-872EDDF6D9F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3-6C77-438F-831C-872EDDF6D9F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4-6C77-438F-831C-872EDDF6D9F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A90E-401B-8EAF-08D31D69C4F9}"/>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A90E-401B-8EAF-08D31D69C4F9}"/>
              </c:ext>
            </c:extLst>
          </c:dPt>
          <c:dLbls>
            <c:dLbl>
              <c:idx val="0"/>
              <c:layout>
                <c:manualLayout>
                  <c:x val="5.0891920987687772E-2"/>
                  <c:y val="-2.70003513234689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C77-438F-831C-872EDDF6D9F9}"/>
                </c:ext>
              </c:extLst>
            </c:dLbl>
            <c:dLbl>
              <c:idx val="1"/>
              <c:layout>
                <c:manualLayout>
                  <c:x val="-0.1144555803842883"/>
                  <c:y val="8.124149915495577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C77-438F-831C-872EDDF6D9F9}"/>
                </c:ext>
              </c:extLst>
            </c:dLbl>
            <c:dLbl>
              <c:idx val="2"/>
              <c:layout>
                <c:manualLayout>
                  <c:x val="-5.3262287544730003E-2"/>
                  <c:y val="-3.7125515126886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77-438F-831C-872EDDF6D9F9}"/>
                </c:ext>
              </c:extLst>
            </c:dLbl>
            <c:dLbl>
              <c:idx val="3"/>
              <c:layout>
                <c:manualLayout>
                  <c:x val="-1.3178575111724046E-2"/>
                  <c:y val="-3.20273346849142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77-438F-831C-872EDDF6D9F9}"/>
                </c:ext>
              </c:extLst>
            </c:dLbl>
            <c:dLbl>
              <c:idx val="4"/>
              <c:layout>
                <c:manualLayout>
                  <c:x val="-3.8168940740765975E-2"/>
                  <c:y val="-4.38755709006371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C77-438F-831C-872EDDF6D9F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4"/>
                <c:pt idx="0">
                  <c:v>Pulp, paper &amp; tissue</c:v>
                </c:pt>
                <c:pt idx="1">
                  <c:v>Energy &amp; utilities</c:v>
                </c:pt>
                <c:pt idx="2">
                  <c:v>Converting, extrusion and packaging</c:v>
                </c:pt>
                <c:pt idx="3">
                  <c:v>Others</c:v>
                </c:pt>
              </c:strCache>
            </c:strRef>
          </c:cat>
          <c:val>
            <c:numRef>
              <c:f>Sheet1!$B$2:$B$8</c:f>
              <c:numCache>
                <c:formatCode>0%</c:formatCode>
                <c:ptCount val="7"/>
                <c:pt idx="0">
                  <c:v>0.37</c:v>
                </c:pt>
                <c:pt idx="1">
                  <c:v>0.27</c:v>
                </c:pt>
                <c:pt idx="2">
                  <c:v>0.11</c:v>
                </c:pt>
                <c:pt idx="3">
                  <c:v>0.25</c:v>
                </c:pt>
              </c:numCache>
            </c:numRef>
          </c:val>
          <c:extLst>
            <c:ext xmlns:c16="http://schemas.microsoft.com/office/drawing/2014/chart" uri="{C3380CC4-5D6E-409C-BE32-E72D297353CC}">
              <c16:uniqueId val="{00000000-6C77-438F-831C-872EDDF6D9F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egendEntry>
        <c:idx val="4"/>
        <c:delete val="1"/>
      </c:legendEntry>
      <c:legendEntry>
        <c:idx val="5"/>
        <c:delete val="1"/>
      </c:legendEntry>
      <c:legendEntry>
        <c:idx val="6"/>
        <c:delete val="1"/>
      </c:legendEntry>
      <c:layout>
        <c:manualLayout>
          <c:xMode val="edge"/>
          <c:yMode val="edge"/>
          <c:x val="0"/>
          <c:y val="0.60531544110202817"/>
          <c:w val="1"/>
          <c:h val="0.266019898408520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5359830774436068"/>
          <c:y val="3.0404305441173653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775544348446945"/>
          <c:y val="0.17969354922556233"/>
          <c:w val="0.47917826219102372"/>
          <c:h val="0.66268756782342741"/>
        </c:manualLayout>
      </c:layout>
      <c:doughnutChart>
        <c:varyColors val="1"/>
        <c:ser>
          <c:idx val="0"/>
          <c:order val="0"/>
          <c:tx>
            <c:strRef>
              <c:f>Sheet1!$B$1</c:f>
              <c:strCache>
                <c:ptCount val="1"/>
                <c:pt idx="0">
                  <c:v>Sales by Region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3-E3E6-4905-AC34-C58254BC4B70}"/>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E3E6-4905-AC34-C58254BC4B70}"/>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E3E6-4905-AC34-C58254BC4B70}"/>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4-E3E6-4905-AC34-C58254BC4B70}"/>
              </c:ext>
            </c:extLst>
          </c:dPt>
          <c:dLbls>
            <c:dLbl>
              <c:idx val="0"/>
              <c:layout>
                <c:manualLayout>
                  <c:x val="0.11165370567220007"/>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3E6-4905-AC34-C58254BC4B70}"/>
                </c:ext>
              </c:extLst>
            </c:dLbl>
            <c:dLbl>
              <c:idx val="1"/>
              <c:layout>
                <c:manualLayout>
                  <c:x val="6.7668912528605976E-2"/>
                  <c:y val="6.515208308822925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3E6-4905-AC34-C58254BC4B70}"/>
                </c:ext>
              </c:extLst>
            </c:dLbl>
            <c:dLbl>
              <c:idx val="2"/>
              <c:layout>
                <c:manualLayout>
                  <c:x val="-8.7969586287187956E-2"/>
                  <c:y val="1.7373888823527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3E6-4905-AC34-C58254BC4B70}"/>
                </c:ext>
              </c:extLst>
            </c:dLbl>
            <c:dLbl>
              <c:idx val="3"/>
              <c:layout>
                <c:manualLayout>
                  <c:x val="-1.6872736342204389E-2"/>
                  <c:y val="-5.40806792216455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3E6-4905-AC34-C58254BC4B7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North America</c:v>
                </c:pt>
                <c:pt idx="1">
                  <c:v>Asia</c:v>
                </c:pt>
                <c:pt idx="2">
                  <c:v>Europe</c:v>
                </c:pt>
                <c:pt idx="3">
                  <c:v>Rest of the world</c:v>
                </c:pt>
              </c:strCache>
            </c:strRef>
          </c:cat>
          <c:val>
            <c:numRef>
              <c:f>Sheet1!$B$2:$B$5</c:f>
              <c:numCache>
                <c:formatCode>0%</c:formatCode>
                <c:ptCount val="4"/>
                <c:pt idx="0">
                  <c:v>0.74</c:v>
                </c:pt>
                <c:pt idx="1">
                  <c:v>0.11</c:v>
                </c:pt>
                <c:pt idx="2">
                  <c:v>0.14000000000000001</c:v>
                </c:pt>
                <c:pt idx="3">
                  <c:v>0.01</c:v>
                </c:pt>
              </c:numCache>
            </c:numRef>
          </c:val>
          <c:extLst>
            <c:ext xmlns:c16="http://schemas.microsoft.com/office/drawing/2014/chart" uri="{C3380CC4-5D6E-409C-BE32-E72D297353CC}">
              <c16:uniqueId val="{00000000-E3E6-4905-AC34-C58254BC4B70}"/>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32983935584452639"/>
          <c:y val="0.10709014343670888"/>
          <c:w val="0.345410480409716"/>
          <c:h val="0.45813776238308929"/>
        </c:manualLayout>
      </c:layout>
      <c:doughnutChart>
        <c:varyColors val="1"/>
        <c:ser>
          <c:idx val="0"/>
          <c:order val="0"/>
          <c:tx>
            <c:strRef>
              <c:f>Sheet1!$B$1</c:f>
              <c:strCache>
                <c:ptCount val="1"/>
                <c:pt idx="0">
                  <c:v>Sales by end-user market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5-6C77-438F-831C-872EDDF6D9F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1-6C77-438F-831C-872EDDF6D9F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2-6C77-438F-831C-872EDDF6D9F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3-6C77-438F-831C-872EDDF6D9F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4-6C77-438F-831C-872EDDF6D9F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D60D-4462-82D9-16AE16FCAD14}"/>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D60D-4462-82D9-16AE16FCAD14}"/>
              </c:ext>
            </c:extLst>
          </c:dPt>
          <c:dLbls>
            <c:dLbl>
              <c:idx val="0"/>
              <c:layout>
                <c:manualLayout>
                  <c:x val="5.0891920987687772E-2"/>
                  <c:y val="-2.70003513234689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C77-438F-831C-872EDDF6D9F9}"/>
                </c:ext>
              </c:extLst>
            </c:dLbl>
            <c:dLbl>
              <c:idx val="1"/>
              <c:layout>
                <c:manualLayout>
                  <c:x val="-5.0436236796798026E-2"/>
                  <c:y val="7.259168222187935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C77-438F-831C-872EDDF6D9F9}"/>
                </c:ext>
              </c:extLst>
            </c:dLbl>
            <c:dLbl>
              <c:idx val="2"/>
              <c:layout>
                <c:manualLayout>
                  <c:x val="-5.3262287544730003E-2"/>
                  <c:y val="-3.71255151268862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C77-438F-831C-872EDDF6D9F9}"/>
                </c:ext>
              </c:extLst>
            </c:dLbl>
            <c:dLbl>
              <c:idx val="3"/>
              <c:layout>
                <c:manualLayout>
                  <c:x val="-3.4518356307554184E-2"/>
                  <c:y val="-3.91903938300679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C77-438F-831C-872EDDF6D9F9}"/>
                </c:ext>
              </c:extLst>
            </c:dLbl>
            <c:dLbl>
              <c:idx val="4"/>
              <c:layout>
                <c:manualLayout>
                  <c:x val="-3.8168940740765975E-2"/>
                  <c:y val="-4.38755709006371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C77-438F-831C-872EDDF6D9F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3"/>
                <c:pt idx="0">
                  <c:v>Distribution</c:v>
                </c:pt>
                <c:pt idx="1">
                  <c:v>Semicon, telecoms &amp; electronics</c:v>
                </c:pt>
                <c:pt idx="2">
                  <c:v>Others</c:v>
                </c:pt>
              </c:strCache>
            </c:strRef>
          </c:cat>
          <c:val>
            <c:numRef>
              <c:f>Sheet1!$B$2:$B$8</c:f>
              <c:numCache>
                <c:formatCode>0%</c:formatCode>
                <c:ptCount val="7"/>
                <c:pt idx="0">
                  <c:v>0.36</c:v>
                </c:pt>
                <c:pt idx="1">
                  <c:v>0.21</c:v>
                </c:pt>
                <c:pt idx="2">
                  <c:v>0.43</c:v>
                </c:pt>
              </c:numCache>
            </c:numRef>
          </c:val>
          <c:extLst>
            <c:ext xmlns:c16="http://schemas.microsoft.com/office/drawing/2014/chart" uri="{C3380CC4-5D6E-409C-BE32-E72D297353CC}">
              <c16:uniqueId val="{00000000-6C77-438F-831C-872EDDF6D9F9}"/>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egendEntry>
        <c:idx val="3"/>
        <c:delete val="1"/>
      </c:legendEntry>
      <c:legendEntry>
        <c:idx val="4"/>
        <c:delete val="1"/>
      </c:legendEntry>
      <c:legendEntry>
        <c:idx val="5"/>
        <c:delete val="1"/>
      </c:legendEntry>
      <c:legendEntry>
        <c:idx val="6"/>
        <c:delete val="1"/>
      </c:legendEntry>
      <c:layout>
        <c:manualLayout>
          <c:xMode val="edge"/>
          <c:yMode val="edge"/>
          <c:x val="0"/>
          <c:y val="0.61247850024718198"/>
          <c:w val="1"/>
          <c:h val="0.2660198984085206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4DB6B8-93E3-4A23-8335-B8B96F4A7B5C}" type="doc">
      <dgm:prSet loTypeId="urn:microsoft.com/office/officeart/2009/3/layout/BlockDescendingList" loCatId="list" qsTypeId="urn:microsoft.com/office/officeart/2005/8/quickstyle/simple1" qsCatId="simple" csTypeId="urn:microsoft.com/office/officeart/2005/8/colors/accent1_2" csCatId="accent1" phldr="1"/>
      <dgm:spPr/>
      <dgm:t>
        <a:bodyPr/>
        <a:lstStyle/>
        <a:p>
          <a:endParaRPr lang="en-IN"/>
        </a:p>
      </dgm:t>
    </dgm:pt>
    <dgm:pt modelId="{AF97B54F-3BD8-497B-96D7-F0868BD024A6}">
      <dgm:prSet phldrT="[Text]" phldr="1"/>
      <dgm:spPr/>
      <dgm:t>
        <a:bodyPr/>
        <a:lstStyle/>
        <a:p>
          <a:endParaRPr lang="en-IN" dirty="0"/>
        </a:p>
      </dgm:t>
    </dgm:pt>
    <dgm:pt modelId="{3DD71647-98D6-4621-A589-EFF98615B86A}" type="parTrans" cxnId="{3F1DF568-066A-4121-B5E9-CF39D23A6BFA}">
      <dgm:prSet/>
      <dgm:spPr/>
      <dgm:t>
        <a:bodyPr/>
        <a:lstStyle/>
        <a:p>
          <a:endParaRPr lang="en-IN"/>
        </a:p>
      </dgm:t>
    </dgm:pt>
    <dgm:pt modelId="{91F8E6B9-6F3B-496C-AF59-08F2424A3E9F}" type="sibTrans" cxnId="{3F1DF568-066A-4121-B5E9-CF39D23A6BFA}">
      <dgm:prSet/>
      <dgm:spPr/>
      <dgm:t>
        <a:bodyPr/>
        <a:lstStyle/>
        <a:p>
          <a:endParaRPr lang="en-IN"/>
        </a:p>
      </dgm:t>
    </dgm:pt>
    <dgm:pt modelId="{C13A361E-42B9-4074-AD13-831AD832C3BA}">
      <dgm:prSet phldrT="[Text]" phldr="1"/>
      <dgm:spPr/>
      <dgm:t>
        <a:bodyPr/>
        <a:lstStyle/>
        <a:p>
          <a:endParaRPr lang="en-IN" dirty="0"/>
        </a:p>
      </dgm:t>
    </dgm:pt>
    <dgm:pt modelId="{3D6C61B0-4936-4F09-9040-B4DE751357E9}" type="parTrans" cxnId="{D9E26068-14EF-4C56-A199-94845C9A49BE}">
      <dgm:prSet/>
      <dgm:spPr/>
      <dgm:t>
        <a:bodyPr/>
        <a:lstStyle/>
        <a:p>
          <a:endParaRPr lang="en-IN"/>
        </a:p>
      </dgm:t>
    </dgm:pt>
    <dgm:pt modelId="{458D923D-8B3E-4C76-A166-38CDA38A3B26}" type="sibTrans" cxnId="{D9E26068-14EF-4C56-A199-94845C9A49BE}">
      <dgm:prSet/>
      <dgm:spPr/>
      <dgm:t>
        <a:bodyPr/>
        <a:lstStyle/>
        <a:p>
          <a:endParaRPr lang="en-IN"/>
        </a:p>
      </dgm:t>
    </dgm:pt>
    <dgm:pt modelId="{F7B97EE0-849D-4C80-B71E-26300071952D}">
      <dgm:prSet phldrT="[Text]" phldr="1"/>
      <dgm:spPr/>
      <dgm:t>
        <a:bodyPr/>
        <a:lstStyle/>
        <a:p>
          <a:endParaRPr lang="en-IN" dirty="0"/>
        </a:p>
      </dgm:t>
    </dgm:pt>
    <dgm:pt modelId="{9363B090-C0CC-4978-B059-0A7179C6AB64}" type="parTrans" cxnId="{C9D79522-9743-4E1D-89B4-657DC7D587A4}">
      <dgm:prSet/>
      <dgm:spPr/>
      <dgm:t>
        <a:bodyPr/>
        <a:lstStyle/>
        <a:p>
          <a:endParaRPr lang="en-IN"/>
        </a:p>
      </dgm:t>
    </dgm:pt>
    <dgm:pt modelId="{1A6D11BE-D121-4FDA-B0AC-AD01A3200B13}" type="sibTrans" cxnId="{C9D79522-9743-4E1D-89B4-657DC7D587A4}">
      <dgm:prSet/>
      <dgm:spPr/>
      <dgm:t>
        <a:bodyPr/>
        <a:lstStyle/>
        <a:p>
          <a:endParaRPr lang="en-IN"/>
        </a:p>
      </dgm:t>
    </dgm:pt>
    <dgm:pt modelId="{02BD72CF-5795-4F6C-AE5B-703FF15EFC7A}">
      <dgm:prSet phldrT="[Text]" phldr="1"/>
      <dgm:spPr/>
      <dgm:t>
        <a:bodyPr/>
        <a:lstStyle/>
        <a:p>
          <a:endParaRPr lang="en-IN"/>
        </a:p>
      </dgm:t>
    </dgm:pt>
    <dgm:pt modelId="{7C1324EA-9CD3-4BCB-AFB8-20BD31C6C591}" type="parTrans" cxnId="{AB23DC34-1E0D-45B1-A862-E80FCDB5E2B0}">
      <dgm:prSet/>
      <dgm:spPr/>
      <dgm:t>
        <a:bodyPr/>
        <a:lstStyle/>
        <a:p>
          <a:endParaRPr lang="en-IN"/>
        </a:p>
      </dgm:t>
    </dgm:pt>
    <dgm:pt modelId="{6E913A21-B33C-4714-B9AF-8C82E516E464}" type="sibTrans" cxnId="{AB23DC34-1E0D-45B1-A862-E80FCDB5E2B0}">
      <dgm:prSet/>
      <dgm:spPr/>
      <dgm:t>
        <a:bodyPr/>
        <a:lstStyle/>
        <a:p>
          <a:endParaRPr lang="en-IN"/>
        </a:p>
      </dgm:t>
    </dgm:pt>
    <dgm:pt modelId="{4F38D443-2DB3-4B1A-A96D-397AF24582E0}">
      <dgm:prSet phldrT="[Text]" phldr="1"/>
      <dgm:spPr/>
      <dgm:t>
        <a:bodyPr/>
        <a:lstStyle/>
        <a:p>
          <a:endParaRPr lang="en-IN"/>
        </a:p>
      </dgm:t>
    </dgm:pt>
    <dgm:pt modelId="{8BBE4829-7A0E-4BEE-B835-48810651D62D}" type="parTrans" cxnId="{11FB7ECB-5446-4CF1-BC8E-9621626D5FEC}">
      <dgm:prSet/>
      <dgm:spPr/>
      <dgm:t>
        <a:bodyPr/>
        <a:lstStyle/>
        <a:p>
          <a:endParaRPr lang="en-IN"/>
        </a:p>
      </dgm:t>
    </dgm:pt>
    <dgm:pt modelId="{01786336-2EEE-47B4-929B-5A0D3F6402CF}" type="sibTrans" cxnId="{11FB7ECB-5446-4CF1-BC8E-9621626D5FEC}">
      <dgm:prSet/>
      <dgm:spPr/>
      <dgm:t>
        <a:bodyPr/>
        <a:lstStyle/>
        <a:p>
          <a:endParaRPr lang="en-IN"/>
        </a:p>
      </dgm:t>
    </dgm:pt>
    <dgm:pt modelId="{A993C242-5E6B-4B4C-9903-A3411302BCCE}">
      <dgm:prSet phldrT="[Text]" phldr="1"/>
      <dgm:spPr/>
      <dgm:t>
        <a:bodyPr/>
        <a:lstStyle/>
        <a:p>
          <a:endParaRPr lang="en-IN" dirty="0"/>
        </a:p>
      </dgm:t>
    </dgm:pt>
    <dgm:pt modelId="{C8F24B01-2359-4E97-9D53-9F20FEDD3350}" type="parTrans" cxnId="{B2F2E731-FC58-4507-B0BD-73973D53E0C6}">
      <dgm:prSet/>
      <dgm:spPr/>
      <dgm:t>
        <a:bodyPr/>
        <a:lstStyle/>
        <a:p>
          <a:endParaRPr lang="en-IN"/>
        </a:p>
      </dgm:t>
    </dgm:pt>
    <dgm:pt modelId="{DE425960-B7DA-41CE-AC3D-9A93FCBBC51F}" type="sibTrans" cxnId="{B2F2E731-FC58-4507-B0BD-73973D53E0C6}">
      <dgm:prSet/>
      <dgm:spPr/>
      <dgm:t>
        <a:bodyPr/>
        <a:lstStyle/>
        <a:p>
          <a:endParaRPr lang="en-IN"/>
        </a:p>
      </dgm:t>
    </dgm:pt>
    <dgm:pt modelId="{09D51408-D068-4150-857D-614B94D130C0}">
      <dgm:prSet phldrT="[Text]" phldr="1"/>
      <dgm:spPr/>
      <dgm:t>
        <a:bodyPr/>
        <a:lstStyle/>
        <a:p>
          <a:endParaRPr lang="en-IN" dirty="0"/>
        </a:p>
      </dgm:t>
    </dgm:pt>
    <dgm:pt modelId="{DF8C6551-E9C9-4E75-910E-2615D53FFCD9}" type="parTrans" cxnId="{DB4F762C-84F6-4C06-9FB8-0707AECD9787}">
      <dgm:prSet/>
      <dgm:spPr/>
      <dgm:t>
        <a:bodyPr/>
        <a:lstStyle/>
        <a:p>
          <a:endParaRPr lang="en-IN"/>
        </a:p>
      </dgm:t>
    </dgm:pt>
    <dgm:pt modelId="{FAA1E2F8-29A4-4061-A71E-7A742F8D339A}" type="sibTrans" cxnId="{DB4F762C-84F6-4C06-9FB8-0707AECD9787}">
      <dgm:prSet/>
      <dgm:spPr/>
      <dgm:t>
        <a:bodyPr/>
        <a:lstStyle/>
        <a:p>
          <a:endParaRPr lang="en-IN"/>
        </a:p>
      </dgm:t>
    </dgm:pt>
    <dgm:pt modelId="{1A9A4E66-AF99-4BF4-96C7-72B8F34B3B03}">
      <dgm:prSet phldrT="[Text]" phldr="1"/>
      <dgm:spPr/>
      <dgm:t>
        <a:bodyPr/>
        <a:lstStyle/>
        <a:p>
          <a:endParaRPr lang="en-IN" dirty="0"/>
        </a:p>
      </dgm:t>
    </dgm:pt>
    <dgm:pt modelId="{833C1BBC-1CAE-4733-B809-786E6177FE6F}" type="parTrans" cxnId="{301D9D36-9A64-4398-8977-DE6F3A73D066}">
      <dgm:prSet/>
      <dgm:spPr/>
      <dgm:t>
        <a:bodyPr/>
        <a:lstStyle/>
        <a:p>
          <a:endParaRPr lang="en-IN"/>
        </a:p>
      </dgm:t>
    </dgm:pt>
    <dgm:pt modelId="{B2DE8D25-A83C-4EAC-8BCB-3D3CF5B59070}" type="sibTrans" cxnId="{301D9D36-9A64-4398-8977-DE6F3A73D066}">
      <dgm:prSet/>
      <dgm:spPr/>
      <dgm:t>
        <a:bodyPr/>
        <a:lstStyle/>
        <a:p>
          <a:endParaRPr lang="en-IN"/>
        </a:p>
      </dgm:t>
    </dgm:pt>
    <dgm:pt modelId="{7081EA85-D357-42D9-A698-D582CE719DD5}">
      <dgm:prSet phldrT="[Text]" phldr="1"/>
      <dgm:spPr/>
      <dgm:t>
        <a:bodyPr/>
        <a:lstStyle/>
        <a:p>
          <a:endParaRPr lang="en-IN"/>
        </a:p>
      </dgm:t>
    </dgm:pt>
    <dgm:pt modelId="{D06069D4-725D-4B18-AF46-6F6A6D7715F7}" type="sibTrans" cxnId="{BCCFC5CD-3CF5-4C54-8354-151CA66355C7}">
      <dgm:prSet/>
      <dgm:spPr/>
      <dgm:t>
        <a:bodyPr/>
        <a:lstStyle/>
        <a:p>
          <a:endParaRPr lang="en-IN"/>
        </a:p>
      </dgm:t>
    </dgm:pt>
    <dgm:pt modelId="{71568B26-FE29-463C-A2CB-393D32D04EAD}" type="parTrans" cxnId="{BCCFC5CD-3CF5-4C54-8354-151CA66355C7}">
      <dgm:prSet/>
      <dgm:spPr/>
      <dgm:t>
        <a:bodyPr/>
        <a:lstStyle/>
        <a:p>
          <a:endParaRPr lang="en-IN"/>
        </a:p>
      </dgm:t>
    </dgm:pt>
    <dgm:pt modelId="{1390519E-5111-4E3D-AE13-7F1BAD05F9AB}" type="pres">
      <dgm:prSet presAssocID="{C94DB6B8-93E3-4A23-8335-B8B96F4A7B5C}" presName="Name0" presStyleCnt="0">
        <dgm:presLayoutVars>
          <dgm:chMax val="7"/>
          <dgm:chPref val="7"/>
          <dgm:dir/>
          <dgm:animLvl val="lvl"/>
        </dgm:presLayoutVars>
      </dgm:prSet>
      <dgm:spPr/>
    </dgm:pt>
    <dgm:pt modelId="{9BD0A386-3ED9-435E-82F1-33AA83F676DE}" type="pres">
      <dgm:prSet presAssocID="{AF97B54F-3BD8-497B-96D7-F0868BD024A6}" presName="parentText_1" presStyleLbl="node1" presStyleIdx="0" presStyleCnt="3">
        <dgm:presLayoutVars>
          <dgm:chMax val="1"/>
          <dgm:chPref val="1"/>
          <dgm:bulletEnabled val="1"/>
        </dgm:presLayoutVars>
      </dgm:prSet>
      <dgm:spPr/>
    </dgm:pt>
    <dgm:pt modelId="{423A23F2-154E-449F-8642-0365FECDD6D9}" type="pres">
      <dgm:prSet presAssocID="{AF97B54F-3BD8-497B-96D7-F0868BD024A6}" presName="childText_1" presStyleLbl="node1" presStyleIdx="0" presStyleCnt="3">
        <dgm:presLayoutVars>
          <dgm:chMax val="0"/>
          <dgm:chPref val="0"/>
          <dgm:bulletEnabled val="1"/>
        </dgm:presLayoutVars>
      </dgm:prSet>
      <dgm:spPr/>
    </dgm:pt>
    <dgm:pt modelId="{710AAB4E-EE15-444A-A9ED-346237483B7D}" type="pres">
      <dgm:prSet presAssocID="{AF97B54F-3BD8-497B-96D7-F0868BD024A6}" presName="accentShape_1" presStyleCnt="0"/>
      <dgm:spPr/>
    </dgm:pt>
    <dgm:pt modelId="{D6A57B1C-59ED-499E-906F-A4BD26A49D8A}" type="pres">
      <dgm:prSet presAssocID="{AF97B54F-3BD8-497B-96D7-F0868BD024A6}" presName="imageRepeatNode" presStyleLbl="node1" presStyleIdx="0" presStyleCnt="3" custScaleX="67373"/>
      <dgm:spPr/>
    </dgm:pt>
    <dgm:pt modelId="{25E07129-AA9D-4606-9371-F6B8A00CE860}" type="pres">
      <dgm:prSet presAssocID="{02BD72CF-5795-4F6C-AE5B-703FF15EFC7A}" presName="parentText_2" presStyleLbl="node1" presStyleIdx="0" presStyleCnt="3">
        <dgm:presLayoutVars>
          <dgm:chMax val="1"/>
          <dgm:chPref val="1"/>
          <dgm:bulletEnabled val="1"/>
        </dgm:presLayoutVars>
      </dgm:prSet>
      <dgm:spPr/>
    </dgm:pt>
    <dgm:pt modelId="{09E5C4F3-2256-47C3-BC90-6F67A6C8CA33}" type="pres">
      <dgm:prSet presAssocID="{02BD72CF-5795-4F6C-AE5B-703FF15EFC7A}" presName="childText_2" presStyleLbl="node2" presStyleIdx="0" presStyleCnt="0" custScaleY="73966">
        <dgm:presLayoutVars>
          <dgm:chMax val="0"/>
          <dgm:chPref val="0"/>
          <dgm:bulletEnabled val="1"/>
        </dgm:presLayoutVars>
      </dgm:prSet>
      <dgm:spPr/>
    </dgm:pt>
    <dgm:pt modelId="{DD35C6D2-E5A5-4238-BF2D-EB08A7EE13A3}" type="pres">
      <dgm:prSet presAssocID="{02BD72CF-5795-4F6C-AE5B-703FF15EFC7A}" presName="accentShape_2" presStyleCnt="0"/>
      <dgm:spPr/>
    </dgm:pt>
    <dgm:pt modelId="{13096486-5BB4-49BD-AB46-8049C7307D3A}" type="pres">
      <dgm:prSet presAssocID="{02BD72CF-5795-4F6C-AE5B-703FF15EFC7A}" presName="imageRepeatNode" presStyleLbl="node1" presStyleIdx="1" presStyleCnt="3" custScaleX="64817"/>
      <dgm:spPr/>
    </dgm:pt>
    <dgm:pt modelId="{84491D15-3086-4313-975C-B598C144FE0C}" type="pres">
      <dgm:prSet presAssocID="{7081EA85-D357-42D9-A698-D582CE719DD5}" presName="parentText_3" presStyleLbl="node1" presStyleIdx="1" presStyleCnt="3">
        <dgm:presLayoutVars>
          <dgm:chMax val="1"/>
          <dgm:chPref val="1"/>
          <dgm:bulletEnabled val="1"/>
        </dgm:presLayoutVars>
      </dgm:prSet>
      <dgm:spPr/>
    </dgm:pt>
    <dgm:pt modelId="{FC7E703E-548C-4D6D-BFB1-F1FE4C4CEEAE}" type="pres">
      <dgm:prSet presAssocID="{7081EA85-D357-42D9-A698-D582CE719DD5}" presName="childText_3" presStyleLbl="node2" presStyleIdx="0" presStyleCnt="0">
        <dgm:presLayoutVars>
          <dgm:chMax val="0"/>
          <dgm:chPref val="0"/>
          <dgm:bulletEnabled val="1"/>
        </dgm:presLayoutVars>
      </dgm:prSet>
      <dgm:spPr/>
    </dgm:pt>
    <dgm:pt modelId="{BA400B6F-F994-4E6E-9A28-BB51A5408E14}" type="pres">
      <dgm:prSet presAssocID="{7081EA85-D357-42D9-A698-D582CE719DD5}" presName="accentShape_3" presStyleCnt="0"/>
      <dgm:spPr/>
    </dgm:pt>
    <dgm:pt modelId="{B0403D12-F040-42C8-B1C1-564317BD4D82}" type="pres">
      <dgm:prSet presAssocID="{7081EA85-D357-42D9-A698-D582CE719DD5}" presName="imageRepeatNode" presStyleLbl="node1" presStyleIdx="2" presStyleCnt="3" custScaleX="72375"/>
      <dgm:spPr/>
    </dgm:pt>
  </dgm:ptLst>
  <dgm:cxnLst>
    <dgm:cxn modelId="{DB7A5D15-7DF0-41F3-B3DB-95B9F462E869}" type="presOf" srcId="{7081EA85-D357-42D9-A698-D582CE719DD5}" destId="{84491D15-3086-4313-975C-B598C144FE0C}" srcOrd="0" destOrd="0" presId="urn:microsoft.com/office/officeart/2009/3/layout/BlockDescendingList"/>
    <dgm:cxn modelId="{C9D79522-9743-4E1D-89B4-657DC7D587A4}" srcId="{AF97B54F-3BD8-497B-96D7-F0868BD024A6}" destId="{F7B97EE0-849D-4C80-B71E-26300071952D}" srcOrd="1" destOrd="0" parTransId="{9363B090-C0CC-4978-B059-0A7179C6AB64}" sibTransId="{1A6D11BE-D121-4FDA-B0AC-AD01A3200B13}"/>
    <dgm:cxn modelId="{DB4F762C-84F6-4C06-9FB8-0707AECD9787}" srcId="{7081EA85-D357-42D9-A698-D582CE719DD5}" destId="{09D51408-D068-4150-857D-614B94D130C0}" srcOrd="0" destOrd="0" parTransId="{DF8C6551-E9C9-4E75-910E-2615D53FFCD9}" sibTransId="{FAA1E2F8-29A4-4061-A71E-7A742F8D339A}"/>
    <dgm:cxn modelId="{B2F2E731-FC58-4507-B0BD-73973D53E0C6}" srcId="{02BD72CF-5795-4F6C-AE5B-703FF15EFC7A}" destId="{A993C242-5E6B-4B4C-9903-A3411302BCCE}" srcOrd="1" destOrd="0" parTransId="{C8F24B01-2359-4E97-9D53-9F20FEDD3350}" sibTransId="{DE425960-B7DA-41CE-AC3D-9A93FCBBC51F}"/>
    <dgm:cxn modelId="{AB23DC34-1E0D-45B1-A862-E80FCDB5E2B0}" srcId="{C94DB6B8-93E3-4A23-8335-B8B96F4A7B5C}" destId="{02BD72CF-5795-4F6C-AE5B-703FF15EFC7A}" srcOrd="1" destOrd="0" parTransId="{7C1324EA-9CD3-4BCB-AFB8-20BD31C6C591}" sibTransId="{6E913A21-B33C-4714-B9AF-8C82E516E464}"/>
    <dgm:cxn modelId="{301D9D36-9A64-4398-8977-DE6F3A73D066}" srcId="{7081EA85-D357-42D9-A698-D582CE719DD5}" destId="{1A9A4E66-AF99-4BF4-96C7-72B8F34B3B03}" srcOrd="1" destOrd="0" parTransId="{833C1BBC-1CAE-4733-B809-786E6177FE6F}" sibTransId="{B2DE8D25-A83C-4EAC-8BCB-3D3CF5B59070}"/>
    <dgm:cxn modelId="{ECD8E245-7EDE-41EA-BB08-74229717617F}" type="presOf" srcId="{7081EA85-D357-42D9-A698-D582CE719DD5}" destId="{B0403D12-F040-42C8-B1C1-564317BD4D82}" srcOrd="1" destOrd="0" presId="urn:microsoft.com/office/officeart/2009/3/layout/BlockDescendingList"/>
    <dgm:cxn modelId="{D9E26068-14EF-4C56-A199-94845C9A49BE}" srcId="{AF97B54F-3BD8-497B-96D7-F0868BD024A6}" destId="{C13A361E-42B9-4074-AD13-831AD832C3BA}" srcOrd="0" destOrd="0" parTransId="{3D6C61B0-4936-4F09-9040-B4DE751357E9}" sibTransId="{458D923D-8B3E-4C76-A166-38CDA38A3B26}"/>
    <dgm:cxn modelId="{3F1DF568-066A-4121-B5E9-CF39D23A6BFA}" srcId="{C94DB6B8-93E3-4A23-8335-B8B96F4A7B5C}" destId="{AF97B54F-3BD8-497B-96D7-F0868BD024A6}" srcOrd="0" destOrd="0" parTransId="{3DD71647-98D6-4621-A589-EFF98615B86A}" sibTransId="{91F8E6B9-6F3B-496C-AF59-08F2424A3E9F}"/>
    <dgm:cxn modelId="{8A99804E-E1FF-4751-A441-D9459C4EFA5F}" type="presOf" srcId="{F7B97EE0-849D-4C80-B71E-26300071952D}" destId="{423A23F2-154E-449F-8642-0365FECDD6D9}" srcOrd="0" destOrd="1" presId="urn:microsoft.com/office/officeart/2009/3/layout/BlockDescendingList"/>
    <dgm:cxn modelId="{88A78454-939C-423F-8C35-4EA43B4E073F}" type="presOf" srcId="{C13A361E-42B9-4074-AD13-831AD832C3BA}" destId="{423A23F2-154E-449F-8642-0365FECDD6D9}" srcOrd="0" destOrd="0" presId="urn:microsoft.com/office/officeart/2009/3/layout/BlockDescendingList"/>
    <dgm:cxn modelId="{B4F0EF7F-80FA-487E-A385-78D9D5754993}" type="presOf" srcId="{AF97B54F-3BD8-497B-96D7-F0868BD024A6}" destId="{9BD0A386-3ED9-435E-82F1-33AA83F676DE}" srcOrd="0" destOrd="0" presId="urn:microsoft.com/office/officeart/2009/3/layout/BlockDescendingList"/>
    <dgm:cxn modelId="{6E9FC386-0BD6-42F4-A3D3-113C8E4AD7C8}" type="presOf" srcId="{02BD72CF-5795-4F6C-AE5B-703FF15EFC7A}" destId="{25E07129-AA9D-4606-9371-F6B8A00CE860}" srcOrd="0" destOrd="0" presId="urn:microsoft.com/office/officeart/2009/3/layout/BlockDescendingList"/>
    <dgm:cxn modelId="{674B058E-3469-444A-B545-3DEB8EA05EA7}" type="presOf" srcId="{C94DB6B8-93E3-4A23-8335-B8B96F4A7B5C}" destId="{1390519E-5111-4E3D-AE13-7F1BAD05F9AB}" srcOrd="0" destOrd="0" presId="urn:microsoft.com/office/officeart/2009/3/layout/BlockDescendingList"/>
    <dgm:cxn modelId="{1377B898-AF97-4F43-9322-4A4610D78687}" type="presOf" srcId="{02BD72CF-5795-4F6C-AE5B-703FF15EFC7A}" destId="{13096486-5BB4-49BD-AB46-8049C7307D3A}" srcOrd="1" destOrd="0" presId="urn:microsoft.com/office/officeart/2009/3/layout/BlockDescendingList"/>
    <dgm:cxn modelId="{2FF152BB-9817-4117-98CE-8C312F34A7FD}" type="presOf" srcId="{1A9A4E66-AF99-4BF4-96C7-72B8F34B3B03}" destId="{FC7E703E-548C-4D6D-BFB1-F1FE4C4CEEAE}" srcOrd="0" destOrd="1" presId="urn:microsoft.com/office/officeart/2009/3/layout/BlockDescendingList"/>
    <dgm:cxn modelId="{A81E71BE-2E86-4FCC-A16C-05341E3E6722}" type="presOf" srcId="{AF97B54F-3BD8-497B-96D7-F0868BD024A6}" destId="{D6A57B1C-59ED-499E-906F-A4BD26A49D8A}" srcOrd="1" destOrd="0" presId="urn:microsoft.com/office/officeart/2009/3/layout/BlockDescendingList"/>
    <dgm:cxn modelId="{11FB7ECB-5446-4CF1-BC8E-9621626D5FEC}" srcId="{02BD72CF-5795-4F6C-AE5B-703FF15EFC7A}" destId="{4F38D443-2DB3-4B1A-A96D-397AF24582E0}" srcOrd="0" destOrd="0" parTransId="{8BBE4829-7A0E-4BEE-B835-48810651D62D}" sibTransId="{01786336-2EEE-47B4-929B-5A0D3F6402CF}"/>
    <dgm:cxn modelId="{BCCFC5CD-3CF5-4C54-8354-151CA66355C7}" srcId="{C94DB6B8-93E3-4A23-8335-B8B96F4A7B5C}" destId="{7081EA85-D357-42D9-A698-D582CE719DD5}" srcOrd="2" destOrd="0" parTransId="{71568B26-FE29-463C-A2CB-393D32D04EAD}" sibTransId="{D06069D4-725D-4B18-AF46-6F6A6D7715F7}"/>
    <dgm:cxn modelId="{15EF0AD5-1EE2-40F6-8706-4AA98F891422}" type="presOf" srcId="{09D51408-D068-4150-857D-614B94D130C0}" destId="{FC7E703E-548C-4D6D-BFB1-F1FE4C4CEEAE}" srcOrd="0" destOrd="0" presId="urn:microsoft.com/office/officeart/2009/3/layout/BlockDescendingList"/>
    <dgm:cxn modelId="{08F36CE4-D03A-40FD-9A62-731C4BA77577}" type="presOf" srcId="{A993C242-5E6B-4B4C-9903-A3411302BCCE}" destId="{09E5C4F3-2256-47C3-BC90-6F67A6C8CA33}" srcOrd="0" destOrd="1" presId="urn:microsoft.com/office/officeart/2009/3/layout/BlockDescendingList"/>
    <dgm:cxn modelId="{B54D26F7-5965-46BB-80B6-9F8094A12531}" type="presOf" srcId="{4F38D443-2DB3-4B1A-A96D-397AF24582E0}" destId="{09E5C4F3-2256-47C3-BC90-6F67A6C8CA33}" srcOrd="0" destOrd="0" presId="urn:microsoft.com/office/officeart/2009/3/layout/BlockDescendingList"/>
    <dgm:cxn modelId="{B5D68465-65BD-40B9-93AC-51F14C357894}" type="presParOf" srcId="{1390519E-5111-4E3D-AE13-7F1BAD05F9AB}" destId="{9BD0A386-3ED9-435E-82F1-33AA83F676DE}" srcOrd="0" destOrd="0" presId="urn:microsoft.com/office/officeart/2009/3/layout/BlockDescendingList"/>
    <dgm:cxn modelId="{32FBC03A-D83E-4099-97FD-79C55FEEECEB}" type="presParOf" srcId="{1390519E-5111-4E3D-AE13-7F1BAD05F9AB}" destId="{423A23F2-154E-449F-8642-0365FECDD6D9}" srcOrd="1" destOrd="0" presId="urn:microsoft.com/office/officeart/2009/3/layout/BlockDescendingList"/>
    <dgm:cxn modelId="{CA4851BB-4222-4E86-BE6A-DD7246B7D31E}" type="presParOf" srcId="{1390519E-5111-4E3D-AE13-7F1BAD05F9AB}" destId="{710AAB4E-EE15-444A-A9ED-346237483B7D}" srcOrd="2" destOrd="0" presId="urn:microsoft.com/office/officeart/2009/3/layout/BlockDescendingList"/>
    <dgm:cxn modelId="{F6279F85-9BC3-48BD-AF14-9374E53D99E3}" type="presParOf" srcId="{710AAB4E-EE15-444A-A9ED-346237483B7D}" destId="{D6A57B1C-59ED-499E-906F-A4BD26A49D8A}" srcOrd="0" destOrd="0" presId="urn:microsoft.com/office/officeart/2009/3/layout/BlockDescendingList"/>
    <dgm:cxn modelId="{7E2D06CB-CA4B-4ECA-B819-EBF66D620B3D}" type="presParOf" srcId="{1390519E-5111-4E3D-AE13-7F1BAD05F9AB}" destId="{25E07129-AA9D-4606-9371-F6B8A00CE860}" srcOrd="3" destOrd="0" presId="urn:microsoft.com/office/officeart/2009/3/layout/BlockDescendingList"/>
    <dgm:cxn modelId="{45B80D4E-43D2-4E10-A375-3678211634BA}" type="presParOf" srcId="{1390519E-5111-4E3D-AE13-7F1BAD05F9AB}" destId="{09E5C4F3-2256-47C3-BC90-6F67A6C8CA33}" srcOrd="4" destOrd="0" presId="urn:microsoft.com/office/officeart/2009/3/layout/BlockDescendingList"/>
    <dgm:cxn modelId="{6BCA5390-209C-473D-8E84-653B3107E7DB}" type="presParOf" srcId="{1390519E-5111-4E3D-AE13-7F1BAD05F9AB}" destId="{DD35C6D2-E5A5-4238-BF2D-EB08A7EE13A3}" srcOrd="5" destOrd="0" presId="urn:microsoft.com/office/officeart/2009/3/layout/BlockDescendingList"/>
    <dgm:cxn modelId="{582622A7-EFB3-474F-BA24-AAB2C70FE7B9}" type="presParOf" srcId="{DD35C6D2-E5A5-4238-BF2D-EB08A7EE13A3}" destId="{13096486-5BB4-49BD-AB46-8049C7307D3A}" srcOrd="0" destOrd="0" presId="urn:microsoft.com/office/officeart/2009/3/layout/BlockDescendingList"/>
    <dgm:cxn modelId="{C187E34C-DC5E-4022-9F0F-97721C7F0593}" type="presParOf" srcId="{1390519E-5111-4E3D-AE13-7F1BAD05F9AB}" destId="{84491D15-3086-4313-975C-B598C144FE0C}" srcOrd="6" destOrd="0" presId="urn:microsoft.com/office/officeart/2009/3/layout/BlockDescendingList"/>
    <dgm:cxn modelId="{06B57CC8-FC2E-4FCA-944B-51C94BF4A41E}" type="presParOf" srcId="{1390519E-5111-4E3D-AE13-7F1BAD05F9AB}" destId="{FC7E703E-548C-4D6D-BFB1-F1FE4C4CEEAE}" srcOrd="7" destOrd="0" presId="urn:microsoft.com/office/officeart/2009/3/layout/BlockDescendingList"/>
    <dgm:cxn modelId="{B041DC9A-BAC4-4F9A-8C1C-9B026688F78B}" type="presParOf" srcId="{1390519E-5111-4E3D-AE13-7F1BAD05F9AB}" destId="{BA400B6F-F994-4E6E-9A28-BB51A5408E14}" srcOrd="8" destOrd="0" presId="urn:microsoft.com/office/officeart/2009/3/layout/BlockDescendingList"/>
    <dgm:cxn modelId="{F016B8C5-5938-41C5-A0B8-D54DCFD20BAA}" type="presParOf" srcId="{BA400B6F-F994-4E6E-9A28-BB51A5408E14}" destId="{B0403D12-F040-42C8-B1C1-564317BD4D82}" srcOrd="0" destOrd="0" presId="urn:microsoft.com/office/officeart/2009/3/layout/BlockDescending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03D12-F040-42C8-B1C1-564317BD4D82}">
      <dsp:nvSpPr>
        <dsp:cNvPr id="0" name=""/>
        <dsp:cNvSpPr/>
      </dsp:nvSpPr>
      <dsp:spPr>
        <a:xfrm>
          <a:off x="617472" y="229323"/>
          <a:ext cx="172781" cy="4542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0" rIns="28575" bIns="6350" numCol="1" spcCol="1270" anchor="ctr" anchorCtr="0">
          <a:noAutofit/>
        </a:bodyPr>
        <a:lstStyle/>
        <a:p>
          <a:pPr marL="0" lvl="0" indent="0" algn="r" defTabSz="222250">
            <a:lnSpc>
              <a:spcPct val="90000"/>
            </a:lnSpc>
            <a:spcBef>
              <a:spcPct val="0"/>
            </a:spcBef>
            <a:spcAft>
              <a:spcPct val="35000"/>
            </a:spcAft>
            <a:buNone/>
          </a:pPr>
          <a:endParaRPr lang="en-IN" sz="500" kern="1200"/>
        </a:p>
      </dsp:txBody>
      <dsp:txXfrm rot="16200000">
        <a:off x="559135" y="411252"/>
        <a:ext cx="408780" cy="44923"/>
      </dsp:txXfrm>
    </dsp:sp>
    <dsp:sp modelId="{13096486-5BB4-49BD-AB46-8049C7307D3A}">
      <dsp:nvSpPr>
        <dsp:cNvPr id="0" name=""/>
        <dsp:cNvSpPr/>
      </dsp:nvSpPr>
      <dsp:spPr>
        <a:xfrm>
          <a:off x="366417" y="152704"/>
          <a:ext cx="154738" cy="530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0" rIns="28575" bIns="6350" numCol="1" spcCol="1270" anchor="ctr" anchorCtr="0">
          <a:noAutofit/>
        </a:bodyPr>
        <a:lstStyle/>
        <a:p>
          <a:pPr marL="0" lvl="0" indent="0" algn="r" defTabSz="222250">
            <a:lnSpc>
              <a:spcPct val="90000"/>
            </a:lnSpc>
            <a:spcBef>
              <a:spcPct val="0"/>
            </a:spcBef>
            <a:spcAft>
              <a:spcPct val="35000"/>
            </a:spcAft>
            <a:buNone/>
          </a:pPr>
          <a:endParaRPr lang="en-IN" sz="500" kern="1200"/>
        </a:p>
      </dsp:txBody>
      <dsp:txXfrm rot="16200000">
        <a:off x="258458" y="371348"/>
        <a:ext cx="477519" cy="40231"/>
      </dsp:txXfrm>
    </dsp:sp>
    <dsp:sp modelId="{D6A57B1C-59ED-499E-906F-A4BD26A49D8A}">
      <dsp:nvSpPr>
        <dsp:cNvPr id="0" name=""/>
        <dsp:cNvSpPr/>
      </dsp:nvSpPr>
      <dsp:spPr>
        <a:xfrm>
          <a:off x="102521" y="80507"/>
          <a:ext cx="160840" cy="6027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0" rIns="28575" bIns="6350" numCol="1" spcCol="1270" anchor="ctr" anchorCtr="0">
          <a:noAutofit/>
        </a:bodyPr>
        <a:lstStyle/>
        <a:p>
          <a:pPr marL="0" lvl="0" indent="0" algn="r" defTabSz="222250">
            <a:lnSpc>
              <a:spcPct val="90000"/>
            </a:lnSpc>
            <a:spcBef>
              <a:spcPct val="0"/>
            </a:spcBef>
            <a:spcAft>
              <a:spcPct val="35000"/>
            </a:spcAft>
            <a:buNone/>
          </a:pPr>
          <a:endParaRPr lang="en-IN" sz="500" kern="1200" dirty="0"/>
        </a:p>
      </dsp:txBody>
      <dsp:txXfrm rot="16200000">
        <a:off x="-32767" y="330846"/>
        <a:ext cx="542497" cy="41818"/>
      </dsp:txXfrm>
    </dsp:sp>
    <dsp:sp modelId="{423A23F2-154E-449F-8642-0365FECDD6D9}">
      <dsp:nvSpPr>
        <dsp:cNvPr id="0" name=""/>
        <dsp:cNvSpPr/>
      </dsp:nvSpPr>
      <dsp:spPr>
        <a:xfrm>
          <a:off x="63576" y="80507"/>
          <a:ext cx="169498" cy="60568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en-IN" sz="500" kern="1200" dirty="0"/>
        </a:p>
        <a:p>
          <a:pPr marL="0" lvl="0" indent="0" algn="l" defTabSz="222250">
            <a:lnSpc>
              <a:spcPct val="90000"/>
            </a:lnSpc>
            <a:spcBef>
              <a:spcPct val="0"/>
            </a:spcBef>
            <a:spcAft>
              <a:spcPct val="35000"/>
            </a:spcAft>
            <a:buNone/>
          </a:pPr>
          <a:endParaRPr lang="en-IN" sz="500" kern="1200" dirty="0"/>
        </a:p>
      </dsp:txBody>
      <dsp:txXfrm>
        <a:off x="63576" y="80507"/>
        <a:ext cx="169498" cy="605682"/>
      </dsp:txXfrm>
    </dsp:sp>
    <dsp:sp modelId="{09E5C4F3-2256-47C3-BC90-6F67A6C8CA33}">
      <dsp:nvSpPr>
        <dsp:cNvPr id="0" name=""/>
        <dsp:cNvSpPr/>
      </dsp:nvSpPr>
      <dsp:spPr>
        <a:xfrm>
          <a:off x="324421" y="222148"/>
          <a:ext cx="169498" cy="394597"/>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en-IN" sz="500" kern="1200"/>
        </a:p>
        <a:p>
          <a:pPr marL="0" lvl="0" indent="0" algn="l" defTabSz="222250">
            <a:lnSpc>
              <a:spcPct val="90000"/>
            </a:lnSpc>
            <a:spcBef>
              <a:spcPct val="0"/>
            </a:spcBef>
            <a:spcAft>
              <a:spcPct val="35000"/>
            </a:spcAft>
            <a:buNone/>
          </a:pPr>
          <a:endParaRPr lang="en-IN" sz="500" kern="1200" dirty="0"/>
        </a:p>
      </dsp:txBody>
      <dsp:txXfrm>
        <a:off x="324421" y="222148"/>
        <a:ext cx="169498" cy="394597"/>
      </dsp:txXfrm>
    </dsp:sp>
    <dsp:sp modelId="{FC7E703E-548C-4D6D-BFB1-F1FE4C4CEEAE}">
      <dsp:nvSpPr>
        <dsp:cNvPr id="0" name=""/>
        <dsp:cNvSpPr/>
      </dsp:nvSpPr>
      <dsp:spPr>
        <a:xfrm>
          <a:off x="584497" y="229323"/>
          <a:ext cx="169498" cy="45686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endParaRPr lang="en-IN" sz="500" kern="1200" dirty="0"/>
        </a:p>
        <a:p>
          <a:pPr marL="0" lvl="0" indent="0" algn="l" defTabSz="222250">
            <a:lnSpc>
              <a:spcPct val="90000"/>
            </a:lnSpc>
            <a:spcBef>
              <a:spcPct val="0"/>
            </a:spcBef>
            <a:spcAft>
              <a:spcPct val="35000"/>
            </a:spcAft>
            <a:buNone/>
          </a:pPr>
          <a:endParaRPr lang="en-IN" sz="500" kern="1200" dirty="0"/>
        </a:p>
      </dsp:txBody>
      <dsp:txXfrm>
        <a:off x="584497" y="229323"/>
        <a:ext cx="169498" cy="456865"/>
      </dsp:txXfrm>
    </dsp:sp>
  </dsp:spTree>
</dsp:drawing>
</file>

<file path=ppt/diagrams/layout1.xml><?xml version="1.0" encoding="utf-8"?>
<dgm:layoutDef xmlns:dgm="http://schemas.openxmlformats.org/drawingml/2006/diagram" xmlns:a="http://schemas.openxmlformats.org/drawingml/2006/main" uniqueId="urn:microsoft.com/office/officeart/2009/3/layout/BlockDescendingList">
  <dgm:title val=""/>
  <dgm:desc val=""/>
  <dgm:catLst>
    <dgm:cat type="list" pri="185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13" srcId="10" destId="11" srcOrd="0" destOrd="0"/>
        <dgm:cxn modelId="14" srcId="10" destId="12" srcOrd="0" destOrd="0"/>
        <dgm:cxn modelId="50" srcId="0" destId="20" srcOrd="1" destOrd="0"/>
        <dgm:cxn modelId="23" srcId="20" destId="21" srcOrd="0" destOrd="0"/>
        <dgm:cxn modelId="24" srcId="20" destId="22" srcOrd="0" destOrd="0"/>
        <dgm:cxn modelId="60" srcId="0" destId="30" srcOrd="2" destOrd="0"/>
        <dgm:cxn modelId="33" srcId="30" destId="31" srcOrd="0" destOrd="0"/>
        <dgm:cxn modelId="34" srcId="30" destId="32"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70">
          <dgm:prSet phldr="1"/>
        </dgm:pt>
      </dgm:ptLst>
      <dgm:cxnLst>
        <dgm:cxn modelId="40" srcId="0" destId="10" srcOrd="0" destOrd="0"/>
        <dgm:cxn modelId="50" srcId="0" destId="20" srcOrd="1" destOrd="0"/>
        <dgm:cxn modelId="60" srcId="0" destId="30" srcOrd="2" destOrd="0"/>
        <dgm:cxn modelId="80" srcId="0" destId="7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axis="ch" ptType="node" func="cnt" op="equ" val="1">
        <dgm:alg type="composite">
          <dgm:param type="ar" val="0.5516"/>
        </dgm:alg>
        <dgm:choose name="Name3">
          <dgm:if name="Name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if>
          <dgm:else name="Name5">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else>
        </dgm:choose>
      </dgm:if>
      <dgm:if name="Name6" axis="ch" ptType="node" func="cnt" op="equ" val="2">
        <dgm:alg type="composite">
          <dgm:param type="ar" val="0.9804"/>
        </dgm:alg>
        <dgm:choose name="Name7">
          <dgm:if name="Name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2" refType="w" fact="0.4393"/>
              <dgm:constr type="t" for="ch" forName="accentShape_2" refType="h" fact="0.1192"/>
              <dgm:constr type="w" for="ch" forName="accentShape_2" refType="w" fact="0.4021"/>
              <dgm:constr type="h" for="ch" forName="accentShape_2" refType="h" fact="0.876"/>
              <dgm:constr type="l" for="ch" forName="accentShape_1" refType="w" fact="0"/>
              <dgm:constr type="t" for="ch" forName="accentShape_1" refType="h" fact="0"/>
              <dgm:constr type="w" for="ch" forName="accentShape_1" refType="w" fact="0.4021"/>
              <dgm:constr type="h" for="ch" forName="accentShape_1" refType="h" fact="0.9952"/>
              <dgm:constr type="l" for="ch" forName="parentText_1" refType="w" fact="0.2946"/>
              <dgm:constr type="t" for="ch" forName="parentText_1" refType="h" fact="0"/>
              <dgm:constr type="w" for="ch" forName="parentText_1" refType="w" refFor="ch" refForName="accentShape_1" fact="0.26"/>
              <dgm:constr type="h" for="ch" forName="parentText_1" refType="h" fact="0.78"/>
              <dgm:constr type="l" for="ch" forName="parentText_2" refType="w" fact="0.7339"/>
              <dgm:constr type="t" for="ch" forName="parentText_2" refType="h" fact="0.1192"/>
              <dgm:constr type="w" for="ch" forName="parentText_2" refType="w" refFor="ch" refForName="accentShape_1" fact="0.26"/>
              <dgm:constr type="h" for="ch" forName="parentText_2"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4393"/>
              <dgm:constr type="t" for="ch" forName="childText_2" refType="h" fact="0.1192"/>
              <dgm:constr type="w" for="ch" forName="childText_2" refType="w" refFor="ch" refForName="accentShape_2" fact="0.71"/>
              <dgm:constr type="h" for="ch" forName="childText_2" refType="h" fact="0.8808"/>
            </dgm:constrLst>
          </dgm:if>
          <dgm:else name="Name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1" refType="w" fact="0.4393"/>
              <dgm:constr type="t" for="ch" forName="accentShape_2" refType="h" fact="0.1192"/>
              <dgm:constr type="w" for="ch" forName="accentShape_2" refType="w" fact="0.4021"/>
              <dgm:constr type="h" for="ch" forName="accentShape_2" refType="h" fact="0.876"/>
              <dgm:constr type="l" for="ch" forName="accentShape_2" refType="w" fact="0"/>
              <dgm:constr type="t" for="ch" forName="accentShape_1" refType="h" fact="0"/>
              <dgm:constr type="w" for="ch" forName="accentShape_1" refType="w" fact="0.4021"/>
              <dgm:constr type="h" for="ch" forName="accentShape_1" refType="h" fact="0.9952"/>
              <dgm:constr type="l" for="ch" forName="parentText_2" refType="w" fact="0.2946"/>
              <dgm:constr type="t" for="ch" forName="parentText_1" refType="h" fact="0"/>
              <dgm:constr type="w" for="ch" forName="parentText_1" refType="w" refFor="ch" refForName="accentShape_1" fact="0.26"/>
              <dgm:constr type="h" for="ch" forName="parentText_1" refType="h" fact="0.78"/>
              <dgm:constr type="l" for="ch" forName="parentText_1" refType="w" fact="0.7339"/>
              <dgm:constr type="t" for="ch" forName="parentText_2" refType="h" fact="0.1192"/>
              <dgm:constr type="w" for="ch" forName="parentText_2" refType="w" refFor="ch" refForName="accentShape_1" fact="0.26"/>
              <dgm:constr type="h" for="ch" forName="parentText_2" refType="h" fact="0.78"/>
              <dgm:constr type="l" for="ch" forName="childText_2" refType="w" fact="0"/>
              <dgm:constr type="t" for="ch" forName="childText_1" refType="h" fact="0"/>
              <dgm:constr type="w" for="ch" forName="childText_1" refType="w" refFor="ch" refForName="accentShape_1" fact="0.71"/>
              <dgm:constr type="h" for="ch" forName="childText_1" refType="h"/>
              <dgm:constr type="l" for="ch" forName="childText_1" refType="w" fact="0.4393"/>
              <dgm:constr type="t" for="ch" forName="childText_2" refType="h" fact="0.1192"/>
              <dgm:constr type="w" for="ch" forName="childText_2" refType="w" refFor="ch" refForName="accentShape_2" fact="0.71"/>
              <dgm:constr type="h" for="ch" forName="childText_2" refType="h" fact="0.8808"/>
            </dgm:constrLst>
          </dgm:else>
        </dgm:choose>
      </dgm:if>
      <dgm:if name="Name10" axis="ch" ptType="node" func="cnt" op="equ" val="3">
        <dgm:alg type="composite">
          <dgm:param type="ar" val="1.4097"/>
        </dgm:alg>
        <dgm:choose name="Name11">
          <dgm:if name="Name12"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1"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3" refType="w" fact="0.6101"/>
              <dgm:constr type="t" for="ch" forName="accentShape_3" refType="h" fact="0.2457"/>
              <dgm:constr type="w" for="ch" forName="accentShape_3" refType="w" fact="0.2796"/>
              <dgm:constr type="h" for="ch" forName="accentShape_3" refType="h" fact="0.7499"/>
              <dgm:constr type="l" for="ch" forName="parentText_1"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3" refType="w" fact="0.6101"/>
              <dgm:constr type="t" for="ch" forName="childText_3" refType="h" fact="0.2457"/>
              <dgm:constr type="w" for="ch" forName="childText_3" refType="w" refFor="ch" refForName="accentShape_3" fact="0.71"/>
              <dgm:constr type="h" for="ch" forName="childText_3" refType="h" fact="0.7543"/>
            </dgm:constrLst>
          </dgm:if>
          <dgm:else name="Name13">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3"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1" refType="w" fact="0.6101"/>
              <dgm:constr type="t" for="ch" forName="accentShape_3" refType="h" fact="0.2457"/>
              <dgm:constr type="w" for="ch" forName="accentShape_3" refType="w" fact="0.2796"/>
              <dgm:constr type="h" for="ch" forName="accentShape_3" refType="h" fact="0.7499"/>
              <dgm:constr type="l" for="ch" forName="parentText_3"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1"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3"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1" refType="w" fact="0.6101"/>
              <dgm:constr type="t" for="ch" forName="childText_3" refType="h" fact="0.2457"/>
              <dgm:constr type="w" for="ch" forName="childText_3" refType="w" refFor="ch" refForName="accentShape_3" fact="0.71"/>
              <dgm:constr type="h" for="ch" forName="childText_3" refType="h" fact="0.7543"/>
            </dgm:constrLst>
          </dgm:else>
        </dgm:choose>
      </dgm:if>
      <dgm:if name="Name14" axis="ch" ptType="node" func="cnt" op="equ" val="4">
        <dgm:alg type="composite">
          <dgm:param type="ar" val="1.8305"/>
        </dgm:alg>
        <dgm:choose name="Name15">
          <dgm:if name="Name16"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1" refType="w" fact="0"/>
              <dgm:constr type="t" for="ch" forName="accentShape_1" refType="h" fact="0"/>
              <dgm:constr type="w" for="ch" forName="accentShape_1" refType="w" fact="0.2153"/>
              <dgm:constr type="h" for="ch" forName="accentShape_1" refType="h" fact="0.9952"/>
              <dgm:constr type="l" for="ch" forName="accentShape_2" refType="w" fact="0.2353"/>
              <dgm:constr type="t" for="ch" forName="accentShape_2" refType="h" fact="0.1192"/>
              <dgm:constr type="w" for="ch" forName="accentShape_2" refType="w" fact="0.2153"/>
              <dgm:constr type="h" for="ch" forName="accentShape_2" refType="h" fact="0.876"/>
              <dgm:constr type="l" for="ch" forName="accentShape_3" refType="w" fact="0.4699"/>
              <dgm:constr type="t" for="ch" forName="accentShape_3" refType="h" fact="0.2457"/>
              <dgm:constr type="w" for="ch" forName="accentShape_3" refType="w" fact="0.2153"/>
              <dgm:constr type="h" for="ch" forName="accentShape_3" refType="h" fact="0.7495"/>
              <dgm:constr type="l" for="ch" forName="accentShape_4" refType="w" fact="0.6997"/>
              <dgm:constr type="t" for="ch" forName="accentShape_4" refType="h" fact="0.3696"/>
              <dgm:constr type="w" for="ch" forName="accentShape_4" refType="w" fact="0.2153"/>
              <dgm:constr type="h" for="ch" forName="accentShape_4" refType="h" fact="0.6256"/>
              <dgm:constr type="l" for="ch" forName="parentText_1"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2353"/>
              <dgm:constr type="t" for="ch" forName="childText_2" refType="h" fact="0.1192"/>
              <dgm:constr type="w" for="ch" forName="childText_2" refType="w" refFor="ch" refForName="accentShape_2" fact="0.71"/>
              <dgm:constr type="h" for="ch" forName="childText_2" refType="h" fact="0.8808"/>
              <dgm:constr type="l" for="ch" forName="childText_3" refType="w" fact="0.4699"/>
              <dgm:constr type="t" for="ch" forName="childText_3" refType="h" fact="0.2457"/>
              <dgm:constr type="w" for="ch" forName="childText_3" refType="w" refFor="ch" refForName="accentShape_3" fact="0.71"/>
              <dgm:constr type="h" for="ch" forName="childText_3" refType="h" fact="0.7543"/>
              <dgm:constr type="l" for="ch" forName="childText_4" refType="w" fact="0.6997"/>
              <dgm:constr type="t" for="ch" forName="childText_4" refType="h" fact="0.3696"/>
              <dgm:constr type="w" for="ch" forName="childText_4" refType="w" refFor="ch" refForName="accentShape_4" fact="0.71"/>
              <dgm:constr type="h" for="ch" forName="childText_4" refType="h" fact="0.6261"/>
            </dgm:constrLst>
          </dgm:if>
          <dgm:else name="Name17">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4" refType="w" fact="0"/>
              <dgm:constr type="t" for="ch" forName="accentShape_1" refType="h" fact="0"/>
              <dgm:constr type="w" for="ch" forName="accentShape_1" refType="w" fact="0.2153"/>
              <dgm:constr type="h" for="ch" forName="accentShape_1" refType="h" fact="0.9952"/>
              <dgm:constr type="l" for="ch" forName="accentShape_3" refType="w" fact="0.2353"/>
              <dgm:constr type="t" for="ch" forName="accentShape_2" refType="h" fact="0.1192"/>
              <dgm:constr type="w" for="ch" forName="accentShape_2" refType="w" fact="0.2153"/>
              <dgm:constr type="h" for="ch" forName="accentShape_2" refType="h" fact="0.876"/>
              <dgm:constr type="l" for="ch" forName="accentShape_2" refType="w" fact="0.4699"/>
              <dgm:constr type="t" for="ch" forName="accentShape_3" refType="h" fact="0.2457"/>
              <dgm:constr type="w" for="ch" forName="accentShape_3" refType="w" fact="0.2153"/>
              <dgm:constr type="h" for="ch" forName="accentShape_3" refType="h" fact="0.7495"/>
              <dgm:constr type="l" for="ch" forName="accentShape_1" refType="w" fact="0.6997"/>
              <dgm:constr type="t" for="ch" forName="accentShape_4" refType="h" fact="0.3696"/>
              <dgm:constr type="w" for="ch" forName="accentShape_4" refType="w" fact="0.2153"/>
              <dgm:constr type="h" for="ch" forName="accentShape_4" refType="h" fact="0.6256"/>
              <dgm:constr type="l" for="ch" forName="parentText_4"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3"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2"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1"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4" refType="w" fact="0"/>
              <dgm:constr type="t" for="ch" forName="childText_1" refType="h" fact="0"/>
              <dgm:constr type="w" for="ch" forName="childText_1" refType="w" refFor="ch" refForName="accentShape_1" fact="0.71"/>
              <dgm:constr type="h" for="ch" forName="childText_1" refType="h"/>
              <dgm:constr type="l" for="ch" forName="childText_3" refType="w" fact="0.2353"/>
              <dgm:constr type="t" for="ch" forName="childText_2" refType="h" fact="0.1192"/>
              <dgm:constr type="w" for="ch" forName="childText_2" refType="w" refFor="ch" refForName="accentShape_2" fact="0.71"/>
              <dgm:constr type="h" for="ch" forName="childText_2" refType="h" fact="0.8808"/>
              <dgm:constr type="l" for="ch" forName="childText_2" refType="w" fact="0.4699"/>
              <dgm:constr type="t" for="ch" forName="childText_3" refType="h" fact="0.2457"/>
              <dgm:constr type="w" for="ch" forName="childText_3" refType="w" refFor="ch" refForName="accentShape_3" fact="0.71"/>
              <dgm:constr type="h" for="ch" forName="childText_3" refType="h" fact="0.7543"/>
              <dgm:constr type="l" for="ch" forName="childText_1" refType="w" fact="0.6997"/>
              <dgm:constr type="t" for="ch" forName="childText_4" refType="h" fact="0.3696"/>
              <dgm:constr type="w" for="ch" forName="childText_4" refType="w" refFor="ch" refForName="accentShape_4" fact="0.71"/>
              <dgm:constr type="h" for="ch" forName="childText_4" refType="h" fact="0.6261"/>
            </dgm:constrLst>
          </dgm:else>
        </dgm:choose>
      </dgm:if>
      <dgm:if name="Name18" axis="ch" ptType="node" func="cnt" op="equ" val="5">
        <dgm:alg type="composite">
          <dgm:param type="ar" val="2.0125"/>
        </dgm:alg>
        <dgm:choose name="Name19">
          <dgm:if name="Name20"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1" refType="w" fact="0"/>
              <dgm:constr type="t" for="ch" forName="accentShape_1" refType="h" fact="0"/>
              <dgm:constr type="w" for="ch" forName="accentShape_1" refType="w" fact="0.1759"/>
              <dgm:constr type="h" for="ch" forName="accentShape_1" refType="h" fact="0.9952"/>
              <dgm:constr type="l" for="ch" forName="accentShape_2"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4" refType="w" fact="0.5759"/>
              <dgm:constr type="t" for="ch" forName="accentShape_4" refType="h" fact="0.3739"/>
              <dgm:constr type="w" for="ch" forName="accentShape_4" refType="w" fact="0.1759"/>
              <dgm:constr type="h" for="ch" forName="accentShape_4" refType="h" fact="0.6217"/>
              <dgm:constr type="l" for="ch" forName="accentShape_5" refType="w" fact="0.7679"/>
              <dgm:constr type="t" for="ch" forName="accentShape_5" refType="h" fact="0.5"/>
              <dgm:constr type="w" for="ch" forName="accentShape_5" refType="w" fact="0.1759"/>
              <dgm:constr type="h" for="ch" forName="accentShape_5" refType="h" fact="0.4956"/>
              <dgm:constr type="l" for="ch" forName="parentText_1"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5"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4" refType="w" fact="0.5759"/>
              <dgm:constr type="t" for="ch" forName="childText_4" refType="h" fact="0.3739"/>
              <dgm:constr type="w" for="ch" forName="childText_4" refType="w" refFor="ch" refForName="accentShape_4" fact="0.71"/>
              <dgm:constr type="h" for="ch" forName="childText_4" refType="h" fact="0.6217"/>
              <dgm:constr type="l" for="ch" forName="childText_5" refType="w" fact="0.7679"/>
              <dgm:constr type="t" for="ch" forName="childText_5" refType="h" fact="0.5001"/>
              <dgm:constr type="w" for="ch" forName="childText_5" refType="w" refFor="ch" refForName="accentShape_5" fact="0.71"/>
              <dgm:constr type="h" for="ch" forName="childText_5" refType="h" fact="0.4956"/>
            </dgm:constrLst>
          </dgm:if>
          <dgm:else name="Name21">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5" refType="w" fact="0"/>
              <dgm:constr type="t" for="ch" forName="accentShape_1" refType="h" fact="0"/>
              <dgm:constr type="w" for="ch" forName="accentShape_1" refType="w" fact="0.1759"/>
              <dgm:constr type="h" for="ch" forName="accentShape_1" refType="h" fact="0.9952"/>
              <dgm:constr type="l" for="ch" forName="accentShape_4"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2" refType="w" fact="0.5759"/>
              <dgm:constr type="t" for="ch" forName="accentShape_4" refType="h" fact="0.3739"/>
              <dgm:constr type="w" for="ch" forName="accentShape_4" refType="w" fact="0.1759"/>
              <dgm:constr type="h" for="ch" forName="accentShape_4" refType="h" fact="0.6217"/>
              <dgm:constr type="l" for="ch" forName="accentShape_1" refType="w" fact="0.7679"/>
              <dgm:constr type="t" for="ch" forName="accentShape_5" refType="h" fact="0.5"/>
              <dgm:constr type="w" for="ch" forName="accentShape_5" refType="w" fact="0.1759"/>
              <dgm:constr type="h" for="ch" forName="accentShape_5" refType="h" fact="0.4956"/>
              <dgm:constr type="l" for="ch" forName="parentText_5"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4"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2"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1"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5" refType="w" fact="0"/>
              <dgm:constr type="t" for="ch" forName="childText_1" refType="h" fact="0"/>
              <dgm:constr type="w" for="ch" forName="childText_1" refType="w" refFor="ch" refForName="accentShape_1" fact="0.71"/>
              <dgm:constr type="h" for="ch" forName="childText_1" refType="h"/>
              <dgm:constr type="l" for="ch" forName="childText_4"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2" refType="w" fact="0.5759"/>
              <dgm:constr type="t" for="ch" forName="childText_4" refType="h" fact="0.3739"/>
              <dgm:constr type="w" for="ch" forName="childText_4" refType="w" refFor="ch" refForName="accentShape_4" fact="0.71"/>
              <dgm:constr type="h" for="ch" forName="childText_4" refType="h" fact="0.6261"/>
              <dgm:constr type="l" for="ch" forName="childText_1" refType="w" fact="0.7679"/>
              <dgm:constr type="t" for="ch" forName="childText_5" refType="h" fact="0.5001"/>
              <dgm:constr type="w" for="ch" forName="childText_5" refType="w" refFor="ch" refForName="accentShape_5" fact="0.71"/>
              <dgm:constr type="h" for="ch" forName="childText_5" refType="h" fact="0.4999"/>
            </dgm:constrLst>
          </dgm:else>
        </dgm:choose>
      </dgm:if>
      <dgm:if name="Name22" axis="ch" ptType="node" func="cnt" op="equ" val="6">
        <dgm:alg type="composite">
          <dgm:param type="ar" val="2.4006"/>
        </dgm:alg>
        <dgm:shape xmlns:r="http://schemas.openxmlformats.org/officeDocument/2006/relationships" r:blip="">
          <dgm:adjLst/>
        </dgm:shape>
        <dgm:choose name="Name23">
          <dgm:if name="Name2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1" refType="w" fact="0"/>
              <dgm:constr type="t" for="ch" forName="accentShape_1" refType="h" fact="0"/>
              <dgm:constr type="w" for="ch" forName="accentShape_1" refType="w" fact="0.1473"/>
              <dgm:constr type="h" for="ch" forName="accentShape_1" refType="h"/>
              <dgm:constr type="l" for="ch" forName="accentShape_2" refType="w" fact="0.1608"/>
              <dgm:constr type="t" for="ch" forName="accentShape_2" refType="h" fact="0.1"/>
              <dgm:constr type="w" for="ch" forName="accentShape_2" refType="w" fact="0.1473"/>
              <dgm:constr type="h" for="ch" forName="accentShape_2" refType="h" fact="0.9"/>
              <dgm:constr type="l" for="ch" forName="accentShape_3" refType="w" fact="0.3216"/>
              <dgm:constr type="t" for="ch" forName="accentShape_3" refType="h" fact="0.2"/>
              <dgm:constr type="w" for="ch" forName="accentShape_3" refType="w" fact="0.1473"/>
              <dgm:constr type="h" for="ch" forName="accentShape_3" refType="h" fact="0.8"/>
              <dgm:constr type="l" for="ch" forName="accentShape_4" refType="w" fact="0.4824"/>
              <dgm:constr type="t" for="ch" forName="accentShape_4" refType="h" fact="0.3"/>
              <dgm:constr type="w" for="ch" forName="accentShape_4" refType="w" fact="0.1473"/>
              <dgm:constr type="h" for="ch" forName="accentShape_4" refType="h" fact="0.7"/>
              <dgm:constr type="l" for="ch" forName="accentShape_5" refType="w" fact="0.6432"/>
              <dgm:constr type="t" for="ch" forName="accentShape_5" refType="h" fact="0.4"/>
              <dgm:constr type="w" for="ch" forName="accentShape_5" refType="w" fact="0.1473"/>
              <dgm:constr type="h" for="ch" forName="accentShape_5" refType="h" fact="0.6"/>
              <dgm:constr type="l" for="ch" forName="accentShape_6" refType="w" fact="0.8056"/>
              <dgm:constr type="t" for="ch" forName="accentShape_6" refType="h" fact="0.5"/>
              <dgm:constr type="w" for="ch" forName="accentShape_6" refType="w" fact="0.1473"/>
              <dgm:constr type="h" for="ch" forName="accentShape_6" refType="h" fact="0.5"/>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3"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4"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5"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6"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1"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3"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4"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5"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6" refType="w" fact="0.9101"/>
              <dgm:constr type="t" for="ch" forName="parentText_6" refType="h" fact="0.5"/>
              <dgm:constr type="w" for="ch" forName="parentText_6" refType="w" refFor="ch" refForName="accentShape_6" fact="0.26"/>
              <dgm:constr type="h" for="ch" forName="parentText_6" refType="h" refFor="ch" refForName="accentShape_6" fact="0.9"/>
            </dgm:constrLst>
          </dgm:if>
          <dgm:else name="Name25">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6" refType="w" fact="0"/>
              <dgm:constr type="t" for="ch" forName="accentShape_1" refType="h" fact="0"/>
              <dgm:constr type="w" for="ch" forName="accentShape_1" refType="w" fact="0.1473"/>
              <dgm:constr type="h" for="ch" forName="accentShape_1" refType="h"/>
              <dgm:constr type="l" for="ch" forName="accentShape_5" refType="w" fact="0.1608"/>
              <dgm:constr type="t" for="ch" forName="accentShape_2" refType="h" fact="0.1"/>
              <dgm:constr type="w" for="ch" forName="accentShape_2" refType="w" fact="0.1473"/>
              <dgm:constr type="h" for="ch" forName="accentShape_2" refType="h" fact="0.9"/>
              <dgm:constr type="l" for="ch" forName="accentShape_4" refType="w" fact="0.3216"/>
              <dgm:constr type="t" for="ch" forName="accentShape_3" refType="h" fact="0.2"/>
              <dgm:constr type="w" for="ch" forName="accentShape_3" refType="w" fact="0.1473"/>
              <dgm:constr type="h" for="ch" forName="accentShape_3" refType="h" fact="0.8"/>
              <dgm:constr type="l" for="ch" forName="accentShape_3" refType="w" fact="0.4824"/>
              <dgm:constr type="t" for="ch" forName="accentShape_4" refType="h" fact="0.3"/>
              <dgm:constr type="w" for="ch" forName="accentShape_4" refType="w" fact="0.1473"/>
              <dgm:constr type="h" for="ch" forName="accentShape_4" refType="h" fact="0.7"/>
              <dgm:constr type="l" for="ch" forName="accentShape_2" refType="w" fact="0.6432"/>
              <dgm:constr type="t" for="ch" forName="accentShape_5" refType="h" fact="0.4"/>
              <dgm:constr type="w" for="ch" forName="accentShape_5" refType="w" fact="0.1473"/>
              <dgm:constr type="h" for="ch" forName="accentShape_5" refType="h" fact="0.6"/>
              <dgm:constr type="l" for="ch" forName="accentShape_1" refType="w" fact="0.8056"/>
              <dgm:constr type="t" for="ch" forName="accentShape_6" refType="h" fact="0.5"/>
              <dgm:constr type="w" for="ch" forName="accentShape_6" refType="w" fact="0.1473"/>
              <dgm:constr type="h" for="ch" forName="accentShape_6" refType="h" fact="0.5"/>
              <dgm:constr type="l" for="ch" forName="childText_6"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5"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4"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3"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2"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1"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6"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5"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4"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3"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2"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1" refType="w" fact="0.9101"/>
              <dgm:constr type="t" for="ch" forName="parentText_6" refType="h" fact="0.5"/>
              <dgm:constr type="w" for="ch" forName="parentText_6" refType="w" refFor="ch" refForName="accentShape_6" fact="0.26"/>
              <dgm:constr type="h" for="ch" forName="parentText_6" refType="h" refFor="ch" refForName="accentShape_6" fact="0.9"/>
            </dgm:constrLst>
          </dgm:else>
        </dgm:choose>
      </dgm:if>
      <dgm:else name="Name26">
        <dgm:alg type="composite">
          <dgm:param type="ar" val="2.7874"/>
        </dgm:alg>
        <dgm:shape xmlns:r="http://schemas.openxmlformats.org/officeDocument/2006/relationships" r:blip="">
          <dgm:adjLst/>
        </dgm:shape>
        <dgm:choose name="Name27">
          <dgm:if name="Name2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1" refType="w" fact="0"/>
              <dgm:constr type="t" for="ch" forName="accentShape_1" refType="h" fact="0"/>
              <dgm:constr type="w" for="ch" forName="accentShape_1" refType="w" fact="0.1269"/>
              <dgm:constr type="h" for="ch" forName="accentShape_1" refType="h"/>
              <dgm:constr type="l" for="ch" forName="accentShape_2" refType="w" fact="0.1385"/>
              <dgm:constr type="t" for="ch" forName="accentShape_2" refType="h" fact="0.0833"/>
              <dgm:constr type="w" for="ch" forName="accentShape_2" refType="w" fact="0.1269"/>
              <dgm:constr type="h" for="ch" forName="accentShape_2" refType="h" fact="0.9165"/>
              <dgm:constr type="l" for="ch" forName="accentShape_3"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5" refType="w" fact="0.5539"/>
              <dgm:constr type="t" for="ch" forName="accentShape_5" refType="h" fact="0.3332"/>
              <dgm:constr type="w" for="ch" forName="accentShape_5" refType="w" fact="0.1269"/>
              <dgm:constr type="h" for="ch" forName="accentShape_5" refType="h" fact="0.6666"/>
              <dgm:constr type="l" for="ch" forName="accentShape_6" refType="w" fact="0.6938"/>
              <dgm:constr type="t" for="ch" forName="accentShape_6" refType="h" fact="0.4165"/>
              <dgm:constr type="w" for="ch" forName="accentShape_6" refType="w" fact="0.1269"/>
              <dgm:constr type="h" for="ch" forName="accentShape_6" refType="h" fact="0.5833"/>
              <dgm:constr type="l" for="ch" forName="accentShape_7" refType="w" fact="0.8326"/>
              <dgm:constr type="t" for="ch" forName="accentShape_7" refType="h" fact="0.5"/>
              <dgm:constr type="w" for="ch" forName="accentShape_7" refType="w" fact="0.1269"/>
              <dgm:constr type="h" for="ch" forName="accentShape_7" refType="h" fact="0.5"/>
              <dgm:constr type="l" for="ch" forName="parentText_1"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3"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5"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6"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7"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3"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5"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6"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7" refType="w" fact="0.8326"/>
              <dgm:constr type="t" for="ch" forName="childText_7" refType="h" fact="0.5"/>
              <dgm:constr type="w" for="ch" forName="childText_7" refType="w" refFor="ch" refForName="accentShape_7" fact="0.7"/>
              <dgm:constr type="h" for="ch" forName="childText_7" refType="h" refFor="ch" refForName="accentShape_7"/>
            </dgm:constrLst>
          </dgm:if>
          <dgm:else name="Name2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7" refType="w" fact="0"/>
              <dgm:constr type="t" for="ch" forName="accentShape_1" refType="h" fact="0"/>
              <dgm:constr type="w" for="ch" forName="accentShape_1" refType="w" fact="0.1269"/>
              <dgm:constr type="h" for="ch" forName="accentShape_1" refType="h"/>
              <dgm:constr type="l" for="ch" forName="accentShape_6" refType="w" fact="0.1385"/>
              <dgm:constr type="t" for="ch" forName="accentShape_2" refType="h" fact="0.0833"/>
              <dgm:constr type="w" for="ch" forName="accentShape_2" refType="w" fact="0.1269"/>
              <dgm:constr type="h" for="ch" forName="accentShape_2" refType="h" fact="0.9165"/>
              <dgm:constr type="l" for="ch" forName="accentShape_5"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3" refType="w" fact="0.5539"/>
              <dgm:constr type="t" for="ch" forName="accentShape_5" refType="h" fact="0.3332"/>
              <dgm:constr type="w" for="ch" forName="accentShape_5" refType="w" fact="0.1269"/>
              <dgm:constr type="h" for="ch" forName="accentShape_5" refType="h" fact="0.6666"/>
              <dgm:constr type="l" for="ch" forName="accentShape_2" refType="w" fact="0.6938"/>
              <dgm:constr type="t" for="ch" forName="accentShape_6" refType="h" fact="0.4165"/>
              <dgm:constr type="w" for="ch" forName="accentShape_6" refType="w" fact="0.1269"/>
              <dgm:constr type="h" for="ch" forName="accentShape_6" refType="h" fact="0.5833"/>
              <dgm:constr type="l" for="ch" forName="accentShape_1" refType="w" fact="0.8326"/>
              <dgm:constr type="t" for="ch" forName="accentShape_7" refType="h" fact="0.5"/>
              <dgm:constr type="w" for="ch" forName="accentShape_7" refType="w" fact="0.1269"/>
              <dgm:constr type="h" for="ch" forName="accentShape_7" refType="h" fact="0.5"/>
              <dgm:constr type="l" for="ch" forName="parentText_7"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6"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5"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3"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2"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1"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7"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6"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5"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3"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2"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1" refType="w" fact="0.8326"/>
              <dgm:constr type="t" for="ch" forName="childText_7" refType="h" fact="0.5"/>
              <dgm:constr type="w" for="ch" forName="childText_7" refType="w" refFor="ch" refForName="accentShape_7" fact="0.7"/>
              <dgm:constr type="h" for="ch" forName="childText_7" refType="h" refFor="ch" refForName="accentShape_7"/>
            </dgm:constrLst>
          </dgm:else>
        </dgm:choose>
      </dgm:else>
    </dgm:choose>
    <dgm:forEach name="wrapper" axis="self" ptType="parTrans">
      <dgm:forEach name="accentRepeat" axis="self">
        <dgm:layoutNode name="imageRepeatNode" styleLbl="node1">
          <dgm:alg type="sp"/>
          <dgm:shape xmlns:r="http://schemas.openxmlformats.org/officeDocument/2006/relationships" type="rect" r:blip="" zOrderOff="-10">
            <dgm:adjLst/>
          </dgm:shape>
          <dgm:presOf axis="self"/>
        </dgm:layoutNode>
      </dgm:forEach>
    </dgm:forEach>
    <dgm:forEach name="Name30" axis="ch" ptType="node" cnt="1">
      <dgm:layoutNode name="parentText_1" styleLbl="node1">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1" styleLbl="node1">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1">
        <dgm:alg type="sp"/>
        <dgm:shape xmlns:r="http://schemas.openxmlformats.org/officeDocument/2006/relationships" r:blip="">
          <dgm:adjLst/>
        </dgm:shape>
        <dgm:presOf/>
        <dgm:constrLst/>
        <dgm:forEach name="Name31" ref="accentRepeat"/>
      </dgm:layoutNode>
    </dgm:forEach>
    <dgm:forEach name="Name32" axis="ch" ptType="node" st="2" cnt="1">
      <dgm:layoutNode name="parentText_2">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2">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2">
        <dgm:alg type="sp"/>
        <dgm:shape xmlns:r="http://schemas.openxmlformats.org/officeDocument/2006/relationships" r:blip="">
          <dgm:adjLst/>
        </dgm:shape>
        <dgm:presOf/>
        <dgm:constrLst/>
        <dgm:forEach name="Name33" ref="accentRepeat"/>
      </dgm:layoutNode>
    </dgm:forEach>
    <dgm:forEach name="Name34" axis="ch" ptType="node" st="3" cnt="1">
      <dgm:layoutNode name="parentText_3">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3">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3">
        <dgm:alg type="sp"/>
        <dgm:shape xmlns:r="http://schemas.openxmlformats.org/officeDocument/2006/relationships" r:blip="">
          <dgm:adjLst/>
        </dgm:shape>
        <dgm:presOf/>
        <dgm:constrLst/>
        <dgm:forEach name="Name35" ref="accentRepeat"/>
      </dgm:layoutNode>
    </dgm:forEach>
    <dgm:forEach name="Name36" axis="ch" ptType="node" st="4" cnt="1">
      <dgm:layoutNode name="parentText_4">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4">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4">
        <dgm:alg type="sp"/>
        <dgm:shape xmlns:r="http://schemas.openxmlformats.org/officeDocument/2006/relationships" r:blip="">
          <dgm:adjLst/>
        </dgm:shape>
        <dgm:presOf/>
        <dgm:constrLst/>
        <dgm:forEach name="Name37" ref="accentRepeat"/>
      </dgm:layoutNode>
    </dgm:forEach>
    <dgm:forEach name="Name38" axis="ch" ptType="node" st="5" cnt="1">
      <dgm:layoutNode name="parentText_5">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5">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5">
        <dgm:alg type="sp"/>
        <dgm:shape xmlns:r="http://schemas.openxmlformats.org/officeDocument/2006/relationships" r:blip="">
          <dgm:adjLst/>
        </dgm:shape>
        <dgm:presOf/>
        <dgm:constrLst/>
        <dgm:forEach name="Name39" ref="accentRepeat"/>
      </dgm:layoutNode>
    </dgm:forEach>
    <dgm:forEach name="Name40" axis="ch" ptType="node" st="6" cnt="1">
      <dgm:layoutNode name="parentText_6">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6">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6">
        <dgm:alg type="sp"/>
        <dgm:shape xmlns:r="http://schemas.openxmlformats.org/officeDocument/2006/relationships" r:blip="">
          <dgm:adjLst/>
        </dgm:shape>
        <dgm:presOf/>
        <dgm:constrLst/>
        <dgm:forEach name="Name41" ref="accentRepeat"/>
      </dgm:layoutNode>
    </dgm:forEach>
    <dgm:forEach name="Name42" axis="ch" ptType="node" st="7" cnt="1">
      <dgm:layoutNode name="parentText_7">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7">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7">
        <dgm:alg type="sp"/>
        <dgm:shape xmlns:r="http://schemas.openxmlformats.org/officeDocument/2006/relationships" r:blip="">
          <dgm:adjLst/>
        </dgm:shape>
        <dgm:presOf/>
        <dgm:constrLst/>
        <dgm:forEach name="Name43"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0.14166</cdr:x>
      <cdr:y>0.83611</cdr:y>
    </cdr:from>
    <cdr:to>
      <cdr:x>0.95383</cdr:x>
      <cdr:y>0.83611</cdr:y>
    </cdr:to>
    <cdr:cxnSp macro="">
      <cdr:nvCxnSpPr>
        <cdr:cNvPr id="2" name="Straight Connector 1">
          <a:extLst xmlns:a="http://schemas.openxmlformats.org/drawingml/2006/main">
            <a:ext uri="{FF2B5EF4-FFF2-40B4-BE49-F238E27FC236}">
              <a16:creationId xmlns:a16="http://schemas.microsoft.com/office/drawing/2014/main" id="{B40B9634-3192-4ADF-899F-95CBBB0E4836}"/>
            </a:ext>
          </a:extLst>
        </cdr:cNvPr>
        <cdr:cNvCxnSpPr/>
      </cdr:nvCxnSpPr>
      <cdr:spPr>
        <a:xfrm xmlns:a="http://schemas.openxmlformats.org/drawingml/2006/main">
          <a:off x="707011" y="3146218"/>
          <a:ext cx="4053526" cy="0"/>
        </a:xfrm>
        <a:prstGeom xmlns:a="http://schemas.openxmlformats.org/drawingml/2006/main" prst="line">
          <a:avLst/>
        </a:prstGeom>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46BFE-032C-4EFA-8599-5D8F3E8A0B70}" type="datetimeFigureOut">
              <a:rPr lang="en-IN" smtClean="0"/>
              <a:t>23-09-2019</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016FD-83C9-41AE-AF97-E59204AE5D4C}" type="slidenum">
              <a:rPr lang="en-IN" smtClean="0"/>
              <a:t>‹#›</a:t>
            </a:fld>
            <a:endParaRPr lang="en-IN"/>
          </a:p>
        </p:txBody>
      </p:sp>
    </p:spTree>
    <p:extLst>
      <p:ext uri="{BB962C8B-B14F-4D97-AF65-F5344CB8AC3E}">
        <p14:creationId xmlns:p14="http://schemas.microsoft.com/office/powerpoint/2010/main" val="1391042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1C5B12-07D7-4FC5-8ED5-76466CCF9A9F}" type="slidenum">
              <a:rPr lang="en-US" smtClean="0"/>
              <a:pPr/>
              <a:t>4</a:t>
            </a:fld>
            <a:endParaRPr lang="en-US"/>
          </a:p>
        </p:txBody>
      </p:sp>
    </p:spTree>
    <p:extLst>
      <p:ext uri="{BB962C8B-B14F-4D97-AF65-F5344CB8AC3E}">
        <p14:creationId xmlns:p14="http://schemas.microsoft.com/office/powerpoint/2010/main" val="243613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a:extLst>
              <a:ext uri="{FF2B5EF4-FFF2-40B4-BE49-F238E27FC236}">
                <a16:creationId xmlns:a16="http://schemas.microsoft.com/office/drawing/2014/main" id="{FA531AAD-81D3-4402-B572-97DA0FDCB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82663">
              <a:spcBef>
                <a:spcPct val="30000"/>
              </a:spcBef>
              <a:defRPr sz="1200">
                <a:solidFill>
                  <a:schemeClr val="tx1"/>
                </a:solidFill>
                <a:latin typeface="Arial" panose="020B0604020202020204" pitchFamily="34" charset="0"/>
              </a:defRPr>
            </a:lvl1pPr>
            <a:lvl2pPr marL="742950" indent="-285750" defTabSz="982663">
              <a:spcBef>
                <a:spcPct val="30000"/>
              </a:spcBef>
              <a:defRPr sz="1200">
                <a:solidFill>
                  <a:schemeClr val="tx1"/>
                </a:solidFill>
                <a:latin typeface="Arial" panose="020B0604020202020204" pitchFamily="34" charset="0"/>
              </a:defRPr>
            </a:lvl2pPr>
            <a:lvl3pPr marL="1143000" indent="-228600" defTabSz="982663">
              <a:spcBef>
                <a:spcPct val="30000"/>
              </a:spcBef>
              <a:defRPr sz="1200">
                <a:solidFill>
                  <a:schemeClr val="tx1"/>
                </a:solidFill>
                <a:latin typeface="Arial" panose="020B0604020202020204" pitchFamily="34" charset="0"/>
              </a:defRPr>
            </a:lvl3pPr>
            <a:lvl4pPr marL="1600200" indent="-228600" defTabSz="982663">
              <a:spcBef>
                <a:spcPct val="30000"/>
              </a:spcBef>
              <a:defRPr sz="1200">
                <a:solidFill>
                  <a:schemeClr val="tx1"/>
                </a:solidFill>
                <a:latin typeface="Arial" panose="020B0604020202020204" pitchFamily="34" charset="0"/>
              </a:defRPr>
            </a:lvl4pPr>
            <a:lvl5pPr marL="2057400" indent="-228600" defTabSz="982663">
              <a:spcBef>
                <a:spcPct val="30000"/>
              </a:spcBef>
              <a:defRPr sz="1200">
                <a:solidFill>
                  <a:schemeClr val="tx1"/>
                </a:solidFill>
                <a:latin typeface="Arial" panose="020B0604020202020204" pitchFamily="34" charset="0"/>
              </a:defRPr>
            </a:lvl5pPr>
            <a:lvl6pPr marL="2514600" indent="-228600" defTabSz="9826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826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826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826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833585C-ABAB-4CC0-BCB7-D8BBB376DAF6}" type="slidenum">
              <a:rPr lang="en-GB" altLang="en-US" sz="1300" smtClean="0"/>
              <a:pPr>
                <a:spcBef>
                  <a:spcPct val="0"/>
                </a:spcBef>
              </a:pPr>
              <a:t>7</a:t>
            </a:fld>
            <a:endParaRPr lang="en-GB" altLang="en-US" sz="1300"/>
          </a:p>
        </p:txBody>
      </p:sp>
      <p:sp>
        <p:nvSpPr>
          <p:cNvPr id="304131" name="Rectangle 2">
            <a:extLst>
              <a:ext uri="{FF2B5EF4-FFF2-40B4-BE49-F238E27FC236}">
                <a16:creationId xmlns:a16="http://schemas.microsoft.com/office/drawing/2014/main" id="{201BDDD9-F13E-4ED3-8AFD-C67E5166F460}"/>
              </a:ext>
            </a:extLst>
          </p:cNvPr>
          <p:cNvSpPr>
            <a:spLocks noGrp="1" noRot="1" noChangeAspect="1" noChangeArrowheads="1" noTextEdit="1"/>
          </p:cNvSpPr>
          <p:nvPr>
            <p:ph type="sldImg"/>
          </p:nvPr>
        </p:nvSpPr>
        <p:spPr>
          <a:ln/>
        </p:spPr>
      </p:sp>
      <p:sp>
        <p:nvSpPr>
          <p:cNvPr id="304132" name="Rectangle 3">
            <a:extLst>
              <a:ext uri="{FF2B5EF4-FFF2-40B4-BE49-F238E27FC236}">
                <a16:creationId xmlns:a16="http://schemas.microsoft.com/office/drawing/2014/main" id="{6EA26D95-B1E4-4531-BF84-7EC02004B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9012B-FC08-4919-AD2B-069B021FE3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85707E7-23AB-4535-A554-E27986312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6B3E70-E00B-45ED-95D6-77DC6B2DD5B9}"/>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DA5267E7-90BB-4BDA-82BD-C2CC71EBD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A996B0-0057-4285-A348-F078DFA8AB62}"/>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3611797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3BE2-1639-4BB2-8659-63161D29B0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D66BEE-0474-4D7B-8C83-DE7E973AB9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F726A6-81E4-490A-A977-822F87DDE4E4}"/>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229B19A3-A4E4-402E-AC55-21DCCFAC4B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1DE5CC-4CCE-4ED0-836A-DF62395F60F4}"/>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214138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812CF-8806-4EA8-A050-9A7EBB6DD1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26F83A-652D-4A7C-AAD9-CA26A99974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565003-3D10-4E7A-A971-3FE1427814A2}"/>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46FC6764-29A9-4BE6-8B92-AC9A85CF1E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21745C-7FD3-4A01-98DE-DA9AA2CB6561}"/>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393800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25BA0-6EB5-43E0-8EAC-D963E5B734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475C6-89A9-4FA5-96BD-24B401B50A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1423AD6-0823-4F17-9925-721AD689DB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D63D61-A050-4051-95EF-F97D6D489BF2}"/>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6" name="Footer Placeholder 5">
            <a:extLst>
              <a:ext uri="{FF2B5EF4-FFF2-40B4-BE49-F238E27FC236}">
                <a16:creationId xmlns:a16="http://schemas.microsoft.com/office/drawing/2014/main" id="{7A958769-5B0F-4258-8F83-72C71D6BBB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693822-880C-4ACA-933E-7F2C376DB69B}"/>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3779128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969CD-0142-4A2F-9B26-F5FC86261B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21BB55-3E07-4405-A53F-D10D5F6339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0D7982-FB9A-4360-9437-2F5B02C0B7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E466A7-E493-457F-994A-7535B891B8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BEAA8-3647-400F-9872-4F60EF47F4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A7C18A-9C51-4FAA-9D00-FFD1A982B379}"/>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8" name="Footer Placeholder 7">
            <a:extLst>
              <a:ext uri="{FF2B5EF4-FFF2-40B4-BE49-F238E27FC236}">
                <a16:creationId xmlns:a16="http://schemas.microsoft.com/office/drawing/2014/main" id="{46F6DE10-984C-428D-A93C-6B2C315F030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D32962-EC60-4E09-8847-E36186A0D09F}"/>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221642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3DA42-3673-4E57-B366-347DA0C931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1DE5C8-2F93-4459-90E8-C8F8AA239851}"/>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4" name="Footer Placeholder 3">
            <a:extLst>
              <a:ext uri="{FF2B5EF4-FFF2-40B4-BE49-F238E27FC236}">
                <a16:creationId xmlns:a16="http://schemas.microsoft.com/office/drawing/2014/main" id="{73BCBD15-7013-45C9-AF61-8E3C50A472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08678C-1B88-4885-9AB6-44629AFF2453}"/>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2280370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1F468F-9F17-419D-BAEC-829D024F8FA9}"/>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3" name="Footer Placeholder 2">
            <a:extLst>
              <a:ext uri="{FF2B5EF4-FFF2-40B4-BE49-F238E27FC236}">
                <a16:creationId xmlns:a16="http://schemas.microsoft.com/office/drawing/2014/main" id="{A5E1E202-C005-4D05-99E3-0BE983F8B4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F17998-7D01-4ED2-871C-11F0EA22F3D3}"/>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1000490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E55BC-7FDF-4C7D-B79F-833D6727C3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F78A661-3017-4085-A9F0-27422243F4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8E9773-9EF2-4CD8-8C99-37580F98D5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61680-E94F-4E56-BB24-5051F00E5BD2}"/>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6" name="Footer Placeholder 5">
            <a:extLst>
              <a:ext uri="{FF2B5EF4-FFF2-40B4-BE49-F238E27FC236}">
                <a16:creationId xmlns:a16="http://schemas.microsoft.com/office/drawing/2014/main" id="{836C40B3-21B7-4DC9-A08B-20731866B8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0B8922-EA4E-4409-848E-ADB9A5B6547F}"/>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239726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DF29-9FD4-48DD-B551-CC90D464EA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DF8B8C-6C33-46F7-9A0C-7FAA36D68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CF2A8A9-F023-4D0B-86FF-FA88A83F28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9319D9-1093-42E3-A83C-0EB97D02D196}"/>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6" name="Footer Placeholder 5">
            <a:extLst>
              <a:ext uri="{FF2B5EF4-FFF2-40B4-BE49-F238E27FC236}">
                <a16:creationId xmlns:a16="http://schemas.microsoft.com/office/drawing/2014/main" id="{3FD94EA7-1A43-4C09-8E3F-73CEEBA329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AAF9B0-70FB-4D70-A616-9AEE2CAEC17F}"/>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4032127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4FD05-BCFF-4FC8-A20D-045AE92E998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D0CCB1-F4F2-44E2-9D17-2D0476597D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45C26A-68D6-4549-B816-3D940C23C00B}"/>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9D03EFF6-ED74-45F0-AE49-A966478803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F39E8-6C6B-47A5-A8CE-6409517AACCD}"/>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1869815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DB17BF-74E4-449C-A969-8DA9DF2847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3196A5C-07DB-448E-85F7-5454C642A7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14C07A-BD1F-4BB8-A6EB-5E49BC77379D}"/>
              </a:ext>
            </a:extLst>
          </p:cNvPr>
          <p:cNvSpPr>
            <a:spLocks noGrp="1"/>
          </p:cNvSpPr>
          <p:nvPr>
            <p:ph type="dt" sz="half" idx="10"/>
          </p:nvPr>
        </p:nvSpPr>
        <p:spPr/>
        <p:txBody>
          <a:body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8FA70815-5D41-4422-B986-6DFB230242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27553-9D9D-41F9-933E-937DEB58957D}"/>
              </a:ext>
            </a:extLst>
          </p:cNvPr>
          <p:cNvSpPr>
            <a:spLocks noGrp="1"/>
          </p:cNvSpPr>
          <p:nvPr>
            <p:ph type="sldNum" sz="quarter" idx="12"/>
          </p:nvPr>
        </p:nvSpPr>
        <p:spPr/>
        <p:txBody>
          <a:bodyPr/>
          <a:lstStyle/>
          <a:p>
            <a:fld id="{10B63903-3B12-4B0B-B26A-F53DC2781BB2}" type="slidenum">
              <a:rPr lang="en-IN" smtClean="0"/>
              <a:t>‹#›</a:t>
            </a:fld>
            <a:endParaRPr lang="en-IN"/>
          </a:p>
        </p:txBody>
      </p:sp>
    </p:spTree>
    <p:extLst>
      <p:ext uri="{BB962C8B-B14F-4D97-AF65-F5344CB8AC3E}">
        <p14:creationId xmlns:p14="http://schemas.microsoft.com/office/powerpoint/2010/main" val="4054298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Key Takeaway,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1277600" cy="457200"/>
          </a:xfrm>
        </p:spPr>
        <p:txBody>
          <a:bodyPr/>
          <a:lstStyle>
            <a:lvl1pPr>
              <a:defRPr baseline="0"/>
            </a:lvl1pPr>
          </a:lstStyle>
          <a:p>
            <a:endParaRPr lang="en-US" dirty="0"/>
          </a:p>
        </p:txBody>
      </p:sp>
      <p:sp>
        <p:nvSpPr>
          <p:cNvPr id="6" name="Content Placeholder 5"/>
          <p:cNvSpPr>
            <a:spLocks noGrp="1"/>
          </p:cNvSpPr>
          <p:nvPr>
            <p:ph sz="quarter" idx="10"/>
          </p:nvPr>
        </p:nvSpPr>
        <p:spPr>
          <a:xfrm>
            <a:off x="406400" y="1295400"/>
            <a:ext cx="11277600" cy="4953000"/>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1" hasCustomPrompt="1"/>
          </p:nvPr>
        </p:nvSpPr>
        <p:spPr>
          <a:xfrm>
            <a:off x="609600" y="533400"/>
            <a:ext cx="11277600" cy="381000"/>
          </a:xfrm>
        </p:spPr>
        <p:txBody>
          <a:bodyPr anchor="ctr"/>
          <a:lstStyle>
            <a:lvl1pPr>
              <a:defRPr sz="1400"/>
            </a:lvl1pPr>
            <a:lvl2pPr>
              <a:defRPr sz="1400"/>
            </a:lvl2pPr>
            <a:lvl3pPr>
              <a:defRPr sz="1400"/>
            </a:lvl3pPr>
            <a:lvl4pPr>
              <a:defRPr sz="1400"/>
            </a:lvl4pPr>
            <a:lvl5pPr marL="0" indent="0">
              <a:buNone/>
              <a:defRPr sz="1600" baseline="0">
                <a:solidFill>
                  <a:schemeClr val="tx2"/>
                </a:solidFill>
              </a:defRPr>
            </a:lvl5pPr>
          </a:lstStyle>
          <a:p>
            <a:pPr lvl="4"/>
            <a:r>
              <a:rPr lang="en-US" dirty="0"/>
              <a:t>&lt;Add key takeaway here (Arial, 16 point, complete sentence, no initial caps, 1 to 2 lines.)&gt;</a:t>
            </a:r>
          </a:p>
        </p:txBody>
      </p:sp>
    </p:spTree>
    <p:extLst>
      <p:ext uri="{BB962C8B-B14F-4D97-AF65-F5344CB8AC3E}">
        <p14:creationId xmlns:p14="http://schemas.microsoft.com/office/powerpoint/2010/main" val="310199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BCECDB-78CE-485C-BCDF-E120A2715D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FE49C0-67AB-4EC5-B63C-1CDD4A8571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A09FE2-D26C-44ED-ADEC-51B5543800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76DD23-AF79-4CC0-89BD-B24D599E791B}" type="datetimeFigureOut">
              <a:rPr lang="en-IN" smtClean="0"/>
              <a:t>23-09-2019</a:t>
            </a:fld>
            <a:endParaRPr lang="en-IN"/>
          </a:p>
        </p:txBody>
      </p:sp>
      <p:sp>
        <p:nvSpPr>
          <p:cNvPr id="5" name="Footer Placeholder 4">
            <a:extLst>
              <a:ext uri="{FF2B5EF4-FFF2-40B4-BE49-F238E27FC236}">
                <a16:creationId xmlns:a16="http://schemas.microsoft.com/office/drawing/2014/main" id="{81EAD479-C9C9-457A-AC3A-ACC1B8D121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C447F69-A89A-463E-A4A7-3F8485689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B63903-3B12-4B0B-B26A-F53DC2781BB2}" type="slidenum">
              <a:rPr lang="en-IN" smtClean="0"/>
              <a:t>‹#›</a:t>
            </a:fld>
            <a:endParaRPr lang="en-IN"/>
          </a:p>
        </p:txBody>
      </p:sp>
    </p:spTree>
    <p:extLst>
      <p:ext uri="{BB962C8B-B14F-4D97-AF65-F5344CB8AC3E}">
        <p14:creationId xmlns:p14="http://schemas.microsoft.com/office/powerpoint/2010/main" val="537664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Surrey" TargetMode="External"/><Relationship Id="rId2" Type="http://schemas.openxmlformats.org/officeDocument/2006/relationships/hyperlink" Target="https://en.wikipedia.org/wiki/Egham" TargetMode="Externa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hyperlink" Target="https://en.wikipedia.org/wiki/Pound_sterling"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6.jp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63A30-4300-4166-B09B-5A9DA25D5188}"/>
              </a:ext>
            </a:extLst>
          </p:cNvPr>
          <p:cNvSpPr>
            <a:spLocks noGrp="1"/>
          </p:cNvSpPr>
          <p:nvPr>
            <p:ph type="ctrTitle"/>
          </p:nvPr>
        </p:nvSpPr>
        <p:spPr>
          <a:xfrm>
            <a:off x="1524000" y="1122363"/>
            <a:ext cx="9144000" cy="3038576"/>
          </a:xfrm>
        </p:spPr>
        <p:txBody>
          <a:bodyPr>
            <a:normAutofit/>
          </a:bodyPr>
          <a:lstStyle/>
          <a:p>
            <a:r>
              <a:rPr lang="en-IN" sz="3600" b="1" dirty="0"/>
              <a:t>Spectris</a:t>
            </a:r>
          </a:p>
        </p:txBody>
      </p:sp>
      <p:sp>
        <p:nvSpPr>
          <p:cNvPr id="3" name="Subtitle 2">
            <a:extLst>
              <a:ext uri="{FF2B5EF4-FFF2-40B4-BE49-F238E27FC236}">
                <a16:creationId xmlns:a16="http://schemas.microsoft.com/office/drawing/2014/main" id="{CC3B64F3-C762-48EF-A0DB-A0E7A3F6B6CD}"/>
              </a:ext>
            </a:extLst>
          </p:cNvPr>
          <p:cNvSpPr>
            <a:spLocks noGrp="1"/>
          </p:cNvSpPr>
          <p:nvPr>
            <p:ph type="subTitle" idx="1"/>
          </p:nvPr>
        </p:nvSpPr>
        <p:spPr>
          <a:xfrm>
            <a:off x="1524000" y="4424159"/>
            <a:ext cx="9144000" cy="1655762"/>
          </a:xfrm>
        </p:spPr>
        <p:txBody>
          <a:bodyPr/>
          <a:lstStyle/>
          <a:p>
            <a:r>
              <a:rPr lang="en-IN" b="1" dirty="0"/>
              <a:t>A Detailed Company Profile</a:t>
            </a:r>
            <a:endParaRPr lang="en-IN" dirty="0"/>
          </a:p>
        </p:txBody>
      </p:sp>
      <p:pic>
        <p:nvPicPr>
          <p:cNvPr id="7" name="Picture 6">
            <a:extLst>
              <a:ext uri="{FF2B5EF4-FFF2-40B4-BE49-F238E27FC236}">
                <a16:creationId xmlns:a16="http://schemas.microsoft.com/office/drawing/2014/main" id="{F4738D32-4757-432A-BC66-71B151F3A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2902" y="1122363"/>
            <a:ext cx="7623493" cy="1402723"/>
          </a:xfrm>
          <a:prstGeom prst="rect">
            <a:avLst/>
          </a:prstGeom>
        </p:spPr>
      </p:pic>
    </p:spTree>
    <p:extLst>
      <p:ext uri="{BB962C8B-B14F-4D97-AF65-F5344CB8AC3E}">
        <p14:creationId xmlns:p14="http://schemas.microsoft.com/office/powerpoint/2010/main" val="3662224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44C43-E810-48A2-894D-08E66C32B826}"/>
              </a:ext>
            </a:extLst>
          </p:cNvPr>
          <p:cNvSpPr>
            <a:spLocks noGrp="1"/>
          </p:cNvSpPr>
          <p:nvPr>
            <p:ph type="title"/>
          </p:nvPr>
        </p:nvSpPr>
        <p:spPr>
          <a:xfrm>
            <a:off x="838200" y="216817"/>
            <a:ext cx="10515600" cy="575035"/>
          </a:xfrm>
        </p:spPr>
        <p:txBody>
          <a:bodyPr>
            <a:normAutofit/>
          </a:bodyPr>
          <a:lstStyle/>
          <a:p>
            <a:r>
              <a:rPr lang="en-IN" sz="2400" b="1" dirty="0">
                <a:latin typeface="+mn-lt"/>
              </a:rPr>
              <a:t>Spectris- Company Overview</a:t>
            </a:r>
          </a:p>
        </p:txBody>
      </p:sp>
      <p:graphicFrame>
        <p:nvGraphicFramePr>
          <p:cNvPr id="12" name="Table 12">
            <a:extLst>
              <a:ext uri="{FF2B5EF4-FFF2-40B4-BE49-F238E27FC236}">
                <a16:creationId xmlns:a16="http://schemas.microsoft.com/office/drawing/2014/main" id="{F5A8163F-CEB7-4A84-B701-BDF4BD71B542}"/>
              </a:ext>
            </a:extLst>
          </p:cNvPr>
          <p:cNvGraphicFramePr>
            <a:graphicFrameLocks noGrp="1"/>
          </p:cNvGraphicFramePr>
          <p:nvPr>
            <p:ph idx="1"/>
            <p:extLst>
              <p:ext uri="{D42A27DB-BD31-4B8C-83A1-F6EECF244321}">
                <p14:modId xmlns:p14="http://schemas.microsoft.com/office/powerpoint/2010/main" val="2125658747"/>
              </p:ext>
            </p:extLst>
          </p:nvPr>
        </p:nvGraphicFramePr>
        <p:xfrm>
          <a:off x="6672579" y="1417961"/>
          <a:ext cx="4491392" cy="2332100"/>
        </p:xfrm>
        <a:graphic>
          <a:graphicData uri="http://schemas.openxmlformats.org/drawingml/2006/table">
            <a:tbl>
              <a:tblPr firstRow="1" bandRow="1">
                <a:tableStyleId>{21E4AEA4-8DFA-4A89-87EB-49C32662AFE0}</a:tableStyleId>
              </a:tblPr>
              <a:tblGrid>
                <a:gridCol w="2245696">
                  <a:extLst>
                    <a:ext uri="{9D8B030D-6E8A-4147-A177-3AD203B41FA5}">
                      <a16:colId xmlns:a16="http://schemas.microsoft.com/office/drawing/2014/main" val="1694458051"/>
                    </a:ext>
                  </a:extLst>
                </a:gridCol>
                <a:gridCol w="2245696">
                  <a:extLst>
                    <a:ext uri="{9D8B030D-6E8A-4147-A177-3AD203B41FA5}">
                      <a16:colId xmlns:a16="http://schemas.microsoft.com/office/drawing/2014/main" val="3720953790"/>
                    </a:ext>
                  </a:extLst>
                </a:gridCol>
              </a:tblGrid>
              <a:tr h="362788">
                <a:tc>
                  <a:txBody>
                    <a:bodyPr/>
                    <a:lstStyle/>
                    <a:p>
                      <a:r>
                        <a:rPr lang="en-IN" sz="1400" dirty="0">
                          <a:solidFill>
                            <a:schemeClr val="tx1"/>
                          </a:solidFill>
                        </a:rPr>
                        <a:t>Founding year</a:t>
                      </a:r>
                    </a:p>
                  </a:txBody>
                  <a:tcPr>
                    <a:solidFill>
                      <a:schemeClr val="accent6">
                        <a:lumMod val="40000"/>
                        <a:lumOff val="60000"/>
                      </a:schemeClr>
                    </a:solidFill>
                  </a:tcPr>
                </a:tc>
                <a:tc>
                  <a:txBody>
                    <a:bodyPr/>
                    <a:lstStyle/>
                    <a:p>
                      <a:r>
                        <a:rPr lang="en-IN" sz="1400" dirty="0">
                          <a:solidFill>
                            <a:schemeClr val="tx1"/>
                          </a:solidFill>
                        </a:rPr>
                        <a:t>1915, </a:t>
                      </a:r>
                      <a:r>
                        <a:rPr lang="en-IN" sz="1400" dirty="0" err="1">
                          <a:solidFill>
                            <a:schemeClr val="tx1"/>
                          </a:solidFill>
                        </a:rPr>
                        <a:t>Surrey,UK</a:t>
                      </a:r>
                      <a:endParaRPr lang="en-IN" sz="1400" dirty="0">
                        <a:solidFill>
                          <a:schemeClr val="tx1"/>
                        </a:solidFill>
                      </a:endParaRPr>
                    </a:p>
                  </a:txBody>
                  <a:tcPr>
                    <a:solidFill>
                      <a:schemeClr val="accent6">
                        <a:lumMod val="40000"/>
                        <a:lumOff val="60000"/>
                      </a:schemeClr>
                    </a:solidFill>
                  </a:tcPr>
                </a:tc>
                <a:extLst>
                  <a:ext uri="{0D108BD9-81ED-4DB2-BD59-A6C34878D82A}">
                    <a16:rowId xmlns:a16="http://schemas.microsoft.com/office/drawing/2014/main" val="3665750629"/>
                  </a:ext>
                </a:extLst>
              </a:tr>
              <a:tr h="362788">
                <a:tc>
                  <a:txBody>
                    <a:bodyPr/>
                    <a:lstStyle/>
                    <a:p>
                      <a:r>
                        <a:rPr lang="en-IN" sz="1400" dirty="0"/>
                        <a:t>Headquarters</a:t>
                      </a:r>
                    </a:p>
                  </a:txBody>
                  <a:tcPr>
                    <a:solidFill>
                      <a:schemeClr val="accent6">
                        <a:lumMod val="40000"/>
                        <a:lumOff val="60000"/>
                      </a:schemeClr>
                    </a:solidFill>
                  </a:tcPr>
                </a:tc>
                <a:tc>
                  <a:txBody>
                    <a:bodyPr/>
                    <a:lstStyle/>
                    <a:p>
                      <a:pPr algn="l" fontAlgn="t"/>
                      <a:r>
                        <a:rPr lang="en-IN" sz="1400" u="none" strike="noStrike" dirty="0">
                          <a:solidFill>
                            <a:schemeClr val="tx1"/>
                          </a:solidFill>
                          <a:effectLst/>
                          <a:hlinkClick r:id="rId2" tooltip="Egham">
                            <a:extLst>
                              <a:ext uri="{A12FA001-AC4F-418D-AE19-62706E023703}">
                                <ahyp:hlinkClr xmlns:ahyp="http://schemas.microsoft.com/office/drawing/2018/hyperlinkcolor" val="tx"/>
                              </a:ext>
                            </a:extLst>
                          </a:hlinkClick>
                        </a:rPr>
                        <a:t>Egham</a:t>
                      </a:r>
                      <a:r>
                        <a:rPr lang="en-IN" sz="1400" u="none" dirty="0">
                          <a:solidFill>
                            <a:schemeClr val="tx1"/>
                          </a:solidFill>
                          <a:effectLst/>
                        </a:rPr>
                        <a:t>, </a:t>
                      </a:r>
                      <a:r>
                        <a:rPr lang="en-IN" sz="1400" u="none" strike="noStrike" dirty="0">
                          <a:solidFill>
                            <a:schemeClr val="tx1"/>
                          </a:solidFill>
                          <a:effectLst/>
                          <a:hlinkClick r:id="rId3" tooltip="Surrey">
                            <a:extLst>
                              <a:ext uri="{A12FA001-AC4F-418D-AE19-62706E023703}">
                                <ahyp:hlinkClr xmlns:ahyp="http://schemas.microsoft.com/office/drawing/2018/hyperlinkcolor" val="tx"/>
                              </a:ext>
                            </a:extLst>
                          </a:hlinkClick>
                        </a:rPr>
                        <a:t>Surrey</a:t>
                      </a:r>
                      <a:r>
                        <a:rPr lang="en-IN" sz="1400" dirty="0">
                          <a:solidFill>
                            <a:schemeClr val="tx1"/>
                          </a:solidFill>
                          <a:effectLst/>
                        </a:rPr>
                        <a:t>, </a:t>
                      </a:r>
                      <a:r>
                        <a:rPr lang="en-IN" sz="1400" u="none" strike="noStrike" dirty="0">
                          <a:solidFill>
                            <a:schemeClr val="tx1"/>
                          </a:solidFill>
                          <a:effectLst/>
                        </a:rPr>
                        <a:t>UK</a:t>
                      </a:r>
                      <a:endParaRPr lang="en-IN" sz="1400" dirty="0">
                        <a:solidFill>
                          <a:schemeClr val="tx1"/>
                        </a:solidFill>
                        <a:effectLst/>
                      </a:endParaRPr>
                    </a:p>
                  </a:txBody>
                  <a:tcPr>
                    <a:solidFill>
                      <a:schemeClr val="accent6">
                        <a:lumMod val="40000"/>
                        <a:lumOff val="60000"/>
                      </a:schemeClr>
                    </a:solidFill>
                  </a:tcPr>
                </a:tc>
                <a:extLst>
                  <a:ext uri="{0D108BD9-81ED-4DB2-BD59-A6C34878D82A}">
                    <a16:rowId xmlns:a16="http://schemas.microsoft.com/office/drawing/2014/main" val="2846044389"/>
                  </a:ext>
                </a:extLst>
              </a:tr>
              <a:tr h="362788">
                <a:tc>
                  <a:txBody>
                    <a:bodyPr/>
                    <a:lstStyle/>
                    <a:p>
                      <a:r>
                        <a:rPr lang="en-IN" sz="1400" dirty="0"/>
                        <a:t>Industry</a:t>
                      </a:r>
                    </a:p>
                  </a:txBody>
                  <a:tcPr>
                    <a:solidFill>
                      <a:schemeClr val="accent6">
                        <a:lumMod val="40000"/>
                        <a:lumOff val="60000"/>
                      </a:schemeClr>
                    </a:solidFill>
                  </a:tcPr>
                </a:tc>
                <a:tc>
                  <a:txBody>
                    <a:bodyPr/>
                    <a:lstStyle/>
                    <a:p>
                      <a:r>
                        <a:rPr lang="en-IN" sz="1400" dirty="0"/>
                        <a:t>Instrumentation</a:t>
                      </a:r>
                    </a:p>
                  </a:txBody>
                  <a:tcPr>
                    <a:solidFill>
                      <a:schemeClr val="accent6">
                        <a:lumMod val="40000"/>
                        <a:lumOff val="60000"/>
                      </a:schemeClr>
                    </a:solidFill>
                  </a:tcPr>
                </a:tc>
                <a:extLst>
                  <a:ext uri="{0D108BD9-81ED-4DB2-BD59-A6C34878D82A}">
                    <a16:rowId xmlns:a16="http://schemas.microsoft.com/office/drawing/2014/main" val="3116146981"/>
                  </a:ext>
                </a:extLst>
              </a:tr>
              <a:tr h="517332">
                <a:tc>
                  <a:txBody>
                    <a:bodyPr/>
                    <a:lstStyle/>
                    <a:p>
                      <a:r>
                        <a:rPr lang="en-IN" sz="1400" dirty="0"/>
                        <a:t>Stock Exchange Ticker Symbol</a:t>
                      </a:r>
                    </a:p>
                  </a:txBody>
                  <a:tcPr>
                    <a:solidFill>
                      <a:schemeClr val="accent6">
                        <a:lumMod val="40000"/>
                        <a:lumOff val="60000"/>
                      </a:schemeClr>
                    </a:solidFill>
                  </a:tcPr>
                </a:tc>
                <a:tc>
                  <a:txBody>
                    <a:bodyPr/>
                    <a:lstStyle/>
                    <a:p>
                      <a:r>
                        <a:rPr lang="en-IN" sz="1400" dirty="0"/>
                        <a:t>LSE: SXS</a:t>
                      </a:r>
                    </a:p>
                  </a:txBody>
                  <a:tcPr>
                    <a:solidFill>
                      <a:schemeClr val="accent6">
                        <a:lumMod val="40000"/>
                        <a:lumOff val="60000"/>
                      </a:schemeClr>
                    </a:solidFill>
                  </a:tcPr>
                </a:tc>
                <a:extLst>
                  <a:ext uri="{0D108BD9-81ED-4DB2-BD59-A6C34878D82A}">
                    <a16:rowId xmlns:a16="http://schemas.microsoft.com/office/drawing/2014/main" val="2546915867"/>
                  </a:ext>
                </a:extLst>
              </a:tr>
              <a:tr h="362788">
                <a:tc>
                  <a:txBody>
                    <a:bodyPr/>
                    <a:lstStyle/>
                    <a:p>
                      <a:r>
                        <a:rPr lang="en-IN" sz="1400" dirty="0"/>
                        <a:t>Company Type</a:t>
                      </a:r>
                    </a:p>
                  </a:txBody>
                  <a:tcPr>
                    <a:solidFill>
                      <a:schemeClr val="accent6">
                        <a:lumMod val="40000"/>
                        <a:lumOff val="60000"/>
                      </a:schemeClr>
                    </a:solidFill>
                  </a:tcPr>
                </a:tc>
                <a:tc>
                  <a:txBody>
                    <a:bodyPr/>
                    <a:lstStyle/>
                    <a:p>
                      <a:r>
                        <a:rPr lang="en-IN" sz="1400" dirty="0"/>
                        <a:t>Public</a:t>
                      </a:r>
                    </a:p>
                  </a:txBody>
                  <a:tcPr>
                    <a:solidFill>
                      <a:schemeClr val="accent6">
                        <a:lumMod val="40000"/>
                        <a:lumOff val="60000"/>
                      </a:schemeClr>
                    </a:solidFill>
                  </a:tcPr>
                </a:tc>
                <a:extLst>
                  <a:ext uri="{0D108BD9-81ED-4DB2-BD59-A6C34878D82A}">
                    <a16:rowId xmlns:a16="http://schemas.microsoft.com/office/drawing/2014/main" val="2601406609"/>
                  </a:ext>
                </a:extLst>
              </a:tr>
              <a:tr h="362788">
                <a:tc>
                  <a:txBody>
                    <a:bodyPr/>
                    <a:lstStyle/>
                    <a:p>
                      <a:endParaRPr lang="en-IN" sz="1400" dirty="0"/>
                    </a:p>
                  </a:txBody>
                  <a:tcPr>
                    <a:solidFill>
                      <a:schemeClr val="accent6">
                        <a:lumMod val="40000"/>
                        <a:lumOff val="60000"/>
                      </a:schemeClr>
                    </a:solidFill>
                  </a:tcPr>
                </a:tc>
                <a:tc>
                  <a:txBody>
                    <a:bodyPr/>
                    <a:lstStyle/>
                    <a:p>
                      <a:endParaRPr lang="en-IN" sz="1400" dirty="0"/>
                    </a:p>
                  </a:txBody>
                  <a:tcPr>
                    <a:solidFill>
                      <a:schemeClr val="accent6">
                        <a:lumMod val="40000"/>
                        <a:lumOff val="60000"/>
                      </a:schemeClr>
                    </a:solidFill>
                  </a:tcPr>
                </a:tc>
                <a:extLst>
                  <a:ext uri="{0D108BD9-81ED-4DB2-BD59-A6C34878D82A}">
                    <a16:rowId xmlns:a16="http://schemas.microsoft.com/office/drawing/2014/main" val="1566685492"/>
                  </a:ext>
                </a:extLst>
              </a:tr>
            </a:tbl>
          </a:graphicData>
        </a:graphic>
      </p:graphicFrame>
      <p:sp>
        <p:nvSpPr>
          <p:cNvPr id="4" name="Rectangle 3">
            <a:extLst>
              <a:ext uri="{FF2B5EF4-FFF2-40B4-BE49-F238E27FC236}">
                <a16:creationId xmlns:a16="http://schemas.microsoft.com/office/drawing/2014/main" id="{C75C3BEE-0E5C-4D38-B202-0997938DE750}"/>
              </a:ext>
            </a:extLst>
          </p:cNvPr>
          <p:cNvSpPr/>
          <p:nvPr/>
        </p:nvSpPr>
        <p:spPr>
          <a:xfrm>
            <a:off x="6672579" y="864465"/>
            <a:ext cx="4491393" cy="47426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61BE4C90-DF8E-47D2-9DE5-9F604CFD2D92}"/>
              </a:ext>
            </a:extLst>
          </p:cNvPr>
          <p:cNvSpPr/>
          <p:nvPr/>
        </p:nvSpPr>
        <p:spPr>
          <a:xfrm>
            <a:off x="6672579" y="3994857"/>
            <a:ext cx="4606125" cy="61883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Financial Metrics, 2018</a:t>
            </a:r>
          </a:p>
        </p:txBody>
      </p:sp>
      <p:sp>
        <p:nvSpPr>
          <p:cNvPr id="6" name="Rectangle 5">
            <a:extLst>
              <a:ext uri="{FF2B5EF4-FFF2-40B4-BE49-F238E27FC236}">
                <a16:creationId xmlns:a16="http://schemas.microsoft.com/office/drawing/2014/main" id="{21D35798-0A08-4F10-B3EC-0C010115D6D1}"/>
              </a:ext>
            </a:extLst>
          </p:cNvPr>
          <p:cNvSpPr/>
          <p:nvPr/>
        </p:nvSpPr>
        <p:spPr>
          <a:xfrm>
            <a:off x="996237" y="909470"/>
            <a:ext cx="4947361" cy="41564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Business Overview</a:t>
            </a:r>
          </a:p>
        </p:txBody>
      </p:sp>
      <p:cxnSp>
        <p:nvCxnSpPr>
          <p:cNvPr id="7" name="Straight Connector 6">
            <a:extLst>
              <a:ext uri="{FF2B5EF4-FFF2-40B4-BE49-F238E27FC236}">
                <a16:creationId xmlns:a16="http://schemas.microsoft.com/office/drawing/2014/main" id="{062C0BFA-D821-427D-912A-B6F617049278}"/>
              </a:ext>
            </a:extLst>
          </p:cNvPr>
          <p:cNvCxnSpPr>
            <a:cxnSpLocks/>
          </p:cNvCxnSpPr>
          <p:nvPr/>
        </p:nvCxnSpPr>
        <p:spPr>
          <a:xfrm>
            <a:off x="771182" y="667055"/>
            <a:ext cx="103927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73C0CBF-3560-47DE-B79A-6F6332932ADD}"/>
              </a:ext>
            </a:extLst>
          </p:cNvPr>
          <p:cNvSpPr txBox="1"/>
          <p:nvPr/>
        </p:nvSpPr>
        <p:spPr>
          <a:xfrm>
            <a:off x="7717368" y="921271"/>
            <a:ext cx="2642191" cy="369332"/>
          </a:xfrm>
          <a:prstGeom prst="rect">
            <a:avLst/>
          </a:prstGeom>
          <a:noFill/>
        </p:spPr>
        <p:txBody>
          <a:bodyPr wrap="square" rtlCol="0">
            <a:spAutoFit/>
          </a:bodyPr>
          <a:lstStyle/>
          <a:p>
            <a:r>
              <a:rPr lang="en-IN" dirty="0">
                <a:solidFill>
                  <a:schemeClr val="bg1"/>
                </a:solidFill>
              </a:rPr>
              <a:t>Company Key Facts</a:t>
            </a:r>
          </a:p>
        </p:txBody>
      </p:sp>
      <p:sp>
        <p:nvSpPr>
          <p:cNvPr id="11" name="TextBox 10">
            <a:extLst>
              <a:ext uri="{FF2B5EF4-FFF2-40B4-BE49-F238E27FC236}">
                <a16:creationId xmlns:a16="http://schemas.microsoft.com/office/drawing/2014/main" id="{BBF24ABB-27DF-4A60-9796-FDE98FD10060}"/>
              </a:ext>
            </a:extLst>
          </p:cNvPr>
          <p:cNvSpPr txBox="1"/>
          <p:nvPr/>
        </p:nvSpPr>
        <p:spPr>
          <a:xfrm>
            <a:off x="942974" y="1439320"/>
            <a:ext cx="5000624" cy="5047536"/>
          </a:xfrm>
          <a:prstGeom prst="rect">
            <a:avLst/>
          </a:prstGeom>
          <a:solidFill>
            <a:schemeClr val="tx2">
              <a:lumMod val="40000"/>
              <a:lumOff val="60000"/>
            </a:schemeClr>
          </a:solidFill>
        </p:spPr>
        <p:txBody>
          <a:bodyPr wrap="square" rtlCol="0">
            <a:spAutoFit/>
          </a:bodyPr>
          <a:lstStyle/>
          <a:p>
            <a:pPr marL="171450" indent="-171450" algn="just">
              <a:buFont typeface="Wingdings" panose="05000000000000000000" pitchFamily="2" charset="2"/>
              <a:buChar char="Ø"/>
            </a:pPr>
            <a:r>
              <a:rPr lang="en-IN" sz="1400" dirty="0"/>
              <a:t>Spectris plc is a leading supplier of productivity-enhancing instrumentation and controls. They provide solutions combining hardware, software and related services for some of the most technically-demanding industrial applications</a:t>
            </a:r>
          </a:p>
          <a:p>
            <a:pPr marL="171450" indent="-171450" algn="just">
              <a:buFont typeface="Wingdings" panose="05000000000000000000" pitchFamily="2" charset="2"/>
              <a:buChar char="Ø"/>
            </a:pPr>
            <a:r>
              <a:rPr lang="en-IN" sz="1400" dirty="0"/>
              <a:t>The Company’s products, technologies and services help customers to improve product quality and performance, improve core manufacturing processes, reduce downtime and wastage and reduce time to market.</a:t>
            </a:r>
          </a:p>
          <a:p>
            <a:pPr marL="171450" indent="-171450" algn="just">
              <a:buFont typeface="Wingdings" panose="05000000000000000000" pitchFamily="2" charset="2"/>
              <a:buChar char="Ø"/>
            </a:pPr>
            <a:r>
              <a:rPr lang="en-IN" sz="1400" dirty="0"/>
              <a:t> Its global customer base spans a diverse range of end-user markets. Spectris operates across four business segments : Materials Analysis, Test and Measurement, In-line Instrumentation and Industrial Controls</a:t>
            </a:r>
          </a:p>
          <a:p>
            <a:pPr marL="285750" indent="-285750">
              <a:buFont typeface="Wingdings" panose="05000000000000000000" pitchFamily="2" charset="2"/>
              <a:buChar char="Ø"/>
            </a:pPr>
            <a:r>
              <a:rPr lang="en-IN" sz="1400" dirty="0"/>
              <a:t>The company is organized as follows:</a:t>
            </a:r>
          </a:p>
          <a:p>
            <a:pPr marL="285750" indent="-285750">
              <a:buFont typeface="Wingdings" panose="05000000000000000000" pitchFamily="2" charset="2"/>
              <a:buChar char="Ø"/>
            </a:pPr>
            <a:r>
              <a:rPr lang="en-IN" sz="1400" dirty="0"/>
              <a:t>Test Services - Millbrook Proving Ground</a:t>
            </a:r>
          </a:p>
          <a:p>
            <a:pPr marL="285750" indent="-285750">
              <a:buFont typeface="Wingdings" panose="05000000000000000000" pitchFamily="2" charset="2"/>
              <a:buChar char="Ø"/>
            </a:pPr>
            <a:r>
              <a:rPr lang="en-IN" sz="1400" dirty="0"/>
              <a:t>Materials Analysis - Malvern Instruments, Particle Measuring Systems, PANalytical</a:t>
            </a:r>
          </a:p>
          <a:p>
            <a:pPr marL="285750" indent="-285750">
              <a:buFont typeface="Wingdings" panose="05000000000000000000" pitchFamily="2" charset="2"/>
              <a:buChar char="Ø"/>
            </a:pPr>
            <a:r>
              <a:rPr lang="en-IN" sz="1400" dirty="0"/>
              <a:t>Test and Measurement - </a:t>
            </a:r>
            <a:r>
              <a:rPr lang="en-IN" sz="1400" dirty="0" err="1"/>
              <a:t>Brüel</a:t>
            </a:r>
            <a:r>
              <a:rPr lang="en-IN" sz="1400" dirty="0"/>
              <a:t> &amp; </a:t>
            </a:r>
            <a:r>
              <a:rPr lang="en-IN" sz="1400" dirty="0" err="1"/>
              <a:t>Kjær</a:t>
            </a:r>
            <a:r>
              <a:rPr lang="en-IN" sz="1400" dirty="0"/>
              <a:t> Sound &amp; Vibration, ESG Solutions, HBM Test and Measurement</a:t>
            </a:r>
          </a:p>
          <a:p>
            <a:pPr marL="285750" indent="-285750">
              <a:buFont typeface="Wingdings" panose="05000000000000000000" pitchFamily="2" charset="2"/>
              <a:buChar char="Ø"/>
            </a:pPr>
            <a:r>
              <a:rPr lang="en-IN" sz="1400" dirty="0"/>
              <a:t>In-line instrumentation - </a:t>
            </a:r>
            <a:r>
              <a:rPr lang="en-IN" sz="1400" dirty="0" err="1"/>
              <a:t>Brüel</a:t>
            </a:r>
            <a:r>
              <a:rPr lang="en-IN" sz="1400" dirty="0"/>
              <a:t> &amp; </a:t>
            </a:r>
            <a:r>
              <a:rPr lang="en-IN" sz="1400" dirty="0" err="1"/>
              <a:t>Kjær</a:t>
            </a:r>
            <a:r>
              <a:rPr lang="en-IN" sz="1400" dirty="0"/>
              <a:t> </a:t>
            </a:r>
            <a:r>
              <a:rPr lang="en-IN" sz="1400" dirty="0" err="1"/>
              <a:t>Vibro</a:t>
            </a:r>
            <a:r>
              <a:rPr lang="en-IN" sz="1400" dirty="0"/>
              <a:t>, BTG, NDC Technologies, </a:t>
            </a:r>
            <a:r>
              <a:rPr lang="en-IN" sz="1400" dirty="0" err="1"/>
              <a:t>Servomex</a:t>
            </a:r>
            <a:endParaRPr lang="en-IN" sz="1400" dirty="0"/>
          </a:p>
          <a:p>
            <a:pPr marL="285750" indent="-285750">
              <a:buFont typeface="Wingdings" panose="05000000000000000000" pitchFamily="2" charset="2"/>
              <a:buChar char="Ø"/>
            </a:pPr>
            <a:r>
              <a:rPr lang="en-IN" sz="1400" dirty="0"/>
              <a:t>Industrial Controls - Red Lion Controls, Omega Engineering</a:t>
            </a:r>
          </a:p>
          <a:p>
            <a:br>
              <a:rPr lang="en-IN" sz="1400" dirty="0"/>
            </a:br>
            <a:endParaRPr lang="en-IN" sz="1400" dirty="0"/>
          </a:p>
        </p:txBody>
      </p:sp>
      <p:sp>
        <p:nvSpPr>
          <p:cNvPr id="14" name="Rectangle 13">
            <a:extLst>
              <a:ext uri="{FF2B5EF4-FFF2-40B4-BE49-F238E27FC236}">
                <a16:creationId xmlns:a16="http://schemas.microsoft.com/office/drawing/2014/main" id="{370CF549-3B56-4338-A2B5-C37B32FF84F3}"/>
              </a:ext>
            </a:extLst>
          </p:cNvPr>
          <p:cNvSpPr/>
          <p:nvPr/>
        </p:nvSpPr>
        <p:spPr>
          <a:xfrm>
            <a:off x="6672579" y="4655615"/>
            <a:ext cx="4606125" cy="146446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Flowchart: Alternate Process 23">
            <a:extLst>
              <a:ext uri="{FF2B5EF4-FFF2-40B4-BE49-F238E27FC236}">
                <a16:creationId xmlns:a16="http://schemas.microsoft.com/office/drawing/2014/main" id="{00FC3A4D-F90B-4C4C-AC41-66D8975F1449}"/>
              </a:ext>
            </a:extLst>
          </p:cNvPr>
          <p:cNvSpPr/>
          <p:nvPr/>
        </p:nvSpPr>
        <p:spPr>
          <a:xfrm>
            <a:off x="6701672" y="4665289"/>
            <a:ext cx="1346921" cy="432197"/>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lowchart: Alternate Process 24">
            <a:extLst>
              <a:ext uri="{FF2B5EF4-FFF2-40B4-BE49-F238E27FC236}">
                <a16:creationId xmlns:a16="http://schemas.microsoft.com/office/drawing/2014/main" id="{4400D7CA-ED4D-4E76-BBF5-7CD93464FCD5}"/>
              </a:ext>
            </a:extLst>
          </p:cNvPr>
          <p:cNvSpPr/>
          <p:nvPr/>
        </p:nvSpPr>
        <p:spPr>
          <a:xfrm>
            <a:off x="8462582" y="4691395"/>
            <a:ext cx="1346921" cy="432197"/>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lowchart: Alternate Process 25">
            <a:extLst>
              <a:ext uri="{FF2B5EF4-FFF2-40B4-BE49-F238E27FC236}">
                <a16:creationId xmlns:a16="http://schemas.microsoft.com/office/drawing/2014/main" id="{314C106F-DB2A-4967-A9C5-076B6066B261}"/>
              </a:ext>
            </a:extLst>
          </p:cNvPr>
          <p:cNvSpPr/>
          <p:nvPr/>
        </p:nvSpPr>
        <p:spPr>
          <a:xfrm>
            <a:off x="10041584" y="4666028"/>
            <a:ext cx="1207441" cy="457564"/>
          </a:xfrm>
          <a:prstGeom prst="flowChartAlternateProcess">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Connector 27">
            <a:extLst>
              <a:ext uri="{FF2B5EF4-FFF2-40B4-BE49-F238E27FC236}">
                <a16:creationId xmlns:a16="http://schemas.microsoft.com/office/drawing/2014/main" id="{3858A714-F409-4C51-8911-53163FE3B5B9}"/>
              </a:ext>
            </a:extLst>
          </p:cNvPr>
          <p:cNvCxnSpPr/>
          <p:nvPr/>
        </p:nvCxnSpPr>
        <p:spPr>
          <a:xfrm>
            <a:off x="8237764" y="4638204"/>
            <a:ext cx="0" cy="1457464"/>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D6B32-4AF5-4204-ACD6-C17A8D600B19}"/>
              </a:ext>
            </a:extLst>
          </p:cNvPr>
          <p:cNvCxnSpPr/>
          <p:nvPr/>
        </p:nvCxnSpPr>
        <p:spPr>
          <a:xfrm>
            <a:off x="9959229" y="4645883"/>
            <a:ext cx="0" cy="145746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43EE825-B1E2-46D6-89EA-F406B0E10A8E}"/>
              </a:ext>
            </a:extLst>
          </p:cNvPr>
          <p:cNvSpPr txBox="1"/>
          <p:nvPr/>
        </p:nvSpPr>
        <p:spPr>
          <a:xfrm>
            <a:off x="6981721" y="4731871"/>
            <a:ext cx="1128009" cy="307777"/>
          </a:xfrm>
          <a:prstGeom prst="rect">
            <a:avLst/>
          </a:prstGeom>
          <a:noFill/>
        </p:spPr>
        <p:txBody>
          <a:bodyPr wrap="square" rtlCol="0">
            <a:spAutoFit/>
          </a:bodyPr>
          <a:lstStyle/>
          <a:p>
            <a:r>
              <a:rPr lang="en-IN" sz="1400" dirty="0"/>
              <a:t>Revenue</a:t>
            </a:r>
          </a:p>
        </p:txBody>
      </p:sp>
      <p:sp>
        <p:nvSpPr>
          <p:cNvPr id="31" name="TextBox 30">
            <a:extLst>
              <a:ext uri="{FF2B5EF4-FFF2-40B4-BE49-F238E27FC236}">
                <a16:creationId xmlns:a16="http://schemas.microsoft.com/office/drawing/2014/main" id="{7C13B121-5562-468B-8F31-3FBD826AD5D8}"/>
              </a:ext>
            </a:extLst>
          </p:cNvPr>
          <p:cNvSpPr txBox="1"/>
          <p:nvPr/>
        </p:nvSpPr>
        <p:spPr>
          <a:xfrm>
            <a:off x="8578899" y="4619777"/>
            <a:ext cx="1297976" cy="523220"/>
          </a:xfrm>
          <a:prstGeom prst="rect">
            <a:avLst/>
          </a:prstGeom>
          <a:noFill/>
        </p:spPr>
        <p:txBody>
          <a:bodyPr wrap="square" rtlCol="0">
            <a:spAutoFit/>
          </a:bodyPr>
          <a:lstStyle/>
          <a:p>
            <a:r>
              <a:rPr lang="en-IN" sz="1400" dirty="0"/>
              <a:t>Operating </a:t>
            </a:r>
          </a:p>
          <a:p>
            <a:r>
              <a:rPr lang="en-IN" sz="1400" dirty="0"/>
              <a:t>Income</a:t>
            </a:r>
          </a:p>
        </p:txBody>
      </p:sp>
      <p:sp>
        <p:nvSpPr>
          <p:cNvPr id="32" name="TextBox 31">
            <a:extLst>
              <a:ext uri="{FF2B5EF4-FFF2-40B4-BE49-F238E27FC236}">
                <a16:creationId xmlns:a16="http://schemas.microsoft.com/office/drawing/2014/main" id="{60DAC708-27CA-421E-B57C-B1C8DE719E28}"/>
              </a:ext>
            </a:extLst>
          </p:cNvPr>
          <p:cNvSpPr txBox="1"/>
          <p:nvPr/>
        </p:nvSpPr>
        <p:spPr>
          <a:xfrm>
            <a:off x="10181263" y="4789709"/>
            <a:ext cx="1128009" cy="307777"/>
          </a:xfrm>
          <a:prstGeom prst="rect">
            <a:avLst/>
          </a:prstGeom>
          <a:noFill/>
        </p:spPr>
        <p:txBody>
          <a:bodyPr wrap="square" rtlCol="0">
            <a:spAutoFit/>
          </a:bodyPr>
          <a:lstStyle/>
          <a:p>
            <a:r>
              <a:rPr lang="en-IN" sz="1400" dirty="0"/>
              <a:t>Net Income</a:t>
            </a:r>
          </a:p>
        </p:txBody>
      </p:sp>
      <p:sp>
        <p:nvSpPr>
          <p:cNvPr id="33" name="TextBox 32">
            <a:extLst>
              <a:ext uri="{FF2B5EF4-FFF2-40B4-BE49-F238E27FC236}">
                <a16:creationId xmlns:a16="http://schemas.microsoft.com/office/drawing/2014/main" id="{E4B641D8-F3E3-4515-8BE7-21FBFC2D6524}"/>
              </a:ext>
            </a:extLst>
          </p:cNvPr>
          <p:cNvSpPr txBox="1"/>
          <p:nvPr/>
        </p:nvSpPr>
        <p:spPr>
          <a:xfrm>
            <a:off x="7060238" y="5433260"/>
            <a:ext cx="1314259" cy="584775"/>
          </a:xfrm>
          <a:prstGeom prst="rect">
            <a:avLst/>
          </a:prstGeom>
          <a:noFill/>
        </p:spPr>
        <p:txBody>
          <a:bodyPr wrap="square" rtlCol="0">
            <a:spAutoFit/>
          </a:bodyPr>
          <a:lstStyle/>
          <a:p>
            <a:r>
              <a:rPr lang="en-IN" sz="1400" dirty="0">
                <a:hlinkClick r:id="rId4" tooltip="Pound sterling">
                  <a:extLst>
                    <a:ext uri="{A12FA001-AC4F-418D-AE19-62706E023703}">
                      <ahyp:hlinkClr xmlns:ahyp="http://schemas.microsoft.com/office/drawing/2018/hyperlinkcolor" val="tx"/>
                    </a:ext>
                  </a:extLst>
                </a:hlinkClick>
              </a:rPr>
              <a:t>£</a:t>
            </a:r>
            <a:r>
              <a:rPr lang="en-IN" sz="1400" dirty="0"/>
              <a:t>1,604.2 million</a:t>
            </a:r>
            <a:r>
              <a:rPr lang="en-IN" dirty="0"/>
              <a:t> </a:t>
            </a:r>
          </a:p>
        </p:txBody>
      </p:sp>
      <p:sp>
        <p:nvSpPr>
          <p:cNvPr id="35" name="TextBox 34">
            <a:extLst>
              <a:ext uri="{FF2B5EF4-FFF2-40B4-BE49-F238E27FC236}">
                <a16:creationId xmlns:a16="http://schemas.microsoft.com/office/drawing/2014/main" id="{25E5A416-5CEC-426E-84D2-16E5EB70E3B3}"/>
              </a:ext>
            </a:extLst>
          </p:cNvPr>
          <p:cNvSpPr txBox="1"/>
          <p:nvPr/>
        </p:nvSpPr>
        <p:spPr>
          <a:xfrm>
            <a:off x="8772500" y="5433261"/>
            <a:ext cx="1066946" cy="584775"/>
          </a:xfrm>
          <a:prstGeom prst="rect">
            <a:avLst/>
          </a:prstGeom>
          <a:noFill/>
        </p:spPr>
        <p:txBody>
          <a:bodyPr wrap="square" rtlCol="0">
            <a:spAutoFit/>
          </a:bodyPr>
          <a:lstStyle/>
          <a:p>
            <a:r>
              <a:rPr lang="en-IN" sz="1400" dirty="0">
                <a:hlinkClick r:id="rId4" tooltip="Pound sterling">
                  <a:extLst>
                    <a:ext uri="{A12FA001-AC4F-418D-AE19-62706E023703}">
                      <ahyp:hlinkClr xmlns:ahyp="http://schemas.microsoft.com/office/drawing/2018/hyperlinkcolor" val="tx"/>
                    </a:ext>
                  </a:extLst>
                </a:hlinkClick>
              </a:rPr>
              <a:t>£</a:t>
            </a:r>
            <a:r>
              <a:rPr lang="en-IN" sz="1400" dirty="0"/>
              <a:t>176.4 million</a:t>
            </a:r>
            <a:r>
              <a:rPr lang="en-IN" dirty="0"/>
              <a:t> </a:t>
            </a:r>
          </a:p>
        </p:txBody>
      </p:sp>
      <p:sp>
        <p:nvSpPr>
          <p:cNvPr id="36" name="TextBox 35">
            <a:extLst>
              <a:ext uri="{FF2B5EF4-FFF2-40B4-BE49-F238E27FC236}">
                <a16:creationId xmlns:a16="http://schemas.microsoft.com/office/drawing/2014/main" id="{419C5951-29F3-4E04-8E66-BACD9FA305AB}"/>
              </a:ext>
            </a:extLst>
          </p:cNvPr>
          <p:cNvSpPr txBox="1"/>
          <p:nvPr/>
        </p:nvSpPr>
        <p:spPr>
          <a:xfrm>
            <a:off x="10339361" y="5433261"/>
            <a:ext cx="1066946" cy="584775"/>
          </a:xfrm>
          <a:prstGeom prst="rect">
            <a:avLst/>
          </a:prstGeom>
          <a:noFill/>
        </p:spPr>
        <p:txBody>
          <a:bodyPr wrap="square" rtlCol="0">
            <a:spAutoFit/>
          </a:bodyPr>
          <a:lstStyle/>
          <a:p>
            <a:r>
              <a:rPr lang="en-IN" sz="1400" dirty="0">
                <a:hlinkClick r:id="rId4" tooltip="Pound sterling">
                  <a:extLst>
                    <a:ext uri="{A12FA001-AC4F-418D-AE19-62706E023703}">
                      <ahyp:hlinkClr xmlns:ahyp="http://schemas.microsoft.com/office/drawing/2018/hyperlinkcolor" val="tx"/>
                    </a:ext>
                  </a:extLst>
                </a:hlinkClick>
              </a:rPr>
              <a:t>£</a:t>
            </a:r>
            <a:r>
              <a:rPr lang="en-IN" sz="1400" dirty="0"/>
              <a:t>185.2 million</a:t>
            </a:r>
            <a:r>
              <a:rPr lang="en-IN" dirty="0"/>
              <a:t> </a:t>
            </a:r>
          </a:p>
        </p:txBody>
      </p:sp>
      <p:pic>
        <p:nvPicPr>
          <p:cNvPr id="38" name="Picture 37">
            <a:extLst>
              <a:ext uri="{FF2B5EF4-FFF2-40B4-BE49-F238E27FC236}">
                <a16:creationId xmlns:a16="http://schemas.microsoft.com/office/drawing/2014/main" id="{73008A60-878C-40D3-AA68-1B448DD389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39377" y="18060"/>
            <a:ext cx="804413" cy="658415"/>
          </a:xfrm>
          <a:prstGeom prst="rect">
            <a:avLst/>
          </a:prstGeom>
        </p:spPr>
      </p:pic>
    </p:spTree>
    <p:extLst>
      <p:ext uri="{BB962C8B-B14F-4D97-AF65-F5344CB8AC3E}">
        <p14:creationId xmlns:p14="http://schemas.microsoft.com/office/powerpoint/2010/main" val="699885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69F89-6400-45C9-804A-80FED0A912DC}"/>
              </a:ext>
            </a:extLst>
          </p:cNvPr>
          <p:cNvSpPr>
            <a:spLocks noGrp="1"/>
          </p:cNvSpPr>
          <p:nvPr>
            <p:ph type="title"/>
          </p:nvPr>
        </p:nvSpPr>
        <p:spPr>
          <a:xfrm>
            <a:off x="838200" y="365125"/>
            <a:ext cx="10515600" cy="643543"/>
          </a:xfrm>
        </p:spPr>
        <p:txBody>
          <a:bodyPr>
            <a:normAutofit/>
          </a:bodyPr>
          <a:lstStyle/>
          <a:p>
            <a:r>
              <a:rPr lang="en-IN" sz="2400" b="1" dirty="0">
                <a:latin typeface="+mn-lt"/>
              </a:rPr>
              <a:t>Executive Management Team</a:t>
            </a:r>
          </a:p>
        </p:txBody>
      </p:sp>
      <p:graphicFrame>
        <p:nvGraphicFramePr>
          <p:cNvPr id="4" name="Table 4">
            <a:extLst>
              <a:ext uri="{FF2B5EF4-FFF2-40B4-BE49-F238E27FC236}">
                <a16:creationId xmlns:a16="http://schemas.microsoft.com/office/drawing/2014/main" id="{4D08B453-13E3-468C-B1EB-10451965F98D}"/>
              </a:ext>
            </a:extLst>
          </p:cNvPr>
          <p:cNvGraphicFramePr>
            <a:graphicFrameLocks noGrp="1"/>
          </p:cNvGraphicFramePr>
          <p:nvPr>
            <p:ph idx="1"/>
            <p:extLst>
              <p:ext uri="{D42A27DB-BD31-4B8C-83A1-F6EECF244321}">
                <p14:modId xmlns:p14="http://schemas.microsoft.com/office/powerpoint/2010/main" val="1755911212"/>
              </p:ext>
            </p:extLst>
          </p:nvPr>
        </p:nvGraphicFramePr>
        <p:xfrm>
          <a:off x="537328" y="1366886"/>
          <a:ext cx="10718276" cy="4421171"/>
        </p:xfrm>
        <a:graphic>
          <a:graphicData uri="http://schemas.openxmlformats.org/drawingml/2006/table">
            <a:tbl>
              <a:tblPr firstRow="1" bandRow="1">
                <a:tableStyleId>{21E4AEA4-8DFA-4A89-87EB-49C32662AFE0}</a:tableStyleId>
              </a:tblPr>
              <a:tblGrid>
                <a:gridCol w="4209323">
                  <a:extLst>
                    <a:ext uri="{9D8B030D-6E8A-4147-A177-3AD203B41FA5}">
                      <a16:colId xmlns:a16="http://schemas.microsoft.com/office/drawing/2014/main" val="3848337464"/>
                    </a:ext>
                  </a:extLst>
                </a:gridCol>
                <a:gridCol w="4160479">
                  <a:extLst>
                    <a:ext uri="{9D8B030D-6E8A-4147-A177-3AD203B41FA5}">
                      <a16:colId xmlns:a16="http://schemas.microsoft.com/office/drawing/2014/main" val="32293575"/>
                    </a:ext>
                  </a:extLst>
                </a:gridCol>
                <a:gridCol w="2348474">
                  <a:extLst>
                    <a:ext uri="{9D8B030D-6E8A-4147-A177-3AD203B41FA5}">
                      <a16:colId xmlns:a16="http://schemas.microsoft.com/office/drawing/2014/main" val="1770462894"/>
                    </a:ext>
                  </a:extLst>
                </a:gridCol>
              </a:tblGrid>
              <a:tr h="409060">
                <a:tc>
                  <a:txBody>
                    <a:bodyPr/>
                    <a:lstStyle/>
                    <a:p>
                      <a:r>
                        <a:rPr lang="en-IN" dirty="0"/>
                        <a:t>Name</a:t>
                      </a:r>
                    </a:p>
                  </a:txBody>
                  <a:tcPr/>
                </a:tc>
                <a:tc>
                  <a:txBody>
                    <a:bodyPr/>
                    <a:lstStyle/>
                    <a:p>
                      <a:r>
                        <a:rPr lang="en-IN" dirty="0"/>
                        <a:t> Position </a:t>
                      </a:r>
                    </a:p>
                  </a:txBody>
                  <a:tcPr/>
                </a:tc>
                <a:tc>
                  <a:txBody>
                    <a:bodyPr/>
                    <a:lstStyle/>
                    <a:p>
                      <a:r>
                        <a:rPr lang="en-IN" dirty="0"/>
                        <a:t>Date appointed</a:t>
                      </a:r>
                    </a:p>
                  </a:txBody>
                  <a:tcPr/>
                </a:tc>
                <a:extLst>
                  <a:ext uri="{0D108BD9-81ED-4DB2-BD59-A6C34878D82A}">
                    <a16:rowId xmlns:a16="http://schemas.microsoft.com/office/drawing/2014/main" val="2988992089"/>
                  </a:ext>
                </a:extLst>
              </a:tr>
              <a:tr h="414741">
                <a:tc>
                  <a:txBody>
                    <a:bodyPr/>
                    <a:lstStyle/>
                    <a:p>
                      <a:r>
                        <a:rPr lang="en-IN" dirty="0"/>
                        <a:t>Andrew Heath</a:t>
                      </a:r>
                    </a:p>
                  </a:txBody>
                  <a:tcPr/>
                </a:tc>
                <a:tc>
                  <a:txBody>
                    <a:bodyPr/>
                    <a:lstStyle/>
                    <a:p>
                      <a:r>
                        <a:rPr lang="en-IN" dirty="0"/>
                        <a:t>Chief Executive </a:t>
                      </a:r>
                    </a:p>
                  </a:txBody>
                  <a:tcPr/>
                </a:tc>
                <a:tc>
                  <a:txBody>
                    <a:bodyPr/>
                    <a:lstStyle/>
                    <a:p>
                      <a:r>
                        <a:rPr lang="en-IN" dirty="0"/>
                        <a:t>Sep 2018</a:t>
                      </a:r>
                    </a:p>
                  </a:txBody>
                  <a:tcPr/>
                </a:tc>
                <a:extLst>
                  <a:ext uri="{0D108BD9-81ED-4DB2-BD59-A6C34878D82A}">
                    <a16:rowId xmlns:a16="http://schemas.microsoft.com/office/drawing/2014/main" val="79598586"/>
                  </a:ext>
                </a:extLst>
              </a:tr>
              <a:tr h="414741">
                <a:tc>
                  <a:txBody>
                    <a:bodyPr/>
                    <a:lstStyle/>
                    <a:p>
                      <a:r>
                        <a:rPr lang="en-IN" dirty="0"/>
                        <a:t>Mark </a:t>
                      </a:r>
                      <a:r>
                        <a:rPr lang="en-IN" dirty="0" err="1"/>
                        <a:t>Fleiner</a:t>
                      </a:r>
                      <a:endParaRPr lang="en-IN" dirty="0"/>
                    </a:p>
                  </a:txBody>
                  <a:tcPr/>
                </a:tc>
                <a:tc>
                  <a:txBody>
                    <a:bodyPr/>
                    <a:lstStyle/>
                    <a:p>
                      <a:r>
                        <a:rPr lang="en-IN" dirty="0"/>
                        <a:t>Business Group Director </a:t>
                      </a:r>
                    </a:p>
                  </a:txBody>
                  <a:tcPr/>
                </a:tc>
                <a:tc>
                  <a:txBody>
                    <a:bodyPr/>
                    <a:lstStyle/>
                    <a:p>
                      <a:r>
                        <a:rPr lang="en-IN" dirty="0"/>
                        <a:t>Jan 2019</a:t>
                      </a:r>
                    </a:p>
                  </a:txBody>
                  <a:tcPr/>
                </a:tc>
                <a:extLst>
                  <a:ext uri="{0D108BD9-81ED-4DB2-BD59-A6C34878D82A}">
                    <a16:rowId xmlns:a16="http://schemas.microsoft.com/office/drawing/2014/main" val="1397531793"/>
                  </a:ext>
                </a:extLst>
              </a:tr>
              <a:tr h="414741">
                <a:tc>
                  <a:txBody>
                    <a:bodyPr/>
                    <a:lstStyle/>
                    <a:p>
                      <a:r>
                        <a:rPr lang="en-IN" dirty="0"/>
                        <a:t>Andrew Harvey</a:t>
                      </a:r>
                    </a:p>
                  </a:txBody>
                  <a:tcPr/>
                </a:tc>
                <a:tc>
                  <a:txBody>
                    <a:bodyPr/>
                    <a:lstStyle/>
                    <a:p>
                      <a:r>
                        <a:rPr lang="en-IN" dirty="0"/>
                        <a:t>Group Human Resources Director </a:t>
                      </a:r>
                    </a:p>
                  </a:txBody>
                  <a:tcPr/>
                </a:tc>
                <a:tc>
                  <a:txBody>
                    <a:bodyPr/>
                    <a:lstStyle/>
                    <a:p>
                      <a:r>
                        <a:rPr lang="en-IN" dirty="0"/>
                        <a:t>Jan 2017</a:t>
                      </a:r>
                    </a:p>
                  </a:txBody>
                  <a:tcPr/>
                </a:tc>
                <a:extLst>
                  <a:ext uri="{0D108BD9-81ED-4DB2-BD59-A6C34878D82A}">
                    <a16:rowId xmlns:a16="http://schemas.microsoft.com/office/drawing/2014/main" val="3473226214"/>
                  </a:ext>
                </a:extLst>
              </a:tr>
              <a:tr h="414741">
                <a:tc>
                  <a:txBody>
                    <a:bodyPr/>
                    <a:lstStyle/>
                    <a:p>
                      <a:r>
                        <a:rPr lang="en-IN" dirty="0"/>
                        <a:t>Eoghan </a:t>
                      </a:r>
                      <a:r>
                        <a:rPr lang="en-IN" dirty="0" err="1"/>
                        <a:t>O’Lionaird</a:t>
                      </a:r>
                      <a:endParaRPr lang="en-IN" dirty="0"/>
                    </a:p>
                  </a:txBody>
                  <a:tcPr/>
                </a:tc>
                <a:tc>
                  <a:txBody>
                    <a:bodyPr/>
                    <a:lstStyle/>
                    <a:p>
                      <a:r>
                        <a:rPr lang="en-IN" dirty="0"/>
                        <a:t>Business Group Director </a:t>
                      </a:r>
                    </a:p>
                  </a:txBody>
                  <a:tcPr/>
                </a:tc>
                <a:tc>
                  <a:txBody>
                    <a:bodyPr/>
                    <a:lstStyle/>
                    <a:p>
                      <a:r>
                        <a:rPr lang="en-IN" dirty="0"/>
                        <a:t>Feb 2014</a:t>
                      </a:r>
                    </a:p>
                  </a:txBody>
                  <a:tcPr/>
                </a:tc>
                <a:extLst>
                  <a:ext uri="{0D108BD9-81ED-4DB2-BD59-A6C34878D82A}">
                    <a16:rowId xmlns:a16="http://schemas.microsoft.com/office/drawing/2014/main" val="3217011315"/>
                  </a:ext>
                </a:extLst>
              </a:tr>
              <a:tr h="694183">
                <a:tc>
                  <a:txBody>
                    <a:bodyPr/>
                    <a:lstStyle/>
                    <a:p>
                      <a:r>
                        <a:rPr lang="en-IN" dirty="0"/>
                        <a:t>Ken Smith</a:t>
                      </a:r>
                    </a:p>
                  </a:txBody>
                  <a:tcPr/>
                </a:tc>
                <a:tc>
                  <a:txBody>
                    <a:bodyPr/>
                    <a:lstStyle/>
                    <a:p>
                      <a:r>
                        <a:rPr lang="en-IN" dirty="0"/>
                        <a:t>Asia Pacific President</a:t>
                      </a:r>
                    </a:p>
                  </a:txBody>
                  <a:tcPr/>
                </a:tc>
                <a:tc>
                  <a:txBody>
                    <a:bodyPr/>
                    <a:lstStyle/>
                    <a:p>
                      <a:r>
                        <a:rPr lang="en-IN" dirty="0"/>
                        <a:t>Jul 2012 </a:t>
                      </a:r>
                    </a:p>
                  </a:txBody>
                  <a:tcPr/>
                </a:tc>
                <a:extLst>
                  <a:ext uri="{0D108BD9-81ED-4DB2-BD59-A6C34878D82A}">
                    <a16:rowId xmlns:a16="http://schemas.microsoft.com/office/drawing/2014/main" val="3503762894"/>
                  </a:ext>
                </a:extLst>
              </a:tr>
              <a:tr h="414741">
                <a:tc>
                  <a:txBody>
                    <a:bodyPr/>
                    <a:lstStyle/>
                    <a:p>
                      <a:r>
                        <a:rPr lang="en-IN" dirty="0"/>
                        <a:t>Mark </a:t>
                      </a:r>
                      <a:r>
                        <a:rPr lang="en-IN" dirty="0" err="1"/>
                        <a:t>Serföző</a:t>
                      </a:r>
                      <a:endParaRPr lang="en-IN" dirty="0"/>
                    </a:p>
                  </a:txBody>
                  <a:tcPr/>
                </a:tc>
                <a:tc>
                  <a:txBody>
                    <a:bodyPr/>
                    <a:lstStyle/>
                    <a:p>
                      <a:r>
                        <a:rPr lang="en-IN" dirty="0"/>
                        <a:t>General Counsel &amp; Company Secretary</a:t>
                      </a:r>
                    </a:p>
                  </a:txBody>
                  <a:tcPr/>
                </a:tc>
                <a:tc>
                  <a:txBody>
                    <a:bodyPr/>
                    <a:lstStyle/>
                    <a:p>
                      <a:r>
                        <a:rPr lang="en-IN" dirty="0"/>
                        <a:t>Nov 2017</a:t>
                      </a:r>
                    </a:p>
                  </a:txBody>
                  <a:tcPr/>
                </a:tc>
                <a:extLst>
                  <a:ext uri="{0D108BD9-81ED-4DB2-BD59-A6C34878D82A}">
                    <a16:rowId xmlns:a16="http://schemas.microsoft.com/office/drawing/2014/main" val="3977577282"/>
                  </a:ext>
                </a:extLst>
              </a:tr>
              <a:tr h="414741">
                <a:tc>
                  <a:txBody>
                    <a:bodyPr/>
                    <a:lstStyle/>
                    <a:p>
                      <a:r>
                        <a:rPr lang="en-IN" dirty="0"/>
                        <a:t>Robin Stopford</a:t>
                      </a:r>
                    </a:p>
                  </a:txBody>
                  <a:tcPr/>
                </a:tc>
                <a:tc>
                  <a:txBody>
                    <a:bodyPr/>
                    <a:lstStyle/>
                    <a:p>
                      <a:r>
                        <a:rPr lang="en-IN" dirty="0"/>
                        <a:t>Group Head of Corporate Development </a:t>
                      </a:r>
                    </a:p>
                  </a:txBody>
                  <a:tcPr/>
                </a:tc>
                <a:tc>
                  <a:txBody>
                    <a:bodyPr/>
                    <a:lstStyle/>
                    <a:p>
                      <a:r>
                        <a:rPr lang="en-IN" dirty="0"/>
                        <a:t>Nov 2013</a:t>
                      </a:r>
                    </a:p>
                  </a:txBody>
                  <a:tcPr/>
                </a:tc>
                <a:extLst>
                  <a:ext uri="{0D108BD9-81ED-4DB2-BD59-A6C34878D82A}">
                    <a16:rowId xmlns:a16="http://schemas.microsoft.com/office/drawing/2014/main" val="1162538125"/>
                  </a:ext>
                </a:extLst>
              </a:tr>
              <a:tr h="414741">
                <a:tc>
                  <a:txBody>
                    <a:bodyPr/>
                    <a:lstStyle/>
                    <a:p>
                      <a:r>
                        <a:rPr lang="en-IN" dirty="0"/>
                        <a:t>Derek Harding</a:t>
                      </a:r>
                    </a:p>
                  </a:txBody>
                  <a:tcPr/>
                </a:tc>
                <a:tc>
                  <a:txBody>
                    <a:bodyPr/>
                    <a:lstStyle/>
                    <a:p>
                      <a:r>
                        <a:rPr lang="en-IN" dirty="0"/>
                        <a:t>Chief Financial Officer </a:t>
                      </a:r>
                    </a:p>
                  </a:txBody>
                  <a:tcPr/>
                </a:tc>
                <a:tc>
                  <a:txBody>
                    <a:bodyPr/>
                    <a:lstStyle/>
                    <a:p>
                      <a:r>
                        <a:rPr lang="en-IN" dirty="0"/>
                        <a:t>Mar 2019</a:t>
                      </a:r>
                    </a:p>
                  </a:txBody>
                  <a:tcPr/>
                </a:tc>
                <a:extLst>
                  <a:ext uri="{0D108BD9-81ED-4DB2-BD59-A6C34878D82A}">
                    <a16:rowId xmlns:a16="http://schemas.microsoft.com/office/drawing/2014/main" val="2657060682"/>
                  </a:ext>
                </a:extLst>
              </a:tr>
              <a:tr h="414741">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432311380"/>
                  </a:ext>
                </a:extLst>
              </a:tr>
            </a:tbl>
          </a:graphicData>
        </a:graphic>
      </p:graphicFrame>
      <p:pic>
        <p:nvPicPr>
          <p:cNvPr id="5" name="Picture 4">
            <a:extLst>
              <a:ext uri="{FF2B5EF4-FFF2-40B4-BE49-F238E27FC236}">
                <a16:creationId xmlns:a16="http://schemas.microsoft.com/office/drawing/2014/main" id="{07FAB18A-FCB3-4983-85CD-CE4DCD3DA8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7615" y="200155"/>
            <a:ext cx="1022953" cy="808513"/>
          </a:xfrm>
          <a:prstGeom prst="rect">
            <a:avLst/>
          </a:prstGeom>
        </p:spPr>
      </p:pic>
    </p:spTree>
    <p:extLst>
      <p:ext uri="{BB962C8B-B14F-4D97-AF65-F5344CB8AC3E}">
        <p14:creationId xmlns:p14="http://schemas.microsoft.com/office/powerpoint/2010/main" val="3343940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2709" y="70431"/>
            <a:ext cx="10515600" cy="836376"/>
          </a:xfrm>
        </p:spPr>
        <p:txBody>
          <a:bodyPr>
            <a:normAutofit/>
          </a:bodyPr>
          <a:lstStyle/>
          <a:p>
            <a:r>
              <a:rPr lang="en-GB" sz="2400" b="1" dirty="0">
                <a:latin typeface="+mn-lt"/>
              </a:rPr>
              <a:t>Spectris: Key Strategies to strengthen the brand</a:t>
            </a:r>
          </a:p>
        </p:txBody>
      </p:sp>
      <p:sp>
        <p:nvSpPr>
          <p:cNvPr id="9" name="AutoShape 3"/>
          <p:cNvSpPr>
            <a:spLocks noChangeArrowheads="1"/>
          </p:cNvSpPr>
          <p:nvPr/>
        </p:nvSpPr>
        <p:spPr bwMode="auto">
          <a:xfrm>
            <a:off x="2967708" y="1411581"/>
            <a:ext cx="7351816" cy="954107"/>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lIns="0" tIns="0" rIns="0" bIns="0" anchor="ctr">
            <a:spAutoFit/>
          </a:bodyPr>
          <a:lstStyle/>
          <a:p>
            <a:pPr defTabSz="954088" eaLnBrk="0" hangingPunct="0"/>
            <a:r>
              <a:rPr lang="en-GB" sz="1400" b="1" dirty="0"/>
              <a:t>Increase presence in strategic markets</a:t>
            </a:r>
          </a:p>
          <a:p>
            <a:pPr marL="285750" indent="-285750" defTabSz="954088" eaLnBrk="0" hangingPunct="0">
              <a:buFont typeface="Wingdings" panose="05000000000000000000" pitchFamily="2" charset="2"/>
              <a:buChar char="Ø"/>
            </a:pPr>
            <a:r>
              <a:rPr lang="en-GB" sz="1200" dirty="0"/>
              <a:t>Leadership positions in attractive markets where there are ample opportunities for technology led productivity enhancement.</a:t>
            </a:r>
          </a:p>
          <a:p>
            <a:pPr marL="285750" indent="-285750" defTabSz="954088" eaLnBrk="0" hangingPunct="0">
              <a:buFont typeface="Wingdings" panose="05000000000000000000" pitchFamily="2" charset="2"/>
              <a:buChar char="Ø"/>
            </a:pPr>
            <a:r>
              <a:rPr lang="en-GB" sz="1200" dirty="0"/>
              <a:t>Expand presence in strategic markets such as pharmaceuticals/life-sciences, basic materials, energy, automotive and technology.</a:t>
            </a:r>
          </a:p>
        </p:txBody>
      </p:sp>
      <p:sp>
        <p:nvSpPr>
          <p:cNvPr id="10" name="AutoShape 3"/>
          <p:cNvSpPr>
            <a:spLocks noChangeArrowheads="1"/>
          </p:cNvSpPr>
          <p:nvPr/>
        </p:nvSpPr>
        <p:spPr bwMode="auto">
          <a:xfrm>
            <a:off x="2967708" y="2506565"/>
            <a:ext cx="7351816" cy="584775"/>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lIns="0" tIns="0" rIns="0" bIns="0" anchor="ctr">
            <a:spAutoFit/>
          </a:bodyPr>
          <a:lstStyle/>
          <a:p>
            <a:pPr defTabSz="954088" eaLnBrk="0" hangingPunct="0"/>
            <a:r>
              <a:rPr lang="en-GB" sz="1400" b="1" dirty="0"/>
              <a:t>Focus on innovative customer solutions:</a:t>
            </a:r>
          </a:p>
          <a:p>
            <a:pPr marL="285750" indent="-285750" defTabSz="954088" eaLnBrk="0" hangingPunct="0">
              <a:buFont typeface="Wingdings" panose="05000000000000000000" pitchFamily="2" charset="2"/>
              <a:buChar char="Ø"/>
            </a:pPr>
            <a:r>
              <a:rPr lang="en-GB" sz="1200" dirty="0"/>
              <a:t>Increasing focus on solutions involving the provision of software, hardware and services.</a:t>
            </a:r>
          </a:p>
          <a:p>
            <a:pPr marL="285750" indent="-285750" defTabSz="954088" eaLnBrk="0" hangingPunct="0">
              <a:buFont typeface="Wingdings" panose="05000000000000000000" pitchFamily="2" charset="2"/>
              <a:buChar char="Ø"/>
            </a:pPr>
            <a:r>
              <a:rPr lang="en-GB" sz="1200" dirty="0"/>
              <a:t>Product innovation based on thorough understanding of businesses and productivity challenges.</a:t>
            </a:r>
          </a:p>
        </p:txBody>
      </p:sp>
      <p:sp>
        <p:nvSpPr>
          <p:cNvPr id="11" name="AutoShape 3"/>
          <p:cNvSpPr>
            <a:spLocks noChangeArrowheads="1"/>
          </p:cNvSpPr>
          <p:nvPr/>
        </p:nvSpPr>
        <p:spPr bwMode="auto">
          <a:xfrm>
            <a:off x="3036876" y="3527217"/>
            <a:ext cx="7351816" cy="769441"/>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lIns="0" tIns="0" rIns="0" bIns="0" anchor="ctr">
            <a:spAutoFit/>
          </a:bodyPr>
          <a:lstStyle/>
          <a:p>
            <a:pPr defTabSz="954088" eaLnBrk="0" hangingPunct="0"/>
            <a:r>
              <a:rPr lang="en-GB" sz="1400" b="1" dirty="0"/>
              <a:t>Accelerate operational excellence:</a:t>
            </a:r>
          </a:p>
          <a:p>
            <a:pPr marL="285750" indent="-285750" defTabSz="954088" eaLnBrk="0" hangingPunct="0">
              <a:buFont typeface="Wingdings" panose="05000000000000000000" pitchFamily="2" charset="2"/>
              <a:buChar char="Ø"/>
            </a:pPr>
            <a:r>
              <a:rPr lang="en-GB" sz="1200" dirty="0"/>
              <a:t>Enhance customer experience through efficiency and productivity gains.</a:t>
            </a:r>
          </a:p>
          <a:p>
            <a:pPr marL="285750" indent="-285750" defTabSz="954088" eaLnBrk="0" hangingPunct="0">
              <a:buFont typeface="Wingdings" panose="05000000000000000000" pitchFamily="2" charset="2"/>
              <a:buChar char="Ø"/>
            </a:pPr>
            <a:r>
              <a:rPr lang="en-GB" sz="1200" dirty="0"/>
              <a:t>Improve performance and profitability across the globe. </a:t>
            </a:r>
          </a:p>
          <a:p>
            <a:pPr marL="285750" indent="-285750" defTabSz="954088" eaLnBrk="0" hangingPunct="0">
              <a:buFont typeface="Wingdings" panose="05000000000000000000" pitchFamily="2" charset="2"/>
              <a:buChar char="Ø"/>
            </a:pPr>
            <a:r>
              <a:rPr lang="en-GB" sz="1200" dirty="0"/>
              <a:t>Strive for continuous improvement in all aspects.</a:t>
            </a:r>
          </a:p>
        </p:txBody>
      </p:sp>
      <p:sp>
        <p:nvSpPr>
          <p:cNvPr id="12" name="AutoShape 3"/>
          <p:cNvSpPr>
            <a:spLocks noChangeArrowheads="1"/>
          </p:cNvSpPr>
          <p:nvPr/>
        </p:nvSpPr>
        <p:spPr bwMode="auto">
          <a:xfrm>
            <a:off x="3092753" y="4451369"/>
            <a:ext cx="7425232" cy="590287"/>
          </a:xfrm>
          <a:prstGeom prst="rect">
            <a:avLst/>
          </a:prstGeom>
          <a:noFill/>
          <a:ln>
            <a:noFill/>
            <a:headEnd/>
            <a:tailEnd/>
          </a:ln>
        </p:spPr>
        <p:style>
          <a:lnRef idx="2">
            <a:schemeClr val="dk1"/>
          </a:lnRef>
          <a:fillRef idx="1">
            <a:schemeClr val="lt1"/>
          </a:fillRef>
          <a:effectRef idx="0">
            <a:schemeClr val="dk1"/>
          </a:effectRef>
          <a:fontRef idx="minor">
            <a:schemeClr val="dk1"/>
          </a:fontRef>
        </p:style>
        <p:txBody>
          <a:bodyPr wrap="square" lIns="0" tIns="0" rIns="0" bIns="0" anchor="ctr">
            <a:spAutoFit/>
          </a:bodyPr>
          <a:lstStyle/>
          <a:p>
            <a:pPr defTabSz="954088" eaLnBrk="0" hangingPunct="0"/>
            <a:r>
              <a:rPr lang="en-GB" sz="1400" b="1" dirty="0"/>
              <a:t>Expand Business globally</a:t>
            </a:r>
          </a:p>
          <a:p>
            <a:pPr marL="171450" indent="-171450" defTabSz="954088" eaLnBrk="0" hangingPunct="0">
              <a:buFont typeface="Wingdings" panose="05000000000000000000" pitchFamily="2" charset="2"/>
              <a:buChar char="Ø"/>
            </a:pPr>
            <a:r>
              <a:rPr lang="en-GB" sz="1200" dirty="0"/>
              <a:t>Geographical expansion of newly acquired businesses and customer base.</a:t>
            </a:r>
          </a:p>
          <a:p>
            <a:pPr marL="171450" indent="-171450" defTabSz="954088" eaLnBrk="0" hangingPunct="0">
              <a:buFont typeface="Wingdings" panose="05000000000000000000" pitchFamily="2" charset="2"/>
              <a:buChar char="Ø"/>
            </a:pPr>
            <a:r>
              <a:rPr lang="en-IN" sz="1200" dirty="0"/>
              <a:t>Seek to expand geographical operations of newly acquired businesses. </a:t>
            </a:r>
            <a:endParaRPr lang="en-GB" sz="1200" dirty="0"/>
          </a:p>
        </p:txBody>
      </p:sp>
      <p:cxnSp>
        <p:nvCxnSpPr>
          <p:cNvPr id="13" name="Straight Connector 12"/>
          <p:cNvCxnSpPr>
            <a:cxnSpLocks/>
          </p:cNvCxnSpPr>
          <p:nvPr/>
        </p:nvCxnSpPr>
        <p:spPr>
          <a:xfrm flipV="1">
            <a:off x="2625726" y="1384126"/>
            <a:ext cx="7693798" cy="307"/>
          </a:xfrm>
          <a:prstGeom prst="line">
            <a:avLst/>
          </a:prstGeom>
          <a:ln>
            <a:solidFill>
              <a:schemeClr val="accent4"/>
            </a:solidFill>
            <a:tailEnd type="diamond"/>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1594971" y="1364819"/>
            <a:ext cx="948105" cy="938601"/>
            <a:chOff x="202372" y="1250092"/>
            <a:chExt cx="1152128" cy="1152128"/>
          </a:xfrm>
        </p:grpSpPr>
        <p:sp>
          <p:nvSpPr>
            <p:cNvPr id="15" name="Oval 14"/>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06716" y="1354436"/>
              <a:ext cx="943440" cy="943440"/>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7" name="Straight Connector 16"/>
          <p:cNvCxnSpPr>
            <a:cxnSpLocks/>
          </p:cNvCxnSpPr>
          <p:nvPr/>
        </p:nvCxnSpPr>
        <p:spPr>
          <a:xfrm flipV="1">
            <a:off x="2625726" y="2405320"/>
            <a:ext cx="7693798" cy="6587"/>
          </a:xfrm>
          <a:prstGeom prst="line">
            <a:avLst/>
          </a:prstGeom>
          <a:ln>
            <a:solidFill>
              <a:schemeClr val="accent4"/>
            </a:solidFill>
            <a:tailEnd type="diamond"/>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1696402" y="2487212"/>
            <a:ext cx="862239" cy="914612"/>
            <a:chOff x="202372" y="1250092"/>
            <a:chExt cx="1152128" cy="1152128"/>
          </a:xfrm>
        </p:grpSpPr>
        <p:sp>
          <p:nvSpPr>
            <p:cNvPr id="19" name="Oval 18"/>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306716" y="1354436"/>
              <a:ext cx="943440" cy="911832"/>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2" name="Straight Connector 21"/>
          <p:cNvCxnSpPr>
            <a:cxnSpLocks/>
          </p:cNvCxnSpPr>
          <p:nvPr/>
        </p:nvCxnSpPr>
        <p:spPr>
          <a:xfrm flipV="1">
            <a:off x="2785265" y="3415810"/>
            <a:ext cx="7594367" cy="30053"/>
          </a:xfrm>
          <a:prstGeom prst="line">
            <a:avLst/>
          </a:prstGeom>
          <a:ln>
            <a:solidFill>
              <a:schemeClr val="accent4"/>
            </a:solidFill>
            <a:tailEnd type="diamond"/>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678325" y="3490814"/>
            <a:ext cx="898395" cy="914612"/>
            <a:chOff x="202372" y="1250092"/>
            <a:chExt cx="1152128" cy="1152128"/>
          </a:xfrm>
        </p:grpSpPr>
        <p:sp>
          <p:nvSpPr>
            <p:cNvPr id="24" name="Oval 23"/>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289513" y="1354436"/>
              <a:ext cx="960642" cy="942097"/>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7" name="Straight Connector 26"/>
          <p:cNvCxnSpPr>
            <a:cxnSpLocks/>
          </p:cNvCxnSpPr>
          <p:nvPr/>
        </p:nvCxnSpPr>
        <p:spPr>
          <a:xfrm flipV="1">
            <a:off x="2719919" y="4378012"/>
            <a:ext cx="7668773" cy="27940"/>
          </a:xfrm>
          <a:prstGeom prst="line">
            <a:avLst/>
          </a:prstGeom>
          <a:ln>
            <a:solidFill>
              <a:schemeClr val="accent4"/>
            </a:solidFill>
            <a:tailEnd type="diamond"/>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1687413" y="4473671"/>
            <a:ext cx="898395" cy="873816"/>
            <a:chOff x="202372" y="1250092"/>
            <a:chExt cx="1152128" cy="1152128"/>
          </a:xfrm>
        </p:grpSpPr>
        <p:sp>
          <p:nvSpPr>
            <p:cNvPr id="29" name="Oval 28"/>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06716" y="1354436"/>
              <a:ext cx="943440" cy="943440"/>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p:cNvGrpSpPr/>
          <p:nvPr/>
        </p:nvGrpSpPr>
        <p:grpSpPr>
          <a:xfrm>
            <a:off x="1935209" y="2636334"/>
            <a:ext cx="436874" cy="573877"/>
            <a:chOff x="-95250" y="4437063"/>
            <a:chExt cx="209550" cy="276225"/>
          </a:xfrm>
        </p:grpSpPr>
        <p:sp>
          <p:nvSpPr>
            <p:cNvPr id="35" name="Freeform 36"/>
            <p:cNvSpPr>
              <a:spLocks noEditPoints="1"/>
            </p:cNvSpPr>
            <p:nvPr/>
          </p:nvSpPr>
          <p:spPr bwMode="auto">
            <a:xfrm>
              <a:off x="-95250" y="4437063"/>
              <a:ext cx="209550" cy="276225"/>
            </a:xfrm>
            <a:custGeom>
              <a:avLst/>
              <a:gdLst>
                <a:gd name="T0" fmla="*/ 1007 w 1019"/>
                <a:gd name="T1" fmla="*/ 343 h 1342"/>
                <a:gd name="T2" fmla="*/ 679 w 1019"/>
                <a:gd name="T3" fmla="*/ 13 h 1342"/>
                <a:gd name="T4" fmla="*/ 654 w 1019"/>
                <a:gd name="T5" fmla="*/ 1 h 1342"/>
                <a:gd name="T6" fmla="*/ 126 w 1019"/>
                <a:gd name="T7" fmla="*/ 1 h 1342"/>
                <a:gd name="T8" fmla="*/ 0 w 1019"/>
                <a:gd name="T9" fmla="*/ 127 h 1342"/>
                <a:gd name="T10" fmla="*/ 0 w 1019"/>
                <a:gd name="T11" fmla="*/ 1215 h 1342"/>
                <a:gd name="T12" fmla="*/ 126 w 1019"/>
                <a:gd name="T13" fmla="*/ 1342 h 1342"/>
                <a:gd name="T14" fmla="*/ 893 w 1019"/>
                <a:gd name="T15" fmla="*/ 1342 h 1342"/>
                <a:gd name="T16" fmla="*/ 1019 w 1019"/>
                <a:gd name="T17" fmla="*/ 1215 h 1342"/>
                <a:gd name="T18" fmla="*/ 1019 w 1019"/>
                <a:gd name="T19" fmla="*/ 374 h 1342"/>
                <a:gd name="T20" fmla="*/ 1007 w 1019"/>
                <a:gd name="T21" fmla="*/ 343 h 1342"/>
                <a:gd name="T22" fmla="*/ 691 w 1019"/>
                <a:gd name="T23" fmla="*/ 143 h 1342"/>
                <a:gd name="T24" fmla="*/ 878 w 1019"/>
                <a:gd name="T25" fmla="*/ 330 h 1342"/>
                <a:gd name="T26" fmla="*/ 721 w 1019"/>
                <a:gd name="T27" fmla="*/ 330 h 1342"/>
                <a:gd name="T28" fmla="*/ 691 w 1019"/>
                <a:gd name="T29" fmla="*/ 300 h 1342"/>
                <a:gd name="T30" fmla="*/ 691 w 1019"/>
                <a:gd name="T31" fmla="*/ 143 h 1342"/>
                <a:gd name="T32" fmla="*/ 926 w 1019"/>
                <a:gd name="T33" fmla="*/ 1215 h 1342"/>
                <a:gd name="T34" fmla="*/ 893 w 1019"/>
                <a:gd name="T35" fmla="*/ 1249 h 1342"/>
                <a:gd name="T36" fmla="*/ 126 w 1019"/>
                <a:gd name="T37" fmla="*/ 1249 h 1342"/>
                <a:gd name="T38" fmla="*/ 93 w 1019"/>
                <a:gd name="T39" fmla="*/ 1215 h 1342"/>
                <a:gd name="T40" fmla="*/ 93 w 1019"/>
                <a:gd name="T41" fmla="*/ 127 h 1342"/>
                <a:gd name="T42" fmla="*/ 126 w 1019"/>
                <a:gd name="T43" fmla="*/ 94 h 1342"/>
                <a:gd name="T44" fmla="*/ 608 w 1019"/>
                <a:gd name="T45" fmla="*/ 94 h 1342"/>
                <a:gd name="T46" fmla="*/ 608 w 1019"/>
                <a:gd name="T47" fmla="*/ 300 h 1342"/>
                <a:gd name="T48" fmla="*/ 721 w 1019"/>
                <a:gd name="T49" fmla="*/ 413 h 1342"/>
                <a:gd name="T50" fmla="*/ 926 w 1019"/>
                <a:gd name="T51" fmla="*/ 413 h 1342"/>
                <a:gd name="T52" fmla="*/ 926 w 1019"/>
                <a:gd name="T53" fmla="*/ 1215 h 1342"/>
                <a:gd name="T54" fmla="*/ 926 w 1019"/>
                <a:gd name="T55" fmla="*/ 1215 h 1342"/>
                <a:gd name="T56" fmla="*/ 926 w 1019"/>
                <a:gd name="T57" fmla="*/ 1215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19" h="1342">
                  <a:moveTo>
                    <a:pt x="1007" y="343"/>
                  </a:moveTo>
                  <a:cubicBezTo>
                    <a:pt x="679" y="13"/>
                    <a:pt x="679" y="13"/>
                    <a:pt x="679" y="13"/>
                  </a:cubicBezTo>
                  <a:cubicBezTo>
                    <a:pt x="666" y="0"/>
                    <a:pt x="654" y="1"/>
                    <a:pt x="654" y="1"/>
                  </a:cubicBezTo>
                  <a:cubicBezTo>
                    <a:pt x="126" y="1"/>
                    <a:pt x="126" y="1"/>
                    <a:pt x="126" y="1"/>
                  </a:cubicBezTo>
                  <a:cubicBezTo>
                    <a:pt x="57" y="1"/>
                    <a:pt x="0" y="58"/>
                    <a:pt x="0" y="127"/>
                  </a:cubicBezTo>
                  <a:cubicBezTo>
                    <a:pt x="0" y="1215"/>
                    <a:pt x="0" y="1215"/>
                    <a:pt x="0" y="1215"/>
                  </a:cubicBezTo>
                  <a:cubicBezTo>
                    <a:pt x="0" y="1285"/>
                    <a:pt x="57" y="1342"/>
                    <a:pt x="126" y="1342"/>
                  </a:cubicBezTo>
                  <a:cubicBezTo>
                    <a:pt x="893" y="1342"/>
                    <a:pt x="893" y="1342"/>
                    <a:pt x="893" y="1342"/>
                  </a:cubicBezTo>
                  <a:cubicBezTo>
                    <a:pt x="962" y="1342"/>
                    <a:pt x="1019" y="1285"/>
                    <a:pt x="1019" y="1215"/>
                  </a:cubicBezTo>
                  <a:cubicBezTo>
                    <a:pt x="1019" y="374"/>
                    <a:pt x="1019" y="374"/>
                    <a:pt x="1019" y="374"/>
                  </a:cubicBezTo>
                  <a:cubicBezTo>
                    <a:pt x="1019" y="362"/>
                    <a:pt x="1015" y="351"/>
                    <a:pt x="1007" y="343"/>
                  </a:cubicBezTo>
                  <a:close/>
                  <a:moveTo>
                    <a:pt x="691" y="143"/>
                  </a:moveTo>
                  <a:cubicBezTo>
                    <a:pt x="878" y="330"/>
                    <a:pt x="878" y="330"/>
                    <a:pt x="878" y="330"/>
                  </a:cubicBezTo>
                  <a:cubicBezTo>
                    <a:pt x="721" y="330"/>
                    <a:pt x="721" y="330"/>
                    <a:pt x="721" y="330"/>
                  </a:cubicBezTo>
                  <a:cubicBezTo>
                    <a:pt x="704" y="330"/>
                    <a:pt x="691" y="317"/>
                    <a:pt x="691" y="300"/>
                  </a:cubicBezTo>
                  <a:lnTo>
                    <a:pt x="691" y="143"/>
                  </a:lnTo>
                  <a:close/>
                  <a:moveTo>
                    <a:pt x="926" y="1215"/>
                  </a:moveTo>
                  <a:cubicBezTo>
                    <a:pt x="926" y="1234"/>
                    <a:pt x="911" y="1249"/>
                    <a:pt x="893" y="1249"/>
                  </a:cubicBezTo>
                  <a:cubicBezTo>
                    <a:pt x="126" y="1249"/>
                    <a:pt x="126" y="1249"/>
                    <a:pt x="126" y="1249"/>
                  </a:cubicBezTo>
                  <a:cubicBezTo>
                    <a:pt x="108" y="1249"/>
                    <a:pt x="93" y="1234"/>
                    <a:pt x="93" y="1215"/>
                  </a:cubicBezTo>
                  <a:cubicBezTo>
                    <a:pt x="93" y="127"/>
                    <a:pt x="93" y="127"/>
                    <a:pt x="93" y="127"/>
                  </a:cubicBezTo>
                  <a:cubicBezTo>
                    <a:pt x="93" y="109"/>
                    <a:pt x="108" y="94"/>
                    <a:pt x="126" y="94"/>
                  </a:cubicBezTo>
                  <a:cubicBezTo>
                    <a:pt x="608" y="94"/>
                    <a:pt x="608" y="94"/>
                    <a:pt x="608" y="94"/>
                  </a:cubicBezTo>
                  <a:cubicBezTo>
                    <a:pt x="608" y="300"/>
                    <a:pt x="608" y="300"/>
                    <a:pt x="608" y="300"/>
                  </a:cubicBezTo>
                  <a:cubicBezTo>
                    <a:pt x="608" y="363"/>
                    <a:pt x="659" y="413"/>
                    <a:pt x="721" y="413"/>
                  </a:cubicBezTo>
                  <a:cubicBezTo>
                    <a:pt x="926" y="413"/>
                    <a:pt x="926" y="413"/>
                    <a:pt x="926" y="413"/>
                  </a:cubicBezTo>
                  <a:lnTo>
                    <a:pt x="926" y="1215"/>
                  </a:lnTo>
                  <a:close/>
                  <a:moveTo>
                    <a:pt x="926" y="1215"/>
                  </a:moveTo>
                  <a:cubicBezTo>
                    <a:pt x="926" y="1215"/>
                    <a:pt x="926" y="1215"/>
                    <a:pt x="926" y="1215"/>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36" name="Freeform 37"/>
            <p:cNvSpPr>
              <a:spLocks noEditPoints="1"/>
            </p:cNvSpPr>
            <p:nvPr/>
          </p:nvSpPr>
          <p:spPr bwMode="auto">
            <a:xfrm>
              <a:off x="-53975" y="4600576"/>
              <a:ext cx="127000" cy="12700"/>
            </a:xfrm>
            <a:custGeom>
              <a:avLst/>
              <a:gdLst>
                <a:gd name="T0" fmla="*/ 0 w 615"/>
                <a:gd name="T1" fmla="*/ 32 h 64"/>
                <a:gd name="T2" fmla="*/ 32 w 615"/>
                <a:gd name="T3" fmla="*/ 64 h 64"/>
                <a:gd name="T4" fmla="*/ 583 w 615"/>
                <a:gd name="T5" fmla="*/ 64 h 64"/>
                <a:gd name="T6" fmla="*/ 615 w 615"/>
                <a:gd name="T7" fmla="*/ 32 h 64"/>
                <a:gd name="T8" fmla="*/ 583 w 615"/>
                <a:gd name="T9" fmla="*/ 0 h 64"/>
                <a:gd name="T10" fmla="*/ 32 w 615"/>
                <a:gd name="T11" fmla="*/ 0 h 64"/>
                <a:gd name="T12" fmla="*/ 0 w 615"/>
                <a:gd name="T13" fmla="*/ 32 h 64"/>
                <a:gd name="T14" fmla="*/ 0 w 615"/>
                <a:gd name="T15" fmla="*/ 32 h 64"/>
                <a:gd name="T16" fmla="*/ 0 w 615"/>
                <a:gd name="T17"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5" h="64">
                  <a:moveTo>
                    <a:pt x="0" y="32"/>
                  </a:moveTo>
                  <a:cubicBezTo>
                    <a:pt x="0" y="50"/>
                    <a:pt x="14" y="64"/>
                    <a:pt x="32" y="64"/>
                  </a:cubicBezTo>
                  <a:cubicBezTo>
                    <a:pt x="583" y="64"/>
                    <a:pt x="583" y="64"/>
                    <a:pt x="583" y="64"/>
                  </a:cubicBezTo>
                  <a:cubicBezTo>
                    <a:pt x="601" y="64"/>
                    <a:pt x="615" y="50"/>
                    <a:pt x="615" y="32"/>
                  </a:cubicBezTo>
                  <a:cubicBezTo>
                    <a:pt x="615" y="14"/>
                    <a:pt x="601" y="0"/>
                    <a:pt x="583" y="0"/>
                  </a:cubicBezTo>
                  <a:cubicBezTo>
                    <a:pt x="32" y="0"/>
                    <a:pt x="32" y="0"/>
                    <a:pt x="32" y="0"/>
                  </a:cubicBezTo>
                  <a:cubicBezTo>
                    <a:pt x="14" y="0"/>
                    <a:pt x="0" y="14"/>
                    <a:pt x="0" y="32"/>
                  </a:cubicBezTo>
                  <a:close/>
                  <a:moveTo>
                    <a:pt x="0" y="32"/>
                  </a:moveTo>
                  <a:cubicBezTo>
                    <a:pt x="0" y="32"/>
                    <a:pt x="0" y="32"/>
                    <a:pt x="0"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37" name="Freeform 38"/>
            <p:cNvSpPr>
              <a:spLocks noEditPoints="1"/>
            </p:cNvSpPr>
            <p:nvPr/>
          </p:nvSpPr>
          <p:spPr bwMode="auto">
            <a:xfrm>
              <a:off x="-53975" y="4570413"/>
              <a:ext cx="127000" cy="14288"/>
            </a:xfrm>
            <a:custGeom>
              <a:avLst/>
              <a:gdLst>
                <a:gd name="T0" fmla="*/ 0 w 615"/>
                <a:gd name="T1" fmla="*/ 32 h 64"/>
                <a:gd name="T2" fmla="*/ 32 w 615"/>
                <a:gd name="T3" fmla="*/ 64 h 64"/>
                <a:gd name="T4" fmla="*/ 583 w 615"/>
                <a:gd name="T5" fmla="*/ 64 h 64"/>
                <a:gd name="T6" fmla="*/ 615 w 615"/>
                <a:gd name="T7" fmla="*/ 32 h 64"/>
                <a:gd name="T8" fmla="*/ 583 w 615"/>
                <a:gd name="T9" fmla="*/ 0 h 64"/>
                <a:gd name="T10" fmla="*/ 32 w 615"/>
                <a:gd name="T11" fmla="*/ 0 h 64"/>
                <a:gd name="T12" fmla="*/ 0 w 615"/>
                <a:gd name="T13" fmla="*/ 32 h 64"/>
                <a:gd name="T14" fmla="*/ 0 w 615"/>
                <a:gd name="T15" fmla="*/ 32 h 64"/>
                <a:gd name="T16" fmla="*/ 0 w 615"/>
                <a:gd name="T17"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5" h="64">
                  <a:moveTo>
                    <a:pt x="0" y="32"/>
                  </a:moveTo>
                  <a:cubicBezTo>
                    <a:pt x="0" y="50"/>
                    <a:pt x="14" y="64"/>
                    <a:pt x="32" y="64"/>
                  </a:cubicBezTo>
                  <a:cubicBezTo>
                    <a:pt x="583" y="64"/>
                    <a:pt x="583" y="64"/>
                    <a:pt x="583" y="64"/>
                  </a:cubicBezTo>
                  <a:cubicBezTo>
                    <a:pt x="601" y="64"/>
                    <a:pt x="615" y="50"/>
                    <a:pt x="615" y="32"/>
                  </a:cubicBezTo>
                  <a:cubicBezTo>
                    <a:pt x="615" y="14"/>
                    <a:pt x="601" y="0"/>
                    <a:pt x="583" y="0"/>
                  </a:cubicBezTo>
                  <a:cubicBezTo>
                    <a:pt x="32" y="0"/>
                    <a:pt x="32" y="0"/>
                    <a:pt x="32" y="0"/>
                  </a:cubicBezTo>
                  <a:cubicBezTo>
                    <a:pt x="14" y="0"/>
                    <a:pt x="0" y="14"/>
                    <a:pt x="0" y="32"/>
                  </a:cubicBezTo>
                  <a:close/>
                  <a:moveTo>
                    <a:pt x="0" y="32"/>
                  </a:moveTo>
                  <a:cubicBezTo>
                    <a:pt x="0" y="32"/>
                    <a:pt x="0" y="32"/>
                    <a:pt x="0"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38" name="Freeform 39"/>
            <p:cNvSpPr>
              <a:spLocks noEditPoints="1"/>
            </p:cNvSpPr>
            <p:nvPr/>
          </p:nvSpPr>
          <p:spPr bwMode="auto">
            <a:xfrm>
              <a:off x="-53975" y="4541838"/>
              <a:ext cx="127000" cy="12700"/>
            </a:xfrm>
            <a:custGeom>
              <a:avLst/>
              <a:gdLst>
                <a:gd name="T0" fmla="*/ 0 w 615"/>
                <a:gd name="T1" fmla="*/ 32 h 64"/>
                <a:gd name="T2" fmla="*/ 32 w 615"/>
                <a:gd name="T3" fmla="*/ 64 h 64"/>
                <a:gd name="T4" fmla="*/ 583 w 615"/>
                <a:gd name="T5" fmla="*/ 64 h 64"/>
                <a:gd name="T6" fmla="*/ 615 w 615"/>
                <a:gd name="T7" fmla="*/ 32 h 64"/>
                <a:gd name="T8" fmla="*/ 583 w 615"/>
                <a:gd name="T9" fmla="*/ 0 h 64"/>
                <a:gd name="T10" fmla="*/ 32 w 615"/>
                <a:gd name="T11" fmla="*/ 0 h 64"/>
                <a:gd name="T12" fmla="*/ 0 w 615"/>
                <a:gd name="T13" fmla="*/ 32 h 64"/>
                <a:gd name="T14" fmla="*/ 0 w 615"/>
                <a:gd name="T15" fmla="*/ 32 h 64"/>
                <a:gd name="T16" fmla="*/ 0 w 615"/>
                <a:gd name="T17" fmla="*/ 3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5" h="64">
                  <a:moveTo>
                    <a:pt x="0" y="32"/>
                  </a:moveTo>
                  <a:cubicBezTo>
                    <a:pt x="0" y="50"/>
                    <a:pt x="14" y="64"/>
                    <a:pt x="32" y="64"/>
                  </a:cubicBezTo>
                  <a:cubicBezTo>
                    <a:pt x="583" y="64"/>
                    <a:pt x="583" y="64"/>
                    <a:pt x="583" y="64"/>
                  </a:cubicBezTo>
                  <a:cubicBezTo>
                    <a:pt x="601" y="64"/>
                    <a:pt x="615" y="50"/>
                    <a:pt x="615" y="32"/>
                  </a:cubicBezTo>
                  <a:cubicBezTo>
                    <a:pt x="615" y="14"/>
                    <a:pt x="601" y="0"/>
                    <a:pt x="583" y="0"/>
                  </a:cubicBezTo>
                  <a:cubicBezTo>
                    <a:pt x="32" y="0"/>
                    <a:pt x="32" y="0"/>
                    <a:pt x="32" y="0"/>
                  </a:cubicBezTo>
                  <a:cubicBezTo>
                    <a:pt x="14" y="0"/>
                    <a:pt x="0" y="14"/>
                    <a:pt x="0" y="32"/>
                  </a:cubicBezTo>
                  <a:close/>
                  <a:moveTo>
                    <a:pt x="0" y="32"/>
                  </a:moveTo>
                  <a:cubicBezTo>
                    <a:pt x="0" y="32"/>
                    <a:pt x="0" y="32"/>
                    <a:pt x="0" y="32"/>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39" name="Freeform 40"/>
            <p:cNvSpPr>
              <a:spLocks noEditPoints="1"/>
            </p:cNvSpPr>
            <p:nvPr/>
          </p:nvSpPr>
          <p:spPr bwMode="auto">
            <a:xfrm>
              <a:off x="-53975" y="4629151"/>
              <a:ext cx="127000" cy="14288"/>
            </a:xfrm>
            <a:custGeom>
              <a:avLst/>
              <a:gdLst>
                <a:gd name="T0" fmla="*/ 583 w 615"/>
                <a:gd name="T1" fmla="*/ 0 h 64"/>
                <a:gd name="T2" fmla="*/ 32 w 615"/>
                <a:gd name="T3" fmla="*/ 0 h 64"/>
                <a:gd name="T4" fmla="*/ 0 w 615"/>
                <a:gd name="T5" fmla="*/ 32 h 64"/>
                <a:gd name="T6" fmla="*/ 32 w 615"/>
                <a:gd name="T7" fmla="*/ 64 h 64"/>
                <a:gd name="T8" fmla="*/ 583 w 615"/>
                <a:gd name="T9" fmla="*/ 64 h 64"/>
                <a:gd name="T10" fmla="*/ 615 w 615"/>
                <a:gd name="T11" fmla="*/ 32 h 64"/>
                <a:gd name="T12" fmla="*/ 583 w 615"/>
                <a:gd name="T13" fmla="*/ 0 h 64"/>
                <a:gd name="T14" fmla="*/ 583 w 615"/>
                <a:gd name="T15" fmla="*/ 0 h 64"/>
                <a:gd name="T16" fmla="*/ 583 w 615"/>
                <a:gd name="T1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5" h="64">
                  <a:moveTo>
                    <a:pt x="583" y="0"/>
                  </a:moveTo>
                  <a:cubicBezTo>
                    <a:pt x="32" y="0"/>
                    <a:pt x="32" y="0"/>
                    <a:pt x="32" y="0"/>
                  </a:cubicBezTo>
                  <a:cubicBezTo>
                    <a:pt x="14" y="0"/>
                    <a:pt x="0" y="14"/>
                    <a:pt x="0" y="32"/>
                  </a:cubicBezTo>
                  <a:cubicBezTo>
                    <a:pt x="0" y="50"/>
                    <a:pt x="14" y="64"/>
                    <a:pt x="32" y="64"/>
                  </a:cubicBezTo>
                  <a:cubicBezTo>
                    <a:pt x="583" y="64"/>
                    <a:pt x="583" y="64"/>
                    <a:pt x="583" y="64"/>
                  </a:cubicBezTo>
                  <a:cubicBezTo>
                    <a:pt x="601" y="64"/>
                    <a:pt x="615" y="50"/>
                    <a:pt x="615" y="32"/>
                  </a:cubicBezTo>
                  <a:cubicBezTo>
                    <a:pt x="615" y="14"/>
                    <a:pt x="601" y="0"/>
                    <a:pt x="583" y="0"/>
                  </a:cubicBezTo>
                  <a:close/>
                  <a:moveTo>
                    <a:pt x="583" y="0"/>
                  </a:moveTo>
                  <a:cubicBezTo>
                    <a:pt x="583" y="0"/>
                    <a:pt x="583" y="0"/>
                    <a:pt x="583"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40" name="Freeform 41"/>
            <p:cNvSpPr>
              <a:spLocks noEditPoints="1"/>
            </p:cNvSpPr>
            <p:nvPr/>
          </p:nvSpPr>
          <p:spPr bwMode="auto">
            <a:xfrm>
              <a:off x="-53975" y="4659313"/>
              <a:ext cx="127000" cy="12700"/>
            </a:xfrm>
            <a:custGeom>
              <a:avLst/>
              <a:gdLst>
                <a:gd name="T0" fmla="*/ 583 w 615"/>
                <a:gd name="T1" fmla="*/ 0 h 64"/>
                <a:gd name="T2" fmla="*/ 32 w 615"/>
                <a:gd name="T3" fmla="*/ 0 h 64"/>
                <a:gd name="T4" fmla="*/ 0 w 615"/>
                <a:gd name="T5" fmla="*/ 32 h 64"/>
                <a:gd name="T6" fmla="*/ 32 w 615"/>
                <a:gd name="T7" fmla="*/ 64 h 64"/>
                <a:gd name="T8" fmla="*/ 583 w 615"/>
                <a:gd name="T9" fmla="*/ 64 h 64"/>
                <a:gd name="T10" fmla="*/ 615 w 615"/>
                <a:gd name="T11" fmla="*/ 32 h 64"/>
                <a:gd name="T12" fmla="*/ 583 w 615"/>
                <a:gd name="T13" fmla="*/ 0 h 64"/>
                <a:gd name="T14" fmla="*/ 583 w 615"/>
                <a:gd name="T15" fmla="*/ 0 h 64"/>
                <a:gd name="T16" fmla="*/ 583 w 615"/>
                <a:gd name="T17"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5" h="64">
                  <a:moveTo>
                    <a:pt x="583" y="0"/>
                  </a:moveTo>
                  <a:cubicBezTo>
                    <a:pt x="32" y="0"/>
                    <a:pt x="32" y="0"/>
                    <a:pt x="32" y="0"/>
                  </a:cubicBezTo>
                  <a:cubicBezTo>
                    <a:pt x="14" y="0"/>
                    <a:pt x="0" y="14"/>
                    <a:pt x="0" y="32"/>
                  </a:cubicBezTo>
                  <a:cubicBezTo>
                    <a:pt x="0" y="50"/>
                    <a:pt x="14" y="64"/>
                    <a:pt x="32" y="64"/>
                  </a:cubicBezTo>
                  <a:cubicBezTo>
                    <a:pt x="583" y="64"/>
                    <a:pt x="583" y="64"/>
                    <a:pt x="583" y="64"/>
                  </a:cubicBezTo>
                  <a:cubicBezTo>
                    <a:pt x="601" y="64"/>
                    <a:pt x="615" y="50"/>
                    <a:pt x="615" y="32"/>
                  </a:cubicBezTo>
                  <a:cubicBezTo>
                    <a:pt x="615" y="14"/>
                    <a:pt x="601" y="0"/>
                    <a:pt x="583" y="0"/>
                  </a:cubicBezTo>
                  <a:close/>
                  <a:moveTo>
                    <a:pt x="583" y="0"/>
                  </a:moveTo>
                  <a:cubicBezTo>
                    <a:pt x="583" y="0"/>
                    <a:pt x="583" y="0"/>
                    <a:pt x="583"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41" name="Line 42"/>
            <p:cNvSpPr>
              <a:spLocks noChangeShapeType="1"/>
            </p:cNvSpPr>
            <p:nvPr/>
          </p:nvSpPr>
          <p:spPr bwMode="auto">
            <a:xfrm>
              <a:off x="-49213" y="4570413"/>
              <a:ext cx="0" cy="0"/>
            </a:xfrm>
            <a:prstGeom prst="lin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42" name="Line 43"/>
            <p:cNvSpPr>
              <a:spLocks noChangeShapeType="1"/>
            </p:cNvSpPr>
            <p:nvPr/>
          </p:nvSpPr>
          <p:spPr bwMode="auto">
            <a:xfrm>
              <a:off x="-49213" y="4570413"/>
              <a:ext cx="0" cy="0"/>
            </a:xfrm>
            <a:prstGeom prst="lin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grpSp>
      <p:sp>
        <p:nvSpPr>
          <p:cNvPr id="3076" name="Freeform 12"/>
          <p:cNvSpPr>
            <a:spLocks noEditPoints="1"/>
          </p:cNvSpPr>
          <p:nvPr/>
        </p:nvSpPr>
        <p:spPr bwMode="auto">
          <a:xfrm>
            <a:off x="1917535" y="4652567"/>
            <a:ext cx="438149" cy="561975"/>
          </a:xfrm>
          <a:custGeom>
            <a:avLst/>
            <a:gdLst>
              <a:gd name="T0" fmla="*/ 253 w 304"/>
              <a:gd name="T1" fmla="*/ 221 h 390"/>
              <a:gd name="T2" fmla="*/ 266 w 304"/>
              <a:gd name="T3" fmla="*/ 252 h 390"/>
              <a:gd name="T4" fmla="*/ 234 w 304"/>
              <a:gd name="T5" fmla="*/ 266 h 390"/>
              <a:gd name="T6" fmla="*/ 191 w 304"/>
              <a:gd name="T7" fmla="*/ 267 h 390"/>
              <a:gd name="T8" fmla="*/ 237 w 304"/>
              <a:gd name="T9" fmla="*/ 145 h 390"/>
              <a:gd name="T10" fmla="*/ 67 w 304"/>
              <a:gd name="T11" fmla="*/ 159 h 390"/>
              <a:gd name="T12" fmla="*/ 110 w 304"/>
              <a:gd name="T13" fmla="*/ 267 h 390"/>
              <a:gd name="T14" fmla="*/ 70 w 304"/>
              <a:gd name="T15" fmla="*/ 266 h 390"/>
              <a:gd name="T16" fmla="*/ 38 w 304"/>
              <a:gd name="T17" fmla="*/ 252 h 390"/>
              <a:gd name="T18" fmla="*/ 51 w 304"/>
              <a:gd name="T19" fmla="*/ 221 h 390"/>
              <a:gd name="T20" fmla="*/ 13 w 304"/>
              <a:gd name="T21" fmla="*/ 175 h 390"/>
              <a:gd name="T22" fmla="*/ 0 w 304"/>
              <a:gd name="T23" fmla="*/ 142 h 390"/>
              <a:gd name="T24" fmla="*/ 32 w 304"/>
              <a:gd name="T25" fmla="*/ 129 h 390"/>
              <a:gd name="T26" fmla="*/ 38 w 304"/>
              <a:gd name="T27" fmla="*/ 69 h 390"/>
              <a:gd name="T28" fmla="*/ 52 w 304"/>
              <a:gd name="T29" fmla="*/ 37 h 390"/>
              <a:gd name="T30" fmla="*/ 84 w 304"/>
              <a:gd name="T31" fmla="*/ 51 h 390"/>
              <a:gd name="T32" fmla="*/ 130 w 304"/>
              <a:gd name="T33" fmla="*/ 13 h 390"/>
              <a:gd name="T34" fmla="*/ 162 w 304"/>
              <a:gd name="T35" fmla="*/ 0 h 390"/>
              <a:gd name="T36" fmla="*/ 175 w 304"/>
              <a:gd name="T37" fmla="*/ 32 h 390"/>
              <a:gd name="T38" fmla="*/ 235 w 304"/>
              <a:gd name="T39" fmla="*/ 37 h 390"/>
              <a:gd name="T40" fmla="*/ 267 w 304"/>
              <a:gd name="T41" fmla="*/ 51 h 390"/>
              <a:gd name="T42" fmla="*/ 253 w 304"/>
              <a:gd name="T43" fmla="*/ 83 h 390"/>
              <a:gd name="T44" fmla="*/ 291 w 304"/>
              <a:gd name="T45" fmla="*/ 129 h 390"/>
              <a:gd name="T46" fmla="*/ 304 w 304"/>
              <a:gd name="T47" fmla="*/ 161 h 390"/>
              <a:gd name="T48" fmla="*/ 272 w 304"/>
              <a:gd name="T49" fmla="*/ 175 h 390"/>
              <a:gd name="T50" fmla="*/ 129 w 304"/>
              <a:gd name="T51" fmla="*/ 211 h 390"/>
              <a:gd name="T52" fmla="*/ 103 w 304"/>
              <a:gd name="T53" fmla="*/ 153 h 390"/>
              <a:gd name="T54" fmla="*/ 129 w 304"/>
              <a:gd name="T55" fmla="*/ 111 h 390"/>
              <a:gd name="T56" fmla="*/ 145 w 304"/>
              <a:gd name="T57" fmla="*/ 155 h 390"/>
              <a:gd name="T58" fmla="*/ 173 w 304"/>
              <a:gd name="T59" fmla="*/ 140 h 390"/>
              <a:gd name="T60" fmla="*/ 176 w 304"/>
              <a:gd name="T61" fmla="*/ 108 h 390"/>
              <a:gd name="T62" fmla="*/ 184 w 304"/>
              <a:gd name="T63" fmla="*/ 191 h 390"/>
              <a:gd name="T64" fmla="*/ 173 w 304"/>
              <a:gd name="T65" fmla="*/ 368 h 390"/>
              <a:gd name="T66" fmla="*/ 129 w 304"/>
              <a:gd name="T67" fmla="*/ 369 h 390"/>
              <a:gd name="T68" fmla="*/ 151 w 304"/>
              <a:gd name="T69" fmla="*/ 378 h 390"/>
              <a:gd name="T70" fmla="*/ 151 w 304"/>
              <a:gd name="T71" fmla="*/ 359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04" h="390">
                <a:moveTo>
                  <a:pt x="272" y="175"/>
                </a:moveTo>
                <a:cubicBezTo>
                  <a:pt x="268" y="191"/>
                  <a:pt x="262" y="207"/>
                  <a:pt x="253" y="221"/>
                </a:cubicBezTo>
                <a:cubicBezTo>
                  <a:pt x="266" y="234"/>
                  <a:pt x="266" y="234"/>
                  <a:pt x="266" y="234"/>
                </a:cubicBezTo>
                <a:cubicBezTo>
                  <a:pt x="272" y="239"/>
                  <a:pt x="272" y="247"/>
                  <a:pt x="266" y="252"/>
                </a:cubicBezTo>
                <a:cubicBezTo>
                  <a:pt x="252" y="266"/>
                  <a:pt x="252" y="266"/>
                  <a:pt x="252" y="266"/>
                </a:cubicBezTo>
                <a:cubicBezTo>
                  <a:pt x="247" y="271"/>
                  <a:pt x="239" y="271"/>
                  <a:pt x="234" y="266"/>
                </a:cubicBezTo>
                <a:cubicBezTo>
                  <a:pt x="221" y="253"/>
                  <a:pt x="221" y="253"/>
                  <a:pt x="221" y="253"/>
                </a:cubicBezTo>
                <a:cubicBezTo>
                  <a:pt x="212" y="259"/>
                  <a:pt x="202" y="264"/>
                  <a:pt x="191" y="267"/>
                </a:cubicBezTo>
                <a:cubicBezTo>
                  <a:pt x="191" y="227"/>
                  <a:pt x="191" y="227"/>
                  <a:pt x="191" y="227"/>
                </a:cubicBezTo>
                <a:cubicBezTo>
                  <a:pt x="221" y="212"/>
                  <a:pt x="240" y="180"/>
                  <a:pt x="237" y="145"/>
                </a:cubicBezTo>
                <a:cubicBezTo>
                  <a:pt x="233" y="98"/>
                  <a:pt x="192" y="63"/>
                  <a:pt x="145" y="67"/>
                </a:cubicBezTo>
                <a:cubicBezTo>
                  <a:pt x="98" y="71"/>
                  <a:pt x="63" y="112"/>
                  <a:pt x="67" y="159"/>
                </a:cubicBezTo>
                <a:cubicBezTo>
                  <a:pt x="70" y="188"/>
                  <a:pt x="86" y="213"/>
                  <a:pt x="110" y="226"/>
                </a:cubicBezTo>
                <a:cubicBezTo>
                  <a:pt x="110" y="267"/>
                  <a:pt x="110" y="267"/>
                  <a:pt x="110" y="267"/>
                </a:cubicBezTo>
                <a:cubicBezTo>
                  <a:pt x="101" y="263"/>
                  <a:pt x="92" y="259"/>
                  <a:pt x="83" y="253"/>
                </a:cubicBezTo>
                <a:cubicBezTo>
                  <a:pt x="70" y="266"/>
                  <a:pt x="70" y="266"/>
                  <a:pt x="70" y="266"/>
                </a:cubicBezTo>
                <a:cubicBezTo>
                  <a:pt x="65" y="271"/>
                  <a:pt x="57" y="271"/>
                  <a:pt x="52" y="266"/>
                </a:cubicBezTo>
                <a:cubicBezTo>
                  <a:pt x="38" y="252"/>
                  <a:pt x="38" y="252"/>
                  <a:pt x="38" y="252"/>
                </a:cubicBezTo>
                <a:cubicBezTo>
                  <a:pt x="33" y="247"/>
                  <a:pt x="33" y="239"/>
                  <a:pt x="38" y="234"/>
                </a:cubicBezTo>
                <a:cubicBezTo>
                  <a:pt x="51" y="221"/>
                  <a:pt x="51" y="221"/>
                  <a:pt x="51" y="221"/>
                </a:cubicBezTo>
                <a:cubicBezTo>
                  <a:pt x="42" y="207"/>
                  <a:pt x="35" y="191"/>
                  <a:pt x="32" y="175"/>
                </a:cubicBezTo>
                <a:cubicBezTo>
                  <a:pt x="13" y="175"/>
                  <a:pt x="13" y="175"/>
                  <a:pt x="13" y="175"/>
                </a:cubicBezTo>
                <a:cubicBezTo>
                  <a:pt x="6" y="175"/>
                  <a:pt x="0" y="169"/>
                  <a:pt x="0" y="162"/>
                </a:cubicBezTo>
                <a:cubicBezTo>
                  <a:pt x="0" y="142"/>
                  <a:pt x="0" y="142"/>
                  <a:pt x="0" y="142"/>
                </a:cubicBezTo>
                <a:cubicBezTo>
                  <a:pt x="0" y="135"/>
                  <a:pt x="6" y="129"/>
                  <a:pt x="13" y="129"/>
                </a:cubicBezTo>
                <a:cubicBezTo>
                  <a:pt x="32" y="129"/>
                  <a:pt x="32" y="129"/>
                  <a:pt x="32" y="129"/>
                </a:cubicBezTo>
                <a:cubicBezTo>
                  <a:pt x="36" y="113"/>
                  <a:pt x="42" y="97"/>
                  <a:pt x="52" y="83"/>
                </a:cubicBezTo>
                <a:cubicBezTo>
                  <a:pt x="38" y="69"/>
                  <a:pt x="38" y="69"/>
                  <a:pt x="38" y="69"/>
                </a:cubicBezTo>
                <a:cubicBezTo>
                  <a:pt x="33" y="64"/>
                  <a:pt x="33" y="56"/>
                  <a:pt x="38" y="51"/>
                </a:cubicBezTo>
                <a:cubicBezTo>
                  <a:pt x="52" y="37"/>
                  <a:pt x="52" y="37"/>
                  <a:pt x="52" y="37"/>
                </a:cubicBezTo>
                <a:cubicBezTo>
                  <a:pt x="57" y="32"/>
                  <a:pt x="65" y="32"/>
                  <a:pt x="70" y="37"/>
                </a:cubicBezTo>
                <a:cubicBezTo>
                  <a:pt x="84" y="51"/>
                  <a:pt x="84" y="51"/>
                  <a:pt x="84" y="51"/>
                </a:cubicBezTo>
                <a:cubicBezTo>
                  <a:pt x="98" y="41"/>
                  <a:pt x="113" y="35"/>
                  <a:pt x="130" y="32"/>
                </a:cubicBezTo>
                <a:cubicBezTo>
                  <a:pt x="130" y="13"/>
                  <a:pt x="130" y="13"/>
                  <a:pt x="130" y="13"/>
                </a:cubicBezTo>
                <a:cubicBezTo>
                  <a:pt x="130" y="5"/>
                  <a:pt x="135" y="0"/>
                  <a:pt x="142" y="0"/>
                </a:cubicBezTo>
                <a:cubicBezTo>
                  <a:pt x="162" y="0"/>
                  <a:pt x="162" y="0"/>
                  <a:pt x="162" y="0"/>
                </a:cubicBezTo>
                <a:cubicBezTo>
                  <a:pt x="170" y="0"/>
                  <a:pt x="175" y="5"/>
                  <a:pt x="175" y="13"/>
                </a:cubicBezTo>
                <a:cubicBezTo>
                  <a:pt x="175" y="32"/>
                  <a:pt x="175" y="32"/>
                  <a:pt x="175" y="32"/>
                </a:cubicBezTo>
                <a:cubicBezTo>
                  <a:pt x="191" y="35"/>
                  <a:pt x="207" y="42"/>
                  <a:pt x="221" y="51"/>
                </a:cubicBezTo>
                <a:cubicBezTo>
                  <a:pt x="235" y="37"/>
                  <a:pt x="235" y="37"/>
                  <a:pt x="235" y="37"/>
                </a:cubicBezTo>
                <a:cubicBezTo>
                  <a:pt x="240" y="32"/>
                  <a:pt x="248" y="32"/>
                  <a:pt x="253" y="37"/>
                </a:cubicBezTo>
                <a:cubicBezTo>
                  <a:pt x="267" y="51"/>
                  <a:pt x="267" y="51"/>
                  <a:pt x="267" y="51"/>
                </a:cubicBezTo>
                <a:cubicBezTo>
                  <a:pt x="272" y="56"/>
                  <a:pt x="272" y="64"/>
                  <a:pt x="267" y="69"/>
                </a:cubicBezTo>
                <a:cubicBezTo>
                  <a:pt x="253" y="83"/>
                  <a:pt x="253" y="83"/>
                  <a:pt x="253" y="83"/>
                </a:cubicBezTo>
                <a:cubicBezTo>
                  <a:pt x="262" y="97"/>
                  <a:pt x="269" y="113"/>
                  <a:pt x="272" y="129"/>
                </a:cubicBezTo>
                <a:cubicBezTo>
                  <a:pt x="291" y="129"/>
                  <a:pt x="291" y="129"/>
                  <a:pt x="291" y="129"/>
                </a:cubicBezTo>
                <a:cubicBezTo>
                  <a:pt x="298" y="129"/>
                  <a:pt x="304" y="134"/>
                  <a:pt x="304" y="141"/>
                </a:cubicBezTo>
                <a:cubicBezTo>
                  <a:pt x="304" y="161"/>
                  <a:pt x="304" y="161"/>
                  <a:pt x="304" y="161"/>
                </a:cubicBezTo>
                <a:cubicBezTo>
                  <a:pt x="304" y="169"/>
                  <a:pt x="298" y="174"/>
                  <a:pt x="291" y="174"/>
                </a:cubicBezTo>
                <a:lnTo>
                  <a:pt x="272" y="175"/>
                </a:lnTo>
                <a:close/>
                <a:moveTo>
                  <a:pt x="129" y="369"/>
                </a:moveTo>
                <a:cubicBezTo>
                  <a:pt x="129" y="211"/>
                  <a:pt x="129" y="211"/>
                  <a:pt x="129" y="211"/>
                </a:cubicBezTo>
                <a:cubicBezTo>
                  <a:pt x="129" y="203"/>
                  <a:pt x="126" y="195"/>
                  <a:pt x="120" y="190"/>
                </a:cubicBezTo>
                <a:cubicBezTo>
                  <a:pt x="109" y="181"/>
                  <a:pt x="103" y="167"/>
                  <a:pt x="103" y="153"/>
                </a:cubicBezTo>
                <a:cubicBezTo>
                  <a:pt x="103" y="135"/>
                  <a:pt x="112" y="119"/>
                  <a:pt x="127" y="110"/>
                </a:cubicBezTo>
                <a:cubicBezTo>
                  <a:pt x="128" y="109"/>
                  <a:pt x="129" y="110"/>
                  <a:pt x="129" y="111"/>
                </a:cubicBezTo>
                <a:cubicBezTo>
                  <a:pt x="129" y="140"/>
                  <a:pt x="129" y="140"/>
                  <a:pt x="129" y="140"/>
                </a:cubicBezTo>
                <a:cubicBezTo>
                  <a:pt x="129" y="148"/>
                  <a:pt x="136" y="155"/>
                  <a:pt x="145" y="155"/>
                </a:cubicBezTo>
                <a:cubicBezTo>
                  <a:pt x="158" y="155"/>
                  <a:pt x="158" y="155"/>
                  <a:pt x="158" y="155"/>
                </a:cubicBezTo>
                <a:cubicBezTo>
                  <a:pt x="166" y="155"/>
                  <a:pt x="173" y="148"/>
                  <a:pt x="173" y="140"/>
                </a:cubicBezTo>
                <a:cubicBezTo>
                  <a:pt x="173" y="110"/>
                  <a:pt x="173" y="110"/>
                  <a:pt x="173" y="110"/>
                </a:cubicBezTo>
                <a:cubicBezTo>
                  <a:pt x="173" y="109"/>
                  <a:pt x="174" y="108"/>
                  <a:pt x="176" y="108"/>
                </a:cubicBezTo>
                <a:cubicBezTo>
                  <a:pt x="192" y="117"/>
                  <a:pt x="202" y="133"/>
                  <a:pt x="202" y="152"/>
                </a:cubicBezTo>
                <a:cubicBezTo>
                  <a:pt x="202" y="168"/>
                  <a:pt x="195" y="182"/>
                  <a:pt x="184" y="191"/>
                </a:cubicBezTo>
                <a:cubicBezTo>
                  <a:pt x="177" y="197"/>
                  <a:pt x="173" y="205"/>
                  <a:pt x="173" y="213"/>
                </a:cubicBezTo>
                <a:cubicBezTo>
                  <a:pt x="173" y="368"/>
                  <a:pt x="173" y="368"/>
                  <a:pt x="173" y="368"/>
                </a:cubicBezTo>
                <a:cubicBezTo>
                  <a:pt x="173" y="380"/>
                  <a:pt x="164" y="390"/>
                  <a:pt x="152" y="390"/>
                </a:cubicBezTo>
                <a:cubicBezTo>
                  <a:pt x="140" y="390"/>
                  <a:pt x="129" y="381"/>
                  <a:pt x="129" y="369"/>
                </a:cubicBezTo>
                <a:close/>
                <a:moveTo>
                  <a:pt x="141" y="369"/>
                </a:moveTo>
                <a:cubicBezTo>
                  <a:pt x="141" y="374"/>
                  <a:pt x="146" y="378"/>
                  <a:pt x="151" y="378"/>
                </a:cubicBezTo>
                <a:cubicBezTo>
                  <a:pt x="156" y="378"/>
                  <a:pt x="160" y="374"/>
                  <a:pt x="160" y="369"/>
                </a:cubicBezTo>
                <a:cubicBezTo>
                  <a:pt x="160" y="363"/>
                  <a:pt x="156" y="359"/>
                  <a:pt x="151" y="359"/>
                </a:cubicBezTo>
                <a:cubicBezTo>
                  <a:pt x="146" y="359"/>
                  <a:pt x="141" y="363"/>
                  <a:pt x="141" y="36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3079" name="Freeform 17"/>
          <p:cNvSpPr>
            <a:spLocks noEditPoints="1"/>
          </p:cNvSpPr>
          <p:nvPr/>
        </p:nvSpPr>
        <p:spPr bwMode="auto">
          <a:xfrm>
            <a:off x="1887926" y="3726643"/>
            <a:ext cx="519112" cy="517525"/>
          </a:xfrm>
          <a:custGeom>
            <a:avLst/>
            <a:gdLst>
              <a:gd name="T0" fmla="*/ 154 w 1638"/>
              <a:gd name="T1" fmla="*/ 579 h 1638"/>
              <a:gd name="T2" fmla="*/ 349 w 1638"/>
              <a:gd name="T3" fmla="*/ 1050 h 1638"/>
              <a:gd name="T4" fmla="*/ 240 w 1638"/>
              <a:gd name="T5" fmla="*/ 1159 h 1638"/>
              <a:gd name="T6" fmla="*/ 0 w 1638"/>
              <a:gd name="T7" fmla="*/ 579 h 1638"/>
              <a:gd name="T8" fmla="*/ 240 w 1638"/>
              <a:gd name="T9" fmla="*/ 0 h 1638"/>
              <a:gd name="T10" fmla="*/ 349 w 1638"/>
              <a:gd name="T11" fmla="*/ 109 h 1638"/>
              <a:gd name="T12" fmla="*/ 154 w 1638"/>
              <a:gd name="T13" fmla="*/ 579 h 1638"/>
              <a:gd name="T14" fmla="*/ 584 w 1638"/>
              <a:gd name="T15" fmla="*/ 344 h 1638"/>
              <a:gd name="T16" fmla="*/ 475 w 1638"/>
              <a:gd name="T17" fmla="*/ 235 h 1638"/>
              <a:gd name="T18" fmla="*/ 333 w 1638"/>
              <a:gd name="T19" fmla="*/ 579 h 1638"/>
              <a:gd name="T20" fmla="*/ 475 w 1638"/>
              <a:gd name="T21" fmla="*/ 923 h 1638"/>
              <a:gd name="T22" fmla="*/ 584 w 1638"/>
              <a:gd name="T23" fmla="*/ 815 h 1638"/>
              <a:gd name="T24" fmla="*/ 486 w 1638"/>
              <a:gd name="T25" fmla="*/ 579 h 1638"/>
              <a:gd name="T26" fmla="*/ 584 w 1638"/>
              <a:gd name="T27" fmla="*/ 344 h 1638"/>
              <a:gd name="T28" fmla="*/ 1398 w 1638"/>
              <a:gd name="T29" fmla="*/ 0 h 1638"/>
              <a:gd name="T30" fmla="*/ 1290 w 1638"/>
              <a:gd name="T31" fmla="*/ 109 h 1638"/>
              <a:gd name="T32" fmla="*/ 1485 w 1638"/>
              <a:gd name="T33" fmla="*/ 579 h 1638"/>
              <a:gd name="T34" fmla="*/ 1290 w 1638"/>
              <a:gd name="T35" fmla="*/ 1050 h 1638"/>
              <a:gd name="T36" fmla="*/ 1398 w 1638"/>
              <a:gd name="T37" fmla="*/ 1159 h 1638"/>
              <a:gd name="T38" fmla="*/ 1638 w 1638"/>
              <a:gd name="T39" fmla="*/ 579 h 1638"/>
              <a:gd name="T40" fmla="*/ 1398 w 1638"/>
              <a:gd name="T41" fmla="*/ 0 h 1638"/>
              <a:gd name="T42" fmla="*/ 819 w 1638"/>
              <a:gd name="T43" fmla="*/ 426 h 1638"/>
              <a:gd name="T44" fmla="*/ 666 w 1638"/>
              <a:gd name="T45" fmla="*/ 579 h 1638"/>
              <a:gd name="T46" fmla="*/ 742 w 1638"/>
              <a:gd name="T47" fmla="*/ 712 h 1638"/>
              <a:gd name="T48" fmla="*/ 742 w 1638"/>
              <a:gd name="T49" fmla="*/ 1638 h 1638"/>
              <a:gd name="T50" fmla="*/ 896 w 1638"/>
              <a:gd name="T51" fmla="*/ 1638 h 1638"/>
              <a:gd name="T52" fmla="*/ 896 w 1638"/>
              <a:gd name="T53" fmla="*/ 712 h 1638"/>
              <a:gd name="T54" fmla="*/ 973 w 1638"/>
              <a:gd name="T55" fmla="*/ 579 h 1638"/>
              <a:gd name="T56" fmla="*/ 819 w 1638"/>
              <a:gd name="T57" fmla="*/ 426 h 1638"/>
              <a:gd name="T58" fmla="*/ 1163 w 1638"/>
              <a:gd name="T59" fmla="*/ 235 h 1638"/>
              <a:gd name="T60" fmla="*/ 1054 w 1638"/>
              <a:gd name="T61" fmla="*/ 344 h 1638"/>
              <a:gd name="T62" fmla="*/ 1152 w 1638"/>
              <a:gd name="T63" fmla="*/ 579 h 1638"/>
              <a:gd name="T64" fmla="*/ 1055 w 1638"/>
              <a:gd name="T65" fmla="*/ 815 h 1638"/>
              <a:gd name="T66" fmla="*/ 1163 w 1638"/>
              <a:gd name="T67" fmla="*/ 923 h 1638"/>
              <a:gd name="T68" fmla="*/ 1306 w 1638"/>
              <a:gd name="T69" fmla="*/ 579 h 1638"/>
              <a:gd name="T70" fmla="*/ 1163 w 1638"/>
              <a:gd name="T71" fmla="*/ 235 h 1638"/>
              <a:gd name="T72" fmla="*/ 1163 w 1638"/>
              <a:gd name="T73" fmla="*/ 235 h 1638"/>
              <a:gd name="T74" fmla="*/ 1163 w 1638"/>
              <a:gd name="T75" fmla="*/ 235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38" h="1638">
                <a:moveTo>
                  <a:pt x="154" y="579"/>
                </a:moveTo>
                <a:cubicBezTo>
                  <a:pt x="154" y="757"/>
                  <a:pt x="223" y="924"/>
                  <a:pt x="349" y="1050"/>
                </a:cubicBezTo>
                <a:cubicBezTo>
                  <a:pt x="240" y="1159"/>
                  <a:pt x="240" y="1159"/>
                  <a:pt x="240" y="1159"/>
                </a:cubicBezTo>
                <a:cubicBezTo>
                  <a:pt x="85" y="1004"/>
                  <a:pt x="0" y="798"/>
                  <a:pt x="0" y="579"/>
                </a:cubicBezTo>
                <a:cubicBezTo>
                  <a:pt x="0" y="361"/>
                  <a:pt x="85" y="155"/>
                  <a:pt x="240" y="0"/>
                </a:cubicBezTo>
                <a:cubicBezTo>
                  <a:pt x="349" y="109"/>
                  <a:pt x="349" y="109"/>
                  <a:pt x="349" y="109"/>
                </a:cubicBezTo>
                <a:cubicBezTo>
                  <a:pt x="223" y="234"/>
                  <a:pt x="154" y="402"/>
                  <a:pt x="154" y="579"/>
                </a:cubicBezTo>
                <a:close/>
                <a:moveTo>
                  <a:pt x="584" y="344"/>
                </a:moveTo>
                <a:cubicBezTo>
                  <a:pt x="475" y="235"/>
                  <a:pt x="475" y="235"/>
                  <a:pt x="475" y="235"/>
                </a:cubicBezTo>
                <a:cubicBezTo>
                  <a:pt x="383" y="327"/>
                  <a:pt x="333" y="450"/>
                  <a:pt x="333" y="579"/>
                </a:cubicBezTo>
                <a:cubicBezTo>
                  <a:pt x="333" y="709"/>
                  <a:pt x="383" y="832"/>
                  <a:pt x="475" y="923"/>
                </a:cubicBezTo>
                <a:cubicBezTo>
                  <a:pt x="584" y="815"/>
                  <a:pt x="584" y="815"/>
                  <a:pt x="584" y="815"/>
                </a:cubicBezTo>
                <a:cubicBezTo>
                  <a:pt x="521" y="752"/>
                  <a:pt x="486" y="668"/>
                  <a:pt x="486" y="579"/>
                </a:cubicBezTo>
                <a:cubicBezTo>
                  <a:pt x="486" y="491"/>
                  <a:pt x="521" y="407"/>
                  <a:pt x="584" y="344"/>
                </a:cubicBezTo>
                <a:close/>
                <a:moveTo>
                  <a:pt x="1398" y="0"/>
                </a:moveTo>
                <a:cubicBezTo>
                  <a:pt x="1290" y="109"/>
                  <a:pt x="1290" y="109"/>
                  <a:pt x="1290" y="109"/>
                </a:cubicBezTo>
                <a:cubicBezTo>
                  <a:pt x="1416" y="234"/>
                  <a:pt x="1485" y="402"/>
                  <a:pt x="1485" y="579"/>
                </a:cubicBezTo>
                <a:cubicBezTo>
                  <a:pt x="1485" y="757"/>
                  <a:pt x="1416" y="924"/>
                  <a:pt x="1290" y="1050"/>
                </a:cubicBezTo>
                <a:cubicBezTo>
                  <a:pt x="1398" y="1159"/>
                  <a:pt x="1398" y="1159"/>
                  <a:pt x="1398" y="1159"/>
                </a:cubicBezTo>
                <a:cubicBezTo>
                  <a:pt x="1553" y="1004"/>
                  <a:pt x="1638" y="798"/>
                  <a:pt x="1638" y="579"/>
                </a:cubicBezTo>
                <a:cubicBezTo>
                  <a:pt x="1638" y="360"/>
                  <a:pt x="1553" y="155"/>
                  <a:pt x="1398" y="0"/>
                </a:cubicBezTo>
                <a:close/>
                <a:moveTo>
                  <a:pt x="819" y="426"/>
                </a:moveTo>
                <a:cubicBezTo>
                  <a:pt x="734" y="426"/>
                  <a:pt x="666" y="495"/>
                  <a:pt x="666" y="579"/>
                </a:cubicBezTo>
                <a:cubicBezTo>
                  <a:pt x="666" y="636"/>
                  <a:pt x="697" y="685"/>
                  <a:pt x="742" y="712"/>
                </a:cubicBezTo>
                <a:cubicBezTo>
                  <a:pt x="742" y="1638"/>
                  <a:pt x="742" y="1638"/>
                  <a:pt x="742" y="1638"/>
                </a:cubicBezTo>
                <a:cubicBezTo>
                  <a:pt x="896" y="1638"/>
                  <a:pt x="896" y="1638"/>
                  <a:pt x="896" y="1638"/>
                </a:cubicBezTo>
                <a:cubicBezTo>
                  <a:pt x="896" y="712"/>
                  <a:pt x="896" y="712"/>
                  <a:pt x="896" y="712"/>
                </a:cubicBezTo>
                <a:cubicBezTo>
                  <a:pt x="942" y="685"/>
                  <a:pt x="973" y="636"/>
                  <a:pt x="973" y="579"/>
                </a:cubicBezTo>
                <a:cubicBezTo>
                  <a:pt x="973" y="495"/>
                  <a:pt x="904" y="426"/>
                  <a:pt x="819" y="426"/>
                </a:cubicBezTo>
                <a:close/>
                <a:moveTo>
                  <a:pt x="1163" y="235"/>
                </a:moveTo>
                <a:cubicBezTo>
                  <a:pt x="1054" y="344"/>
                  <a:pt x="1054" y="344"/>
                  <a:pt x="1054" y="344"/>
                </a:cubicBezTo>
                <a:cubicBezTo>
                  <a:pt x="1117" y="407"/>
                  <a:pt x="1152" y="491"/>
                  <a:pt x="1152" y="579"/>
                </a:cubicBezTo>
                <a:cubicBezTo>
                  <a:pt x="1152" y="668"/>
                  <a:pt x="1117" y="752"/>
                  <a:pt x="1055" y="815"/>
                </a:cubicBezTo>
                <a:cubicBezTo>
                  <a:pt x="1163" y="923"/>
                  <a:pt x="1163" y="923"/>
                  <a:pt x="1163" y="923"/>
                </a:cubicBezTo>
                <a:cubicBezTo>
                  <a:pt x="1255" y="832"/>
                  <a:pt x="1306" y="709"/>
                  <a:pt x="1306" y="579"/>
                </a:cubicBezTo>
                <a:cubicBezTo>
                  <a:pt x="1306" y="449"/>
                  <a:pt x="1255" y="327"/>
                  <a:pt x="1163" y="235"/>
                </a:cubicBezTo>
                <a:close/>
                <a:moveTo>
                  <a:pt x="1163" y="235"/>
                </a:moveTo>
                <a:cubicBezTo>
                  <a:pt x="1163" y="235"/>
                  <a:pt x="1163" y="235"/>
                  <a:pt x="1163" y="235"/>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7154478C-F9C0-4886-8D26-C7240F2EB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297" y="1643458"/>
            <a:ext cx="580819" cy="450742"/>
          </a:xfrm>
          <a:prstGeom prst="rect">
            <a:avLst/>
          </a:prstGeom>
        </p:spPr>
      </p:pic>
      <p:grpSp>
        <p:nvGrpSpPr>
          <p:cNvPr id="44" name="Group 43">
            <a:extLst>
              <a:ext uri="{FF2B5EF4-FFF2-40B4-BE49-F238E27FC236}">
                <a16:creationId xmlns:a16="http://schemas.microsoft.com/office/drawing/2014/main" id="{E8701F5A-9FE5-4B69-82D9-CCFB28AEA741}"/>
              </a:ext>
            </a:extLst>
          </p:cNvPr>
          <p:cNvGrpSpPr/>
          <p:nvPr/>
        </p:nvGrpSpPr>
        <p:grpSpPr>
          <a:xfrm>
            <a:off x="1727331" y="5372137"/>
            <a:ext cx="898395" cy="914612"/>
            <a:chOff x="202372" y="1250092"/>
            <a:chExt cx="1152128" cy="1152128"/>
          </a:xfrm>
        </p:grpSpPr>
        <p:sp>
          <p:nvSpPr>
            <p:cNvPr id="45" name="Oval 44">
              <a:extLst>
                <a:ext uri="{FF2B5EF4-FFF2-40B4-BE49-F238E27FC236}">
                  <a16:creationId xmlns:a16="http://schemas.microsoft.com/office/drawing/2014/main" id="{95EE66C2-5279-4609-B821-2E4015D2722E}"/>
                </a:ext>
              </a:extLst>
            </p:cNvPr>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DC6BDAB5-9C93-458D-95B5-C5ED796E8CF2}"/>
                </a:ext>
              </a:extLst>
            </p:cNvPr>
            <p:cNvSpPr/>
            <p:nvPr/>
          </p:nvSpPr>
          <p:spPr>
            <a:xfrm>
              <a:off x="289513" y="1354436"/>
              <a:ext cx="960642" cy="942097"/>
            </a:xfrm>
            <a:prstGeom prst="ellipse">
              <a:avLst/>
            </a:prstGeom>
            <a:solidFill>
              <a:schemeClr val="bg1"/>
            </a:solidFill>
            <a:ln>
              <a:solidFill>
                <a:srgbClr val="002060"/>
              </a:solid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17">
            <a:extLst>
              <a:ext uri="{FF2B5EF4-FFF2-40B4-BE49-F238E27FC236}">
                <a16:creationId xmlns:a16="http://schemas.microsoft.com/office/drawing/2014/main" id="{C586E02C-3219-44CD-A3CD-05C37F2EF1F7}"/>
              </a:ext>
            </a:extLst>
          </p:cNvPr>
          <p:cNvSpPr>
            <a:spLocks noEditPoints="1"/>
          </p:cNvSpPr>
          <p:nvPr/>
        </p:nvSpPr>
        <p:spPr bwMode="auto">
          <a:xfrm>
            <a:off x="1920004" y="5603074"/>
            <a:ext cx="519112" cy="517525"/>
          </a:xfrm>
          <a:custGeom>
            <a:avLst/>
            <a:gdLst>
              <a:gd name="T0" fmla="*/ 154 w 1638"/>
              <a:gd name="T1" fmla="*/ 579 h 1638"/>
              <a:gd name="T2" fmla="*/ 349 w 1638"/>
              <a:gd name="T3" fmla="*/ 1050 h 1638"/>
              <a:gd name="T4" fmla="*/ 240 w 1638"/>
              <a:gd name="T5" fmla="*/ 1159 h 1638"/>
              <a:gd name="T6" fmla="*/ 0 w 1638"/>
              <a:gd name="T7" fmla="*/ 579 h 1638"/>
              <a:gd name="T8" fmla="*/ 240 w 1638"/>
              <a:gd name="T9" fmla="*/ 0 h 1638"/>
              <a:gd name="T10" fmla="*/ 349 w 1638"/>
              <a:gd name="T11" fmla="*/ 109 h 1638"/>
              <a:gd name="T12" fmla="*/ 154 w 1638"/>
              <a:gd name="T13" fmla="*/ 579 h 1638"/>
              <a:gd name="T14" fmla="*/ 584 w 1638"/>
              <a:gd name="T15" fmla="*/ 344 h 1638"/>
              <a:gd name="T16" fmla="*/ 475 w 1638"/>
              <a:gd name="T17" fmla="*/ 235 h 1638"/>
              <a:gd name="T18" fmla="*/ 333 w 1638"/>
              <a:gd name="T19" fmla="*/ 579 h 1638"/>
              <a:gd name="T20" fmla="*/ 475 w 1638"/>
              <a:gd name="T21" fmla="*/ 923 h 1638"/>
              <a:gd name="T22" fmla="*/ 584 w 1638"/>
              <a:gd name="T23" fmla="*/ 815 h 1638"/>
              <a:gd name="T24" fmla="*/ 486 w 1638"/>
              <a:gd name="T25" fmla="*/ 579 h 1638"/>
              <a:gd name="T26" fmla="*/ 584 w 1638"/>
              <a:gd name="T27" fmla="*/ 344 h 1638"/>
              <a:gd name="T28" fmla="*/ 1398 w 1638"/>
              <a:gd name="T29" fmla="*/ 0 h 1638"/>
              <a:gd name="T30" fmla="*/ 1290 w 1638"/>
              <a:gd name="T31" fmla="*/ 109 h 1638"/>
              <a:gd name="T32" fmla="*/ 1485 w 1638"/>
              <a:gd name="T33" fmla="*/ 579 h 1638"/>
              <a:gd name="T34" fmla="*/ 1290 w 1638"/>
              <a:gd name="T35" fmla="*/ 1050 h 1638"/>
              <a:gd name="T36" fmla="*/ 1398 w 1638"/>
              <a:gd name="T37" fmla="*/ 1159 h 1638"/>
              <a:gd name="T38" fmla="*/ 1638 w 1638"/>
              <a:gd name="T39" fmla="*/ 579 h 1638"/>
              <a:gd name="T40" fmla="*/ 1398 w 1638"/>
              <a:gd name="T41" fmla="*/ 0 h 1638"/>
              <a:gd name="T42" fmla="*/ 819 w 1638"/>
              <a:gd name="T43" fmla="*/ 426 h 1638"/>
              <a:gd name="T44" fmla="*/ 666 w 1638"/>
              <a:gd name="T45" fmla="*/ 579 h 1638"/>
              <a:gd name="T46" fmla="*/ 742 w 1638"/>
              <a:gd name="T47" fmla="*/ 712 h 1638"/>
              <a:gd name="T48" fmla="*/ 742 w 1638"/>
              <a:gd name="T49" fmla="*/ 1638 h 1638"/>
              <a:gd name="T50" fmla="*/ 896 w 1638"/>
              <a:gd name="T51" fmla="*/ 1638 h 1638"/>
              <a:gd name="T52" fmla="*/ 896 w 1638"/>
              <a:gd name="T53" fmla="*/ 712 h 1638"/>
              <a:gd name="T54" fmla="*/ 973 w 1638"/>
              <a:gd name="T55" fmla="*/ 579 h 1638"/>
              <a:gd name="T56" fmla="*/ 819 w 1638"/>
              <a:gd name="T57" fmla="*/ 426 h 1638"/>
              <a:gd name="T58" fmla="*/ 1163 w 1638"/>
              <a:gd name="T59" fmla="*/ 235 h 1638"/>
              <a:gd name="T60" fmla="*/ 1054 w 1638"/>
              <a:gd name="T61" fmla="*/ 344 h 1638"/>
              <a:gd name="T62" fmla="*/ 1152 w 1638"/>
              <a:gd name="T63" fmla="*/ 579 h 1638"/>
              <a:gd name="T64" fmla="*/ 1055 w 1638"/>
              <a:gd name="T65" fmla="*/ 815 h 1638"/>
              <a:gd name="T66" fmla="*/ 1163 w 1638"/>
              <a:gd name="T67" fmla="*/ 923 h 1638"/>
              <a:gd name="T68" fmla="*/ 1306 w 1638"/>
              <a:gd name="T69" fmla="*/ 579 h 1638"/>
              <a:gd name="T70" fmla="*/ 1163 w 1638"/>
              <a:gd name="T71" fmla="*/ 235 h 1638"/>
              <a:gd name="T72" fmla="*/ 1163 w 1638"/>
              <a:gd name="T73" fmla="*/ 235 h 1638"/>
              <a:gd name="T74" fmla="*/ 1163 w 1638"/>
              <a:gd name="T75" fmla="*/ 235 h 1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38" h="1638">
                <a:moveTo>
                  <a:pt x="154" y="579"/>
                </a:moveTo>
                <a:cubicBezTo>
                  <a:pt x="154" y="757"/>
                  <a:pt x="223" y="924"/>
                  <a:pt x="349" y="1050"/>
                </a:cubicBezTo>
                <a:cubicBezTo>
                  <a:pt x="240" y="1159"/>
                  <a:pt x="240" y="1159"/>
                  <a:pt x="240" y="1159"/>
                </a:cubicBezTo>
                <a:cubicBezTo>
                  <a:pt x="85" y="1004"/>
                  <a:pt x="0" y="798"/>
                  <a:pt x="0" y="579"/>
                </a:cubicBezTo>
                <a:cubicBezTo>
                  <a:pt x="0" y="361"/>
                  <a:pt x="85" y="155"/>
                  <a:pt x="240" y="0"/>
                </a:cubicBezTo>
                <a:cubicBezTo>
                  <a:pt x="349" y="109"/>
                  <a:pt x="349" y="109"/>
                  <a:pt x="349" y="109"/>
                </a:cubicBezTo>
                <a:cubicBezTo>
                  <a:pt x="223" y="234"/>
                  <a:pt x="154" y="402"/>
                  <a:pt x="154" y="579"/>
                </a:cubicBezTo>
                <a:close/>
                <a:moveTo>
                  <a:pt x="584" y="344"/>
                </a:moveTo>
                <a:cubicBezTo>
                  <a:pt x="475" y="235"/>
                  <a:pt x="475" y="235"/>
                  <a:pt x="475" y="235"/>
                </a:cubicBezTo>
                <a:cubicBezTo>
                  <a:pt x="383" y="327"/>
                  <a:pt x="333" y="450"/>
                  <a:pt x="333" y="579"/>
                </a:cubicBezTo>
                <a:cubicBezTo>
                  <a:pt x="333" y="709"/>
                  <a:pt x="383" y="832"/>
                  <a:pt x="475" y="923"/>
                </a:cubicBezTo>
                <a:cubicBezTo>
                  <a:pt x="584" y="815"/>
                  <a:pt x="584" y="815"/>
                  <a:pt x="584" y="815"/>
                </a:cubicBezTo>
                <a:cubicBezTo>
                  <a:pt x="521" y="752"/>
                  <a:pt x="486" y="668"/>
                  <a:pt x="486" y="579"/>
                </a:cubicBezTo>
                <a:cubicBezTo>
                  <a:pt x="486" y="491"/>
                  <a:pt x="521" y="407"/>
                  <a:pt x="584" y="344"/>
                </a:cubicBezTo>
                <a:close/>
                <a:moveTo>
                  <a:pt x="1398" y="0"/>
                </a:moveTo>
                <a:cubicBezTo>
                  <a:pt x="1290" y="109"/>
                  <a:pt x="1290" y="109"/>
                  <a:pt x="1290" y="109"/>
                </a:cubicBezTo>
                <a:cubicBezTo>
                  <a:pt x="1416" y="234"/>
                  <a:pt x="1485" y="402"/>
                  <a:pt x="1485" y="579"/>
                </a:cubicBezTo>
                <a:cubicBezTo>
                  <a:pt x="1485" y="757"/>
                  <a:pt x="1416" y="924"/>
                  <a:pt x="1290" y="1050"/>
                </a:cubicBezTo>
                <a:cubicBezTo>
                  <a:pt x="1398" y="1159"/>
                  <a:pt x="1398" y="1159"/>
                  <a:pt x="1398" y="1159"/>
                </a:cubicBezTo>
                <a:cubicBezTo>
                  <a:pt x="1553" y="1004"/>
                  <a:pt x="1638" y="798"/>
                  <a:pt x="1638" y="579"/>
                </a:cubicBezTo>
                <a:cubicBezTo>
                  <a:pt x="1638" y="360"/>
                  <a:pt x="1553" y="155"/>
                  <a:pt x="1398" y="0"/>
                </a:cubicBezTo>
                <a:close/>
                <a:moveTo>
                  <a:pt x="819" y="426"/>
                </a:moveTo>
                <a:cubicBezTo>
                  <a:pt x="734" y="426"/>
                  <a:pt x="666" y="495"/>
                  <a:pt x="666" y="579"/>
                </a:cubicBezTo>
                <a:cubicBezTo>
                  <a:pt x="666" y="636"/>
                  <a:pt x="697" y="685"/>
                  <a:pt x="742" y="712"/>
                </a:cubicBezTo>
                <a:cubicBezTo>
                  <a:pt x="742" y="1638"/>
                  <a:pt x="742" y="1638"/>
                  <a:pt x="742" y="1638"/>
                </a:cubicBezTo>
                <a:cubicBezTo>
                  <a:pt x="896" y="1638"/>
                  <a:pt x="896" y="1638"/>
                  <a:pt x="896" y="1638"/>
                </a:cubicBezTo>
                <a:cubicBezTo>
                  <a:pt x="896" y="712"/>
                  <a:pt x="896" y="712"/>
                  <a:pt x="896" y="712"/>
                </a:cubicBezTo>
                <a:cubicBezTo>
                  <a:pt x="942" y="685"/>
                  <a:pt x="973" y="636"/>
                  <a:pt x="973" y="579"/>
                </a:cubicBezTo>
                <a:cubicBezTo>
                  <a:pt x="973" y="495"/>
                  <a:pt x="904" y="426"/>
                  <a:pt x="819" y="426"/>
                </a:cubicBezTo>
                <a:close/>
                <a:moveTo>
                  <a:pt x="1163" y="235"/>
                </a:moveTo>
                <a:cubicBezTo>
                  <a:pt x="1054" y="344"/>
                  <a:pt x="1054" y="344"/>
                  <a:pt x="1054" y="344"/>
                </a:cubicBezTo>
                <a:cubicBezTo>
                  <a:pt x="1117" y="407"/>
                  <a:pt x="1152" y="491"/>
                  <a:pt x="1152" y="579"/>
                </a:cubicBezTo>
                <a:cubicBezTo>
                  <a:pt x="1152" y="668"/>
                  <a:pt x="1117" y="752"/>
                  <a:pt x="1055" y="815"/>
                </a:cubicBezTo>
                <a:cubicBezTo>
                  <a:pt x="1163" y="923"/>
                  <a:pt x="1163" y="923"/>
                  <a:pt x="1163" y="923"/>
                </a:cubicBezTo>
                <a:cubicBezTo>
                  <a:pt x="1255" y="832"/>
                  <a:pt x="1306" y="709"/>
                  <a:pt x="1306" y="579"/>
                </a:cubicBezTo>
                <a:cubicBezTo>
                  <a:pt x="1306" y="449"/>
                  <a:pt x="1255" y="327"/>
                  <a:pt x="1163" y="235"/>
                </a:cubicBezTo>
                <a:close/>
                <a:moveTo>
                  <a:pt x="1163" y="235"/>
                </a:moveTo>
                <a:cubicBezTo>
                  <a:pt x="1163" y="235"/>
                  <a:pt x="1163" y="235"/>
                  <a:pt x="1163" y="235"/>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cxnSp>
        <p:nvCxnSpPr>
          <p:cNvPr id="6" name="Straight Connector 5">
            <a:extLst>
              <a:ext uri="{FF2B5EF4-FFF2-40B4-BE49-F238E27FC236}">
                <a16:creationId xmlns:a16="http://schemas.microsoft.com/office/drawing/2014/main" id="{EAA0B9E9-43E8-4F07-B3C1-75B2699E8986}"/>
              </a:ext>
            </a:extLst>
          </p:cNvPr>
          <p:cNvCxnSpPr>
            <a:cxnSpLocks/>
          </p:cNvCxnSpPr>
          <p:nvPr/>
        </p:nvCxnSpPr>
        <p:spPr>
          <a:xfrm flipV="1">
            <a:off x="2737998" y="5274086"/>
            <a:ext cx="7650694" cy="140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8F3E3ED-8A35-4D48-BE77-151833D76778}"/>
              </a:ext>
            </a:extLst>
          </p:cNvPr>
          <p:cNvSpPr/>
          <p:nvPr/>
        </p:nvSpPr>
        <p:spPr>
          <a:xfrm>
            <a:off x="2934347" y="5288123"/>
            <a:ext cx="7701724" cy="677108"/>
          </a:xfrm>
          <a:prstGeom prst="rect">
            <a:avLst/>
          </a:prstGeom>
        </p:spPr>
        <p:txBody>
          <a:bodyPr wrap="none">
            <a:spAutoFit/>
          </a:bodyPr>
          <a:lstStyle/>
          <a:p>
            <a:r>
              <a:rPr lang="en-IN" sz="1400" b="1" dirty="0"/>
              <a:t>Deploy capital for both platform and bolt-on M&amp;A</a:t>
            </a:r>
          </a:p>
          <a:p>
            <a:pPr marL="285750" indent="-285750">
              <a:buFont typeface="Wingdings" panose="05000000000000000000" pitchFamily="2" charset="2"/>
              <a:buChar char="Ø"/>
            </a:pPr>
            <a:r>
              <a:rPr lang="en-IN" sz="1200" dirty="0"/>
              <a:t>New platform businesses in identified strategic markets or complementary capabilities.</a:t>
            </a:r>
          </a:p>
          <a:p>
            <a:pPr marL="285750" indent="-285750">
              <a:buFont typeface="Wingdings" panose="05000000000000000000" pitchFamily="2" charset="2"/>
              <a:buChar char="Ø"/>
            </a:pPr>
            <a:r>
              <a:rPr lang="en-IN" sz="1200" dirty="0"/>
              <a:t>Bolt-on acquisitions to broaden customer offering, reach new customer segments or expand geographical presence.</a:t>
            </a:r>
          </a:p>
        </p:txBody>
      </p:sp>
      <p:cxnSp>
        <p:nvCxnSpPr>
          <p:cNvPr id="48" name="Straight Connector 47">
            <a:extLst>
              <a:ext uri="{FF2B5EF4-FFF2-40B4-BE49-F238E27FC236}">
                <a16:creationId xmlns:a16="http://schemas.microsoft.com/office/drawing/2014/main" id="{4C18FA2D-D439-4EB6-95AC-0E2E6C7F3159}"/>
              </a:ext>
            </a:extLst>
          </p:cNvPr>
          <p:cNvCxnSpPr/>
          <p:nvPr/>
        </p:nvCxnSpPr>
        <p:spPr>
          <a:xfrm>
            <a:off x="2801284" y="6286749"/>
            <a:ext cx="7716701" cy="0"/>
          </a:xfrm>
          <a:prstGeom prst="line">
            <a:avLst/>
          </a:prstGeom>
          <a:ln>
            <a:solidFill>
              <a:schemeClr val="accent4"/>
            </a:solidFill>
            <a:tailEnd type="diamo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28DB15B-FE15-4D43-BD93-7BBAA915C9DA}"/>
              </a:ext>
            </a:extLst>
          </p:cNvPr>
          <p:cNvCxnSpPr>
            <a:cxnSpLocks/>
          </p:cNvCxnSpPr>
          <p:nvPr/>
        </p:nvCxnSpPr>
        <p:spPr>
          <a:xfrm>
            <a:off x="801701" y="880268"/>
            <a:ext cx="10237615" cy="678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F126FA79-7443-4824-BBFA-8C54E43D24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2507" y="141742"/>
            <a:ext cx="829766" cy="705546"/>
          </a:xfrm>
          <a:prstGeom prst="rect">
            <a:avLst/>
          </a:prstGeom>
        </p:spPr>
      </p:pic>
    </p:spTree>
    <p:extLst>
      <p:ext uri="{BB962C8B-B14F-4D97-AF65-F5344CB8AC3E}">
        <p14:creationId xmlns:p14="http://schemas.microsoft.com/office/powerpoint/2010/main" val="394659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8678-D91B-46E7-9AC1-94D7402287F5}"/>
              </a:ext>
            </a:extLst>
          </p:cNvPr>
          <p:cNvSpPr>
            <a:spLocks noGrp="1"/>
          </p:cNvSpPr>
          <p:nvPr>
            <p:ph type="title"/>
          </p:nvPr>
        </p:nvSpPr>
        <p:spPr>
          <a:xfrm>
            <a:off x="838200" y="138623"/>
            <a:ext cx="10515600" cy="708666"/>
          </a:xfrm>
        </p:spPr>
        <p:txBody>
          <a:bodyPr>
            <a:normAutofit/>
          </a:bodyPr>
          <a:lstStyle/>
          <a:p>
            <a:r>
              <a:rPr lang="en-GB" sz="2400" b="1" dirty="0">
                <a:latin typeface="+mn-lt"/>
              </a:rPr>
              <a:t>Spectris: Key Investment attributes</a:t>
            </a:r>
            <a:endParaRPr lang="en-IN" sz="2400" b="1" dirty="0">
              <a:latin typeface="+mn-lt"/>
            </a:endParaRPr>
          </a:p>
        </p:txBody>
      </p:sp>
      <p:sp>
        <p:nvSpPr>
          <p:cNvPr id="3" name="Content Placeholder 2">
            <a:extLst>
              <a:ext uri="{FF2B5EF4-FFF2-40B4-BE49-F238E27FC236}">
                <a16:creationId xmlns:a16="http://schemas.microsoft.com/office/drawing/2014/main" id="{5CEC8F59-D8FF-43A3-AA53-5D3CD3BE44D9}"/>
              </a:ext>
            </a:extLst>
          </p:cNvPr>
          <p:cNvSpPr>
            <a:spLocks noGrp="1"/>
          </p:cNvSpPr>
          <p:nvPr>
            <p:ph idx="1"/>
          </p:nvPr>
        </p:nvSpPr>
        <p:spPr>
          <a:xfrm>
            <a:off x="2600586" y="1073792"/>
            <a:ext cx="8753213" cy="5103171"/>
          </a:xfrm>
        </p:spPr>
        <p:txBody>
          <a:bodyPr/>
          <a:lstStyle/>
          <a:p>
            <a:pPr marL="0" indent="0">
              <a:buNone/>
            </a:pPr>
            <a:r>
              <a:rPr lang="en-IN" sz="1400" b="1" dirty="0"/>
              <a:t>High barriers to entry supported by continuous innovation and long-term customer relationships </a:t>
            </a:r>
          </a:p>
          <a:p>
            <a:pPr algn="just"/>
            <a:r>
              <a:rPr lang="en-IN" sz="1200" dirty="0"/>
              <a:t>Strong intellectual property and continuous innovation, underpinned by sustained investment of around 6-7% of sales each year in research and development and by frequent bolt-on acquisitions. </a:t>
            </a:r>
          </a:p>
          <a:p>
            <a:pPr algn="just"/>
            <a:r>
              <a:rPr lang="en-IN" sz="1200" dirty="0"/>
              <a:t>Long-term customer relationships, result in high levels of repeat business (over 80% of sales in any one year are generated from customers who have purchased from the company within the last two years)</a:t>
            </a:r>
          </a:p>
          <a:p>
            <a:pPr algn="just"/>
            <a:r>
              <a:rPr lang="en-IN" sz="1200" dirty="0"/>
              <a:t> Application expertise: Company employees have in-depth know-how and expertise in their chosen fields. </a:t>
            </a:r>
          </a:p>
          <a:p>
            <a:pPr algn="just"/>
            <a:r>
              <a:rPr lang="en-IN" sz="1200" dirty="0"/>
              <a:t> High gross margins, supported by a stable pricing environment.</a:t>
            </a:r>
          </a:p>
          <a:p>
            <a:pPr marL="0" indent="0">
              <a:buNone/>
            </a:pPr>
            <a:endParaRPr lang="en-IN" sz="1400" b="1" dirty="0"/>
          </a:p>
          <a:p>
            <a:pPr marL="0" indent="0">
              <a:buNone/>
            </a:pPr>
            <a:r>
              <a:rPr lang="en-IN" sz="1400" b="1" dirty="0"/>
              <a:t>Focus on customer solutions in attractive markets with strong growth potential </a:t>
            </a:r>
            <a:r>
              <a:rPr lang="en-IN" sz="1200" dirty="0"/>
              <a:t>›</a:t>
            </a:r>
          </a:p>
          <a:p>
            <a:pPr algn="just"/>
            <a:r>
              <a:rPr lang="en-IN" sz="1200" dirty="0"/>
              <a:t> Enhancing productivity for customers is an ever-present growth driver for all of our businesses. </a:t>
            </a:r>
          </a:p>
          <a:p>
            <a:pPr algn="just"/>
            <a:r>
              <a:rPr lang="en-IN" sz="1200" dirty="0"/>
              <a:t>Increasingly focused not just on the supply of equipment but on the provision of innovative customer solutions, involving services, software and related activities. </a:t>
            </a:r>
          </a:p>
          <a:p>
            <a:pPr algn="just"/>
            <a:r>
              <a:rPr lang="en-IN" sz="1200" dirty="0"/>
              <a:t>The company is also focused on exploiting disruptive growth themes to enhance their growth prospects.</a:t>
            </a:r>
          </a:p>
        </p:txBody>
      </p:sp>
      <p:sp>
        <p:nvSpPr>
          <p:cNvPr id="4" name="AutoShape 19">
            <a:extLst>
              <a:ext uri="{FF2B5EF4-FFF2-40B4-BE49-F238E27FC236}">
                <a16:creationId xmlns:a16="http://schemas.microsoft.com/office/drawing/2014/main" id="{37358521-227F-4E17-95B0-BCB0D7055985}"/>
              </a:ext>
            </a:extLst>
          </p:cNvPr>
          <p:cNvSpPr>
            <a:spLocks noChangeArrowheads="1"/>
          </p:cNvSpPr>
          <p:nvPr/>
        </p:nvSpPr>
        <p:spPr bwMode="gray">
          <a:xfrm>
            <a:off x="711200" y="1196110"/>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1</a:t>
            </a:r>
          </a:p>
        </p:txBody>
      </p:sp>
      <p:sp>
        <p:nvSpPr>
          <p:cNvPr id="5" name="AutoShape 19">
            <a:extLst>
              <a:ext uri="{FF2B5EF4-FFF2-40B4-BE49-F238E27FC236}">
                <a16:creationId xmlns:a16="http://schemas.microsoft.com/office/drawing/2014/main" id="{4B16669F-4945-4AB8-AD9A-6C8D9774457D}"/>
              </a:ext>
            </a:extLst>
          </p:cNvPr>
          <p:cNvSpPr>
            <a:spLocks noChangeArrowheads="1"/>
          </p:cNvSpPr>
          <p:nvPr/>
        </p:nvSpPr>
        <p:spPr bwMode="gray">
          <a:xfrm>
            <a:off x="711200" y="2764131"/>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2</a:t>
            </a:r>
          </a:p>
        </p:txBody>
      </p:sp>
      <p:sp>
        <p:nvSpPr>
          <p:cNvPr id="6" name="AutoShape 19">
            <a:extLst>
              <a:ext uri="{FF2B5EF4-FFF2-40B4-BE49-F238E27FC236}">
                <a16:creationId xmlns:a16="http://schemas.microsoft.com/office/drawing/2014/main" id="{06D957D1-BE0D-4B77-A5AA-3332FF659689}"/>
              </a:ext>
            </a:extLst>
          </p:cNvPr>
          <p:cNvSpPr>
            <a:spLocks noChangeArrowheads="1"/>
          </p:cNvSpPr>
          <p:nvPr/>
        </p:nvSpPr>
        <p:spPr bwMode="gray">
          <a:xfrm>
            <a:off x="646992" y="4332152"/>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3</a:t>
            </a:r>
          </a:p>
        </p:txBody>
      </p:sp>
      <p:cxnSp>
        <p:nvCxnSpPr>
          <p:cNvPr id="8" name="Straight Connector 7">
            <a:extLst>
              <a:ext uri="{FF2B5EF4-FFF2-40B4-BE49-F238E27FC236}">
                <a16:creationId xmlns:a16="http://schemas.microsoft.com/office/drawing/2014/main" id="{6E96399D-8D2B-469C-AB7F-831E77252442}"/>
              </a:ext>
            </a:extLst>
          </p:cNvPr>
          <p:cNvCxnSpPr>
            <a:cxnSpLocks/>
          </p:cNvCxnSpPr>
          <p:nvPr/>
        </p:nvCxnSpPr>
        <p:spPr>
          <a:xfrm flipV="1">
            <a:off x="2355273" y="2872510"/>
            <a:ext cx="8998526" cy="923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D803E9E-2817-4B9E-A7BD-45931D80A2EB}"/>
              </a:ext>
            </a:extLst>
          </p:cNvPr>
          <p:cNvCxnSpPr>
            <a:cxnSpLocks/>
          </p:cNvCxnSpPr>
          <p:nvPr/>
        </p:nvCxnSpPr>
        <p:spPr>
          <a:xfrm>
            <a:off x="2355273" y="1196110"/>
            <a:ext cx="0" cy="49808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15429CC-C2E0-4B9F-A1D8-A70C1D95CE60}"/>
              </a:ext>
            </a:extLst>
          </p:cNvPr>
          <p:cNvCxnSpPr>
            <a:cxnSpLocks/>
          </p:cNvCxnSpPr>
          <p:nvPr/>
        </p:nvCxnSpPr>
        <p:spPr>
          <a:xfrm flipV="1">
            <a:off x="2355273" y="4641273"/>
            <a:ext cx="8998526" cy="923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68C8FE7-73EC-401B-8178-676D7C71DB49}"/>
              </a:ext>
            </a:extLst>
          </p:cNvPr>
          <p:cNvSpPr txBox="1"/>
          <p:nvPr/>
        </p:nvSpPr>
        <p:spPr>
          <a:xfrm>
            <a:off x="2503055" y="4821382"/>
            <a:ext cx="8589815" cy="1077218"/>
          </a:xfrm>
          <a:prstGeom prst="rect">
            <a:avLst/>
          </a:prstGeom>
          <a:noFill/>
        </p:spPr>
        <p:txBody>
          <a:bodyPr wrap="square" rtlCol="0">
            <a:spAutoFit/>
          </a:bodyPr>
          <a:lstStyle/>
          <a:p>
            <a:r>
              <a:rPr lang="en-IN" sz="1400" b="1" dirty="0"/>
              <a:t> Broad geographical and end-market exposures, 40% of sales generated from customer operating expenditure budgets </a:t>
            </a:r>
          </a:p>
          <a:p>
            <a:pPr marL="171450" indent="-171450">
              <a:buFont typeface="Arial" panose="020B0604020202020204" pitchFamily="34" charset="0"/>
              <a:buChar char="•"/>
            </a:pPr>
            <a:r>
              <a:rPr lang="en-IN" sz="1200" dirty="0"/>
              <a:t> Broad spread of customers, end markets and geographies limits the risk to the Group from adverse changes in any single geography or end market. </a:t>
            </a:r>
          </a:p>
          <a:p>
            <a:pPr marL="171450" indent="-171450">
              <a:buFont typeface="Arial" panose="020B0604020202020204" pitchFamily="34" charset="0"/>
              <a:buChar char="•"/>
            </a:pPr>
            <a:r>
              <a:rPr lang="en-IN" sz="1200" dirty="0"/>
              <a:t>40% of sales generated from customer operating expenditure budgets or aftermarket sales.</a:t>
            </a:r>
          </a:p>
        </p:txBody>
      </p:sp>
      <p:cxnSp>
        <p:nvCxnSpPr>
          <p:cNvPr id="12" name="Straight Connector 11">
            <a:extLst>
              <a:ext uri="{FF2B5EF4-FFF2-40B4-BE49-F238E27FC236}">
                <a16:creationId xmlns:a16="http://schemas.microsoft.com/office/drawing/2014/main" id="{F44D3DF5-8BF9-4530-9331-10EBD16DFD6C}"/>
              </a:ext>
            </a:extLst>
          </p:cNvPr>
          <p:cNvCxnSpPr>
            <a:cxnSpLocks/>
          </p:cNvCxnSpPr>
          <p:nvPr/>
        </p:nvCxnSpPr>
        <p:spPr>
          <a:xfrm flipV="1">
            <a:off x="711200" y="765910"/>
            <a:ext cx="10712777" cy="849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CE55B074-A64E-435F-9D4D-062F42DB9B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9377" y="18060"/>
            <a:ext cx="804413" cy="658415"/>
          </a:xfrm>
          <a:prstGeom prst="rect">
            <a:avLst/>
          </a:prstGeom>
        </p:spPr>
      </p:pic>
    </p:spTree>
    <p:extLst>
      <p:ext uri="{BB962C8B-B14F-4D97-AF65-F5344CB8AC3E}">
        <p14:creationId xmlns:p14="http://schemas.microsoft.com/office/powerpoint/2010/main" val="2622834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38678-D91B-46E7-9AC1-94D7402287F5}"/>
              </a:ext>
            </a:extLst>
          </p:cNvPr>
          <p:cNvSpPr>
            <a:spLocks noGrp="1"/>
          </p:cNvSpPr>
          <p:nvPr>
            <p:ph type="title"/>
          </p:nvPr>
        </p:nvSpPr>
        <p:spPr>
          <a:xfrm>
            <a:off x="838200" y="138623"/>
            <a:ext cx="10515600" cy="708666"/>
          </a:xfrm>
        </p:spPr>
        <p:txBody>
          <a:bodyPr>
            <a:normAutofit/>
          </a:bodyPr>
          <a:lstStyle/>
          <a:p>
            <a:r>
              <a:rPr lang="en-GB" sz="2400" b="1" dirty="0">
                <a:latin typeface="+mn-lt"/>
              </a:rPr>
              <a:t>Spectris: Key Investment attributes</a:t>
            </a:r>
            <a:endParaRPr lang="en-IN" sz="2400" b="1" dirty="0">
              <a:latin typeface="+mn-lt"/>
            </a:endParaRPr>
          </a:p>
        </p:txBody>
      </p:sp>
      <p:sp>
        <p:nvSpPr>
          <p:cNvPr id="3" name="Content Placeholder 2">
            <a:extLst>
              <a:ext uri="{FF2B5EF4-FFF2-40B4-BE49-F238E27FC236}">
                <a16:creationId xmlns:a16="http://schemas.microsoft.com/office/drawing/2014/main" id="{5CEC8F59-D8FF-43A3-AA53-5D3CD3BE44D9}"/>
              </a:ext>
            </a:extLst>
          </p:cNvPr>
          <p:cNvSpPr>
            <a:spLocks noGrp="1"/>
          </p:cNvSpPr>
          <p:nvPr>
            <p:ph idx="1"/>
          </p:nvPr>
        </p:nvSpPr>
        <p:spPr>
          <a:xfrm>
            <a:off x="2400157" y="1230745"/>
            <a:ext cx="8881627" cy="4911581"/>
          </a:xfrm>
        </p:spPr>
        <p:txBody>
          <a:bodyPr/>
          <a:lstStyle/>
          <a:p>
            <a:pPr marL="0" indent="0">
              <a:buNone/>
            </a:pPr>
            <a:r>
              <a:rPr lang="en-IN" sz="1400" dirty="0"/>
              <a:t>   </a:t>
            </a:r>
            <a:r>
              <a:rPr lang="en-IN" sz="1400" b="1" dirty="0"/>
              <a:t>Strong cash conversion resulting from asset-light manufacturing model </a:t>
            </a:r>
          </a:p>
          <a:p>
            <a:r>
              <a:rPr lang="en-IN" sz="1400" dirty="0"/>
              <a:t> </a:t>
            </a:r>
            <a:r>
              <a:rPr lang="en-IN" sz="1200" dirty="0"/>
              <a:t>Majority of manufacturing is outsourced, resulting in low capital requirements for their businesses. </a:t>
            </a:r>
          </a:p>
          <a:p>
            <a:r>
              <a:rPr lang="en-IN" sz="1200" dirty="0"/>
              <a:t> High gross margins and low capital requirements result in strong operating cash conversion. </a:t>
            </a:r>
            <a:endParaRPr lang="en-IN" sz="1200" b="1" dirty="0"/>
          </a:p>
        </p:txBody>
      </p:sp>
      <p:sp>
        <p:nvSpPr>
          <p:cNvPr id="4" name="AutoShape 19">
            <a:extLst>
              <a:ext uri="{FF2B5EF4-FFF2-40B4-BE49-F238E27FC236}">
                <a16:creationId xmlns:a16="http://schemas.microsoft.com/office/drawing/2014/main" id="{37358521-227F-4E17-95B0-BCB0D7055985}"/>
              </a:ext>
            </a:extLst>
          </p:cNvPr>
          <p:cNvSpPr>
            <a:spLocks noChangeArrowheads="1"/>
          </p:cNvSpPr>
          <p:nvPr/>
        </p:nvSpPr>
        <p:spPr bwMode="gray">
          <a:xfrm>
            <a:off x="711200" y="1196110"/>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4</a:t>
            </a:r>
          </a:p>
        </p:txBody>
      </p:sp>
      <p:sp>
        <p:nvSpPr>
          <p:cNvPr id="5" name="AutoShape 19">
            <a:extLst>
              <a:ext uri="{FF2B5EF4-FFF2-40B4-BE49-F238E27FC236}">
                <a16:creationId xmlns:a16="http://schemas.microsoft.com/office/drawing/2014/main" id="{4B16669F-4945-4AB8-AD9A-6C8D9774457D}"/>
              </a:ext>
            </a:extLst>
          </p:cNvPr>
          <p:cNvSpPr>
            <a:spLocks noChangeArrowheads="1"/>
          </p:cNvSpPr>
          <p:nvPr/>
        </p:nvSpPr>
        <p:spPr bwMode="gray">
          <a:xfrm>
            <a:off x="711200" y="2764131"/>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5</a:t>
            </a:r>
          </a:p>
        </p:txBody>
      </p:sp>
      <p:sp>
        <p:nvSpPr>
          <p:cNvPr id="6" name="AutoShape 19">
            <a:extLst>
              <a:ext uri="{FF2B5EF4-FFF2-40B4-BE49-F238E27FC236}">
                <a16:creationId xmlns:a16="http://schemas.microsoft.com/office/drawing/2014/main" id="{06D957D1-BE0D-4B77-A5AA-3332FF659689}"/>
              </a:ext>
            </a:extLst>
          </p:cNvPr>
          <p:cNvSpPr>
            <a:spLocks noChangeArrowheads="1"/>
          </p:cNvSpPr>
          <p:nvPr/>
        </p:nvSpPr>
        <p:spPr bwMode="gray">
          <a:xfrm>
            <a:off x="646992" y="4332152"/>
            <a:ext cx="1527175" cy="1219200"/>
          </a:xfrm>
          <a:prstGeom prst="diamond">
            <a:avLst/>
          </a:prstGeom>
          <a:solidFill>
            <a:srgbClr val="0070C0"/>
          </a:solidFill>
          <a:ln w="9525">
            <a:miter lim="800000"/>
            <a:headEnd/>
            <a:tailEnd/>
          </a:ln>
          <a:scene3d>
            <a:camera prst="legacyPerspectiveBottom">
              <a:rot lat="19499994" lon="0" rev="0"/>
            </a:camera>
            <a:lightRig rig="legacyNormal4" dir="b"/>
          </a:scene3d>
          <a:sp3d extrusionH="100000" prstMaterial="legacyMatte">
            <a:bevelT w="13500" h="13500" prst="angle"/>
            <a:bevelB w="13500" h="13500" prst="angle"/>
            <a:extrusionClr>
              <a:srgbClr val="E7EBEF"/>
            </a:extrusionClr>
            <a:contourClr>
              <a:srgbClr val="E7EBEF"/>
            </a:contourClr>
          </a:sp3d>
        </p:spPr>
        <p:txBody>
          <a:bodyPr wrap="none" anchor="ctr">
            <a:flatTx/>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gn="ctr" eaLnBrk="1" hangingPunct="1">
              <a:lnSpc>
                <a:spcPct val="100000"/>
              </a:lnSpc>
              <a:spcBef>
                <a:spcPct val="0"/>
              </a:spcBef>
              <a:spcAft>
                <a:spcPct val="0"/>
              </a:spcAft>
              <a:buSzTx/>
            </a:pPr>
            <a:r>
              <a:rPr lang="en-GB" altLang="en-US" sz="1100" b="1" dirty="0">
                <a:solidFill>
                  <a:srgbClr val="FEFEFE"/>
                </a:solidFill>
              </a:rPr>
              <a:t>Segment 6</a:t>
            </a:r>
          </a:p>
        </p:txBody>
      </p:sp>
      <p:cxnSp>
        <p:nvCxnSpPr>
          <p:cNvPr id="8" name="Straight Connector 7">
            <a:extLst>
              <a:ext uri="{FF2B5EF4-FFF2-40B4-BE49-F238E27FC236}">
                <a16:creationId xmlns:a16="http://schemas.microsoft.com/office/drawing/2014/main" id="{6E96399D-8D2B-469C-AB7F-831E77252442}"/>
              </a:ext>
            </a:extLst>
          </p:cNvPr>
          <p:cNvCxnSpPr>
            <a:cxnSpLocks/>
          </p:cNvCxnSpPr>
          <p:nvPr/>
        </p:nvCxnSpPr>
        <p:spPr>
          <a:xfrm>
            <a:off x="2355273" y="2507674"/>
            <a:ext cx="89265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D803E9E-2817-4B9E-A7BD-45931D80A2EB}"/>
              </a:ext>
            </a:extLst>
          </p:cNvPr>
          <p:cNvCxnSpPr>
            <a:cxnSpLocks/>
          </p:cNvCxnSpPr>
          <p:nvPr/>
        </p:nvCxnSpPr>
        <p:spPr>
          <a:xfrm>
            <a:off x="2355273" y="1196110"/>
            <a:ext cx="0" cy="498085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15429CC-C2E0-4B9F-A1D8-A70C1D95CE60}"/>
              </a:ext>
            </a:extLst>
          </p:cNvPr>
          <p:cNvCxnSpPr>
            <a:cxnSpLocks/>
          </p:cNvCxnSpPr>
          <p:nvPr/>
        </p:nvCxnSpPr>
        <p:spPr>
          <a:xfrm flipV="1">
            <a:off x="2355273" y="4267200"/>
            <a:ext cx="8950036" cy="289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68C8FE7-73EC-401B-8178-676D7C71DB49}"/>
              </a:ext>
            </a:extLst>
          </p:cNvPr>
          <p:cNvSpPr txBox="1"/>
          <p:nvPr/>
        </p:nvSpPr>
        <p:spPr>
          <a:xfrm>
            <a:off x="2503055" y="4821382"/>
            <a:ext cx="8589815" cy="1261884"/>
          </a:xfrm>
          <a:prstGeom prst="rect">
            <a:avLst/>
          </a:prstGeom>
          <a:noFill/>
        </p:spPr>
        <p:txBody>
          <a:bodyPr wrap="square" rtlCol="0">
            <a:spAutoFit/>
          </a:bodyPr>
          <a:lstStyle/>
          <a:p>
            <a:r>
              <a:rPr lang="en-IN" sz="1400" b="1" dirty="0"/>
              <a:t>     Proven acquisition model to supplement organic growth </a:t>
            </a:r>
          </a:p>
          <a:p>
            <a:endParaRPr lang="en-IN" sz="1400" b="1" dirty="0"/>
          </a:p>
          <a:p>
            <a:pPr marL="171450" indent="-171450">
              <a:buFont typeface="Arial" panose="020B0604020202020204" pitchFamily="34" charset="0"/>
              <a:buChar char="•"/>
            </a:pPr>
            <a:r>
              <a:rPr lang="en-IN" sz="1200" dirty="0"/>
              <a:t> Acquisitions have been a key component of the firm’s growth strategy for many years; typically bolt-on in nature, occasionally stand-alone operating companies. </a:t>
            </a:r>
          </a:p>
          <a:p>
            <a:pPr marL="171450" indent="-171450">
              <a:buFont typeface="Arial" panose="020B0604020202020204" pitchFamily="34" charset="0"/>
              <a:buChar char="•"/>
            </a:pPr>
            <a:r>
              <a:rPr lang="en-IN" sz="1200" dirty="0"/>
              <a:t> The existing markets continue to offer significant opportunities, while the company also considers acquisitions as a way of exploiting disruptive growth themes.</a:t>
            </a:r>
          </a:p>
        </p:txBody>
      </p:sp>
      <p:sp>
        <p:nvSpPr>
          <p:cNvPr id="7" name="TextBox 6">
            <a:extLst>
              <a:ext uri="{FF2B5EF4-FFF2-40B4-BE49-F238E27FC236}">
                <a16:creationId xmlns:a16="http://schemas.microsoft.com/office/drawing/2014/main" id="{F61CF343-20F0-42AA-AC9A-43283DB99DDE}"/>
              </a:ext>
            </a:extLst>
          </p:cNvPr>
          <p:cNvSpPr txBox="1"/>
          <p:nvPr/>
        </p:nvSpPr>
        <p:spPr>
          <a:xfrm>
            <a:off x="2355273" y="2872509"/>
            <a:ext cx="8737598" cy="1261884"/>
          </a:xfrm>
          <a:prstGeom prst="rect">
            <a:avLst/>
          </a:prstGeom>
          <a:noFill/>
        </p:spPr>
        <p:txBody>
          <a:bodyPr wrap="square" rtlCol="0">
            <a:spAutoFit/>
          </a:bodyPr>
          <a:lstStyle/>
          <a:p>
            <a:r>
              <a:rPr lang="en-IN" sz="1400" b="1" dirty="0"/>
              <a:t>    Balance sheet strength enabling progressive dividend policy </a:t>
            </a:r>
          </a:p>
          <a:p>
            <a:endParaRPr lang="en-IN" sz="1400" b="1" dirty="0"/>
          </a:p>
          <a:p>
            <a:pPr marL="171450" indent="-171450">
              <a:buFont typeface="Arial" panose="020B0604020202020204" pitchFamily="34" charset="0"/>
              <a:buChar char="•"/>
            </a:pPr>
            <a:r>
              <a:rPr lang="en-IN" sz="1200" dirty="0"/>
              <a:t>Strong cash conversion enables the company to sustain a progressive dividend policy while maintaining a strong balance sheet.</a:t>
            </a:r>
          </a:p>
          <a:p>
            <a:pPr marL="171450" indent="-171450">
              <a:buFont typeface="Arial" panose="020B0604020202020204" pitchFamily="34" charset="0"/>
              <a:buChar char="•"/>
            </a:pPr>
            <a:r>
              <a:rPr lang="en-IN" sz="1200" dirty="0"/>
              <a:t> Investments evaluated on cash flow return on invested capital basis, measuring return on investment against weighted average cost of capital. </a:t>
            </a:r>
          </a:p>
          <a:p>
            <a:pPr marL="171450" indent="-171450">
              <a:buFont typeface="Arial" panose="020B0604020202020204" pitchFamily="34" charset="0"/>
              <a:buChar char="•"/>
            </a:pPr>
            <a:r>
              <a:rPr lang="en-IN" sz="1200" dirty="0"/>
              <a:t>Strong cash conversion and balance sheet ensure considerable financial firepower and flexibility to fund acquisitions.</a:t>
            </a:r>
          </a:p>
        </p:txBody>
      </p:sp>
      <p:cxnSp>
        <p:nvCxnSpPr>
          <p:cNvPr id="12" name="Straight Connector 11">
            <a:extLst>
              <a:ext uri="{FF2B5EF4-FFF2-40B4-BE49-F238E27FC236}">
                <a16:creationId xmlns:a16="http://schemas.microsoft.com/office/drawing/2014/main" id="{1071A088-5033-48DB-9CDC-41FABB6F1D22}"/>
              </a:ext>
            </a:extLst>
          </p:cNvPr>
          <p:cNvCxnSpPr>
            <a:cxnSpLocks/>
          </p:cNvCxnSpPr>
          <p:nvPr/>
        </p:nvCxnSpPr>
        <p:spPr>
          <a:xfrm flipV="1">
            <a:off x="646992" y="769243"/>
            <a:ext cx="10712777" cy="849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3CF62E9-802C-464C-B1F0-8D9D440D3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2933" y="122289"/>
            <a:ext cx="804413" cy="658415"/>
          </a:xfrm>
          <a:prstGeom prst="rect">
            <a:avLst/>
          </a:prstGeom>
        </p:spPr>
      </p:pic>
    </p:spTree>
    <p:extLst>
      <p:ext uri="{BB962C8B-B14F-4D97-AF65-F5344CB8AC3E}">
        <p14:creationId xmlns:p14="http://schemas.microsoft.com/office/powerpoint/2010/main" val="2288754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a:extLst>
              <a:ext uri="{FF2B5EF4-FFF2-40B4-BE49-F238E27FC236}">
                <a16:creationId xmlns:a16="http://schemas.microsoft.com/office/drawing/2014/main" id="{5244ECAB-83FC-4BDD-B6A8-CA69641DE3D1}"/>
              </a:ext>
            </a:extLst>
          </p:cNvPr>
          <p:cNvSpPr>
            <a:spLocks noGrp="1" noChangeArrowheads="1"/>
          </p:cNvSpPr>
          <p:nvPr>
            <p:ph type="title"/>
          </p:nvPr>
        </p:nvSpPr>
        <p:spPr>
          <a:xfrm>
            <a:off x="765175" y="493192"/>
            <a:ext cx="10515600" cy="570984"/>
          </a:xfrm>
        </p:spPr>
        <p:txBody>
          <a:bodyPr>
            <a:normAutofit/>
          </a:bodyPr>
          <a:lstStyle/>
          <a:p>
            <a:pPr eaLnBrk="1" hangingPunct="1"/>
            <a:r>
              <a:rPr lang="en-US" altLang="en-US" sz="2400" b="1" dirty="0">
                <a:latin typeface="+mn-lt"/>
              </a:rPr>
              <a:t>Key Acquisitions &amp; Disposals</a:t>
            </a:r>
          </a:p>
        </p:txBody>
      </p:sp>
      <p:sp>
        <p:nvSpPr>
          <p:cNvPr id="646147" name="AutoShape 3">
            <a:extLst>
              <a:ext uri="{FF2B5EF4-FFF2-40B4-BE49-F238E27FC236}">
                <a16:creationId xmlns:a16="http://schemas.microsoft.com/office/drawing/2014/main" id="{15425D48-FD86-4777-901E-E10BC0BEF93F}"/>
              </a:ext>
            </a:extLst>
          </p:cNvPr>
          <p:cNvSpPr>
            <a:spLocks noChangeArrowheads="1"/>
          </p:cNvSpPr>
          <p:nvPr/>
        </p:nvSpPr>
        <p:spPr bwMode="auto">
          <a:xfrm>
            <a:off x="1252399" y="2770320"/>
            <a:ext cx="9541152" cy="1214437"/>
          </a:xfrm>
          <a:prstGeom prst="rightArrow">
            <a:avLst>
              <a:gd name="adj1" fmla="val 55907"/>
              <a:gd name="adj2" fmla="val 35773"/>
            </a:avLst>
          </a:prstGeom>
          <a:solidFill>
            <a:srgbClr val="517496"/>
          </a:solidFill>
          <a:ln w="6350" algn="ctr">
            <a:noFill/>
            <a:miter lim="800000"/>
            <a:headEnd type="none" w="sm" len="sm"/>
            <a:tailEnd type="none" w="med" len="lg"/>
          </a:ln>
          <a:effectLst>
            <a:outerShdw dist="107763" dir="2700000" algn="ctr" rotWithShape="0">
              <a:srgbClr val="808080">
                <a:alpha val="50000"/>
              </a:srgbClr>
            </a:outerShdw>
          </a:effectLst>
        </p:spPr>
        <p:txBody>
          <a:bodyPr wrap="none" tIns="91440" bIns="91440" anchor="ctr"/>
          <a:lstStyle/>
          <a:p>
            <a:pPr>
              <a:tabLst>
                <a:tab pos="1435100" algn="ctr"/>
                <a:tab pos="2870200" algn="ctr"/>
                <a:tab pos="4305300" algn="ctr"/>
                <a:tab pos="5740400" algn="ctr"/>
                <a:tab pos="7175500" algn="r"/>
              </a:tabLst>
              <a:defRPr/>
            </a:pPr>
            <a:r>
              <a:rPr lang="en-IN" sz="1400" dirty="0"/>
              <a:t>        </a:t>
            </a:r>
            <a:r>
              <a:rPr lang="en-IN" sz="1400" b="1" dirty="0">
                <a:solidFill>
                  <a:schemeClr val="bg1"/>
                </a:solidFill>
              </a:rPr>
              <a:t>2010                   2011                 2012                   2013                 2014                   2015                  2016               2017                    2018</a:t>
            </a:r>
            <a:endParaRPr lang="nl-NL" sz="1400" b="1" dirty="0">
              <a:solidFill>
                <a:schemeClr val="bg1"/>
              </a:solidFill>
            </a:endParaRPr>
          </a:p>
        </p:txBody>
      </p:sp>
      <p:sp>
        <p:nvSpPr>
          <p:cNvPr id="303108" name="Line 4">
            <a:extLst>
              <a:ext uri="{FF2B5EF4-FFF2-40B4-BE49-F238E27FC236}">
                <a16:creationId xmlns:a16="http://schemas.microsoft.com/office/drawing/2014/main" id="{A831ACD1-36D3-47D2-ADC0-8692CC9E4806}"/>
              </a:ext>
            </a:extLst>
          </p:cNvPr>
          <p:cNvSpPr>
            <a:spLocks noChangeShapeType="1"/>
          </p:cNvSpPr>
          <p:nvPr/>
        </p:nvSpPr>
        <p:spPr bwMode="auto">
          <a:xfrm>
            <a:off x="2910982" y="2721769"/>
            <a:ext cx="2420" cy="368300"/>
          </a:xfrm>
          <a:prstGeom prst="line">
            <a:avLst/>
          </a:prstGeom>
          <a:noFill/>
          <a:ln w="9525">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IN"/>
          </a:p>
        </p:txBody>
      </p:sp>
      <p:sp>
        <p:nvSpPr>
          <p:cNvPr id="303109" name="Line 5">
            <a:extLst>
              <a:ext uri="{FF2B5EF4-FFF2-40B4-BE49-F238E27FC236}">
                <a16:creationId xmlns:a16="http://schemas.microsoft.com/office/drawing/2014/main" id="{26BDADAC-83C0-4CF9-9534-1384C1128283}"/>
              </a:ext>
            </a:extLst>
          </p:cNvPr>
          <p:cNvSpPr>
            <a:spLocks noChangeShapeType="1"/>
          </p:cNvSpPr>
          <p:nvPr/>
        </p:nvSpPr>
        <p:spPr bwMode="auto">
          <a:xfrm>
            <a:off x="4870450" y="2794000"/>
            <a:ext cx="0" cy="287338"/>
          </a:xfrm>
          <a:prstGeom prst="line">
            <a:avLst/>
          </a:prstGeom>
          <a:noFill/>
          <a:ln w="9525">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IN"/>
          </a:p>
        </p:txBody>
      </p:sp>
      <p:sp>
        <p:nvSpPr>
          <p:cNvPr id="303110" name="Line 6">
            <a:extLst>
              <a:ext uri="{FF2B5EF4-FFF2-40B4-BE49-F238E27FC236}">
                <a16:creationId xmlns:a16="http://schemas.microsoft.com/office/drawing/2014/main" id="{ADCFC9A5-B26B-41C4-8CA7-6A937AC3F2D3}"/>
              </a:ext>
            </a:extLst>
          </p:cNvPr>
          <p:cNvSpPr>
            <a:spLocks noChangeShapeType="1"/>
          </p:cNvSpPr>
          <p:nvPr/>
        </p:nvSpPr>
        <p:spPr bwMode="auto">
          <a:xfrm>
            <a:off x="7102475" y="2794000"/>
            <a:ext cx="0" cy="287338"/>
          </a:xfrm>
          <a:prstGeom prst="line">
            <a:avLst/>
          </a:prstGeom>
          <a:noFill/>
          <a:ln w="9525">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IN"/>
          </a:p>
        </p:txBody>
      </p:sp>
      <p:sp>
        <p:nvSpPr>
          <p:cNvPr id="303115" name="Line 11">
            <a:extLst>
              <a:ext uri="{FF2B5EF4-FFF2-40B4-BE49-F238E27FC236}">
                <a16:creationId xmlns:a16="http://schemas.microsoft.com/office/drawing/2014/main" id="{0B278129-8395-40A3-B5D2-1DEDF5F5595C}"/>
              </a:ext>
            </a:extLst>
          </p:cNvPr>
          <p:cNvSpPr>
            <a:spLocks noChangeShapeType="1"/>
          </p:cNvSpPr>
          <p:nvPr/>
        </p:nvSpPr>
        <p:spPr bwMode="auto">
          <a:xfrm flipH="1">
            <a:off x="1836088" y="3772837"/>
            <a:ext cx="0" cy="389588"/>
          </a:xfrm>
          <a:prstGeom prst="line">
            <a:avLst/>
          </a:prstGeom>
          <a:noFill/>
          <a:ln w="9525">
            <a:solidFill>
              <a:schemeClr val="tx1"/>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en-IN"/>
          </a:p>
        </p:txBody>
      </p:sp>
      <p:sp>
        <p:nvSpPr>
          <p:cNvPr id="303119" name="Line 15">
            <a:extLst>
              <a:ext uri="{FF2B5EF4-FFF2-40B4-BE49-F238E27FC236}">
                <a16:creationId xmlns:a16="http://schemas.microsoft.com/office/drawing/2014/main" id="{D9AC9A5E-72B2-4408-8EEE-C1FF643B8FB5}"/>
              </a:ext>
            </a:extLst>
          </p:cNvPr>
          <p:cNvSpPr>
            <a:spLocks noChangeShapeType="1"/>
          </p:cNvSpPr>
          <p:nvPr/>
        </p:nvSpPr>
        <p:spPr bwMode="auto">
          <a:xfrm>
            <a:off x="8360226" y="3772836"/>
            <a:ext cx="7005" cy="389587"/>
          </a:xfrm>
          <a:prstGeom prst="line">
            <a:avLst/>
          </a:prstGeom>
          <a:noFill/>
          <a:ln w="9525">
            <a:solidFill>
              <a:schemeClr val="tx1"/>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en-IN"/>
          </a:p>
        </p:txBody>
      </p:sp>
      <p:sp>
        <p:nvSpPr>
          <p:cNvPr id="303120" name="Line 16">
            <a:extLst>
              <a:ext uri="{FF2B5EF4-FFF2-40B4-BE49-F238E27FC236}">
                <a16:creationId xmlns:a16="http://schemas.microsoft.com/office/drawing/2014/main" id="{571F31E4-96F1-444C-8CE9-D16BA3DF44F4}"/>
              </a:ext>
            </a:extLst>
          </p:cNvPr>
          <p:cNvSpPr>
            <a:spLocks noChangeShapeType="1"/>
          </p:cNvSpPr>
          <p:nvPr/>
        </p:nvSpPr>
        <p:spPr bwMode="auto">
          <a:xfrm>
            <a:off x="6093631" y="3772836"/>
            <a:ext cx="6969" cy="474223"/>
          </a:xfrm>
          <a:prstGeom prst="line">
            <a:avLst/>
          </a:prstGeom>
          <a:noFill/>
          <a:ln w="9525">
            <a:solidFill>
              <a:schemeClr val="tx1"/>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en-IN"/>
          </a:p>
        </p:txBody>
      </p:sp>
      <p:sp>
        <p:nvSpPr>
          <p:cNvPr id="303121" name="Line 17">
            <a:extLst>
              <a:ext uri="{FF2B5EF4-FFF2-40B4-BE49-F238E27FC236}">
                <a16:creationId xmlns:a16="http://schemas.microsoft.com/office/drawing/2014/main" id="{0C0DC914-CBD7-4C58-8552-E56E9321B917}"/>
              </a:ext>
            </a:extLst>
          </p:cNvPr>
          <p:cNvSpPr>
            <a:spLocks noChangeShapeType="1"/>
          </p:cNvSpPr>
          <p:nvPr/>
        </p:nvSpPr>
        <p:spPr bwMode="auto">
          <a:xfrm>
            <a:off x="9178625" y="2576451"/>
            <a:ext cx="1" cy="525959"/>
          </a:xfrm>
          <a:prstGeom prst="line">
            <a:avLst/>
          </a:prstGeom>
          <a:noFill/>
          <a:ln w="9525">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IN"/>
          </a:p>
        </p:txBody>
      </p:sp>
      <p:sp>
        <p:nvSpPr>
          <p:cNvPr id="303123" name="Text Box 19">
            <a:extLst>
              <a:ext uri="{FF2B5EF4-FFF2-40B4-BE49-F238E27FC236}">
                <a16:creationId xmlns:a16="http://schemas.microsoft.com/office/drawing/2014/main" id="{A001C8B6-3A9B-4993-ABA8-BEA9DA0F3D84}"/>
              </a:ext>
            </a:extLst>
          </p:cNvPr>
          <p:cNvSpPr txBox="1">
            <a:spLocks noChangeArrowheads="1"/>
          </p:cNvSpPr>
          <p:nvPr/>
        </p:nvSpPr>
        <p:spPr bwMode="auto">
          <a:xfrm>
            <a:off x="1149203" y="1032094"/>
            <a:ext cx="9144000" cy="52322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5000"/>
              </a:lnSpc>
              <a:spcBef>
                <a:spcPts val="300"/>
              </a:spcBef>
              <a:spcAft>
                <a:spcPts val="300"/>
              </a:spcAft>
              <a:buSzPct val="75000"/>
              <a:defRPr sz="2200">
                <a:solidFill>
                  <a:schemeClr val="tx1"/>
                </a:solidFill>
                <a:latin typeface="Arial" panose="020B0604020202020204" pitchFamily="34" charset="0"/>
              </a:defRPr>
            </a:lvl1pPr>
            <a:lvl2pPr marL="742950" indent="-285750">
              <a:lnSpc>
                <a:spcPct val="125000"/>
              </a:lnSpc>
              <a:spcBef>
                <a:spcPts val="300"/>
              </a:spcBef>
              <a:spcAft>
                <a:spcPts val="300"/>
              </a:spcAft>
              <a:buSzPct val="75000"/>
              <a:buChar char="•"/>
              <a:defRPr sz="2000">
                <a:solidFill>
                  <a:schemeClr val="tx1"/>
                </a:solidFill>
                <a:latin typeface="Arial" panose="020B0604020202020204" pitchFamily="34" charset="0"/>
              </a:defRPr>
            </a:lvl2pPr>
            <a:lvl3pPr marL="1143000" indent="-228600">
              <a:lnSpc>
                <a:spcPct val="125000"/>
              </a:lnSpc>
              <a:spcBef>
                <a:spcPts val="300"/>
              </a:spcBef>
              <a:spcAft>
                <a:spcPts val="300"/>
              </a:spcAft>
              <a:buSzPct val="75000"/>
              <a:buChar char="•"/>
              <a:defRPr>
                <a:solidFill>
                  <a:schemeClr val="tx1"/>
                </a:solidFill>
                <a:latin typeface="Arial" panose="020B0604020202020204" pitchFamily="34" charset="0"/>
              </a:defRPr>
            </a:lvl3pPr>
            <a:lvl4pPr marL="1600200" indent="-228600">
              <a:lnSpc>
                <a:spcPct val="125000"/>
              </a:lnSpc>
              <a:spcBef>
                <a:spcPts val="300"/>
              </a:spcBef>
              <a:spcAft>
                <a:spcPts val="300"/>
              </a:spcAft>
              <a:buSzPct val="75000"/>
              <a:buChar char="•"/>
              <a:defRPr sz="1600">
                <a:solidFill>
                  <a:schemeClr val="tx1"/>
                </a:solidFill>
                <a:latin typeface="Arial" panose="020B0604020202020204" pitchFamily="34" charset="0"/>
              </a:defRPr>
            </a:lvl4pPr>
            <a:lvl5pPr marL="2057400" indent="-228600">
              <a:lnSpc>
                <a:spcPct val="125000"/>
              </a:lnSpc>
              <a:spcBef>
                <a:spcPts val="300"/>
              </a:spcBef>
              <a:spcAft>
                <a:spcPts val="300"/>
              </a:spcAft>
              <a:buSzPct val="75000"/>
              <a:buChar char="•"/>
              <a:defRPr sz="1600">
                <a:solidFill>
                  <a:schemeClr val="tx1"/>
                </a:solidFill>
                <a:latin typeface="Arial" panose="020B0604020202020204" pitchFamily="34" charset="0"/>
              </a:defRPr>
            </a:lvl5pPr>
            <a:lvl6pPr marL="25146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6pPr>
            <a:lvl7pPr marL="29718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7pPr>
            <a:lvl8pPr marL="34290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8pPr>
            <a:lvl9pPr marL="3886200" indent="-228600" eaLnBrk="0" fontAlgn="base" hangingPunct="0">
              <a:lnSpc>
                <a:spcPct val="125000"/>
              </a:lnSpc>
              <a:spcBef>
                <a:spcPts val="300"/>
              </a:spcBef>
              <a:spcAft>
                <a:spcPts val="300"/>
              </a:spcAft>
              <a:buSzPct val="75000"/>
              <a:buChar char="•"/>
              <a:defRPr sz="1600">
                <a:solidFill>
                  <a:schemeClr val="tx1"/>
                </a:solidFill>
                <a:latin typeface="Arial" panose="020B0604020202020204" pitchFamily="34" charset="0"/>
              </a:defRPr>
            </a:lvl9pPr>
          </a:lstStyle>
          <a:p>
            <a:pPr>
              <a:lnSpc>
                <a:spcPct val="100000"/>
              </a:lnSpc>
              <a:spcBef>
                <a:spcPct val="50000"/>
              </a:spcBef>
              <a:spcAft>
                <a:spcPct val="0"/>
              </a:spcAft>
              <a:buSzTx/>
            </a:pPr>
            <a:r>
              <a:rPr lang="en-IN" sz="1400" dirty="0"/>
              <a:t>Acquisitions have been a key component of the company’s growth strategy, supplementing organic growth across all of their business segments</a:t>
            </a:r>
            <a:endParaRPr lang="en-US" altLang="en-US" sz="1400" dirty="0"/>
          </a:p>
        </p:txBody>
      </p:sp>
      <p:sp>
        <p:nvSpPr>
          <p:cNvPr id="21" name="Line 10">
            <a:extLst>
              <a:ext uri="{FF2B5EF4-FFF2-40B4-BE49-F238E27FC236}">
                <a16:creationId xmlns:a16="http://schemas.microsoft.com/office/drawing/2014/main" id="{BE57195B-ABFF-45E5-B469-23128804C443}"/>
              </a:ext>
            </a:extLst>
          </p:cNvPr>
          <p:cNvSpPr>
            <a:spLocks noChangeShapeType="1"/>
          </p:cNvSpPr>
          <p:nvPr/>
        </p:nvSpPr>
        <p:spPr bwMode="auto">
          <a:xfrm flipH="1" flipV="1">
            <a:off x="3871426" y="3785873"/>
            <a:ext cx="1" cy="519403"/>
          </a:xfrm>
          <a:prstGeom prst="line">
            <a:avLst/>
          </a:prstGeom>
          <a:noFill/>
          <a:ln w="9525">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en-IN"/>
          </a:p>
        </p:txBody>
      </p:sp>
      <p:sp>
        <p:nvSpPr>
          <p:cNvPr id="2" name="Rectangle 1">
            <a:extLst>
              <a:ext uri="{FF2B5EF4-FFF2-40B4-BE49-F238E27FC236}">
                <a16:creationId xmlns:a16="http://schemas.microsoft.com/office/drawing/2014/main" id="{D9182CED-D77A-4ADF-A354-79A7C024D98E}"/>
              </a:ext>
            </a:extLst>
          </p:cNvPr>
          <p:cNvSpPr/>
          <p:nvPr/>
        </p:nvSpPr>
        <p:spPr>
          <a:xfrm>
            <a:off x="959576" y="4222995"/>
            <a:ext cx="1406524" cy="9736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Omec Sysmex Delta-F N-Tron</a:t>
            </a:r>
          </a:p>
        </p:txBody>
      </p:sp>
      <p:sp>
        <p:nvSpPr>
          <p:cNvPr id="4" name="TextBox 3">
            <a:extLst>
              <a:ext uri="{FF2B5EF4-FFF2-40B4-BE49-F238E27FC236}">
                <a16:creationId xmlns:a16="http://schemas.microsoft.com/office/drawing/2014/main" id="{65210FD7-151B-4B14-BB32-27B2721C4E73}"/>
              </a:ext>
            </a:extLst>
          </p:cNvPr>
          <p:cNvSpPr txBox="1"/>
          <p:nvPr/>
        </p:nvSpPr>
        <p:spPr>
          <a:xfrm>
            <a:off x="1003283" y="4247059"/>
            <a:ext cx="1300376" cy="954107"/>
          </a:xfrm>
          <a:prstGeom prst="rect">
            <a:avLst/>
          </a:prstGeom>
          <a:solidFill>
            <a:schemeClr val="accent6">
              <a:lumMod val="60000"/>
              <a:lumOff val="40000"/>
            </a:schemeClr>
          </a:solidFill>
        </p:spPr>
        <p:txBody>
          <a:bodyPr wrap="square" rtlCol="0">
            <a:spAutoFit/>
          </a:bodyPr>
          <a:lstStyle/>
          <a:p>
            <a:r>
              <a:rPr lang="en-IN" sz="1400" dirty="0"/>
              <a:t>Reologica Omec </a:t>
            </a:r>
          </a:p>
          <a:p>
            <a:r>
              <a:rPr lang="en-IN" sz="1400" dirty="0"/>
              <a:t>Sysmex Delta-F N-Tron</a:t>
            </a:r>
          </a:p>
        </p:txBody>
      </p:sp>
      <p:sp>
        <p:nvSpPr>
          <p:cNvPr id="25" name="Rectangle 24">
            <a:extLst>
              <a:ext uri="{FF2B5EF4-FFF2-40B4-BE49-F238E27FC236}">
                <a16:creationId xmlns:a16="http://schemas.microsoft.com/office/drawing/2014/main" id="{709153E6-6942-4352-BDD3-FB57E0495AD6}"/>
              </a:ext>
            </a:extLst>
          </p:cNvPr>
          <p:cNvSpPr/>
          <p:nvPr/>
        </p:nvSpPr>
        <p:spPr>
          <a:xfrm>
            <a:off x="2357931" y="1741417"/>
            <a:ext cx="1332970" cy="9736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Sysmex Delta-F N-Tron</a:t>
            </a:r>
          </a:p>
        </p:txBody>
      </p:sp>
      <p:sp>
        <p:nvSpPr>
          <p:cNvPr id="26" name="Rectangle 25">
            <a:extLst>
              <a:ext uri="{FF2B5EF4-FFF2-40B4-BE49-F238E27FC236}">
                <a16:creationId xmlns:a16="http://schemas.microsoft.com/office/drawing/2014/main" id="{6BC0E27B-3212-4183-B073-0F25FD214987}"/>
              </a:ext>
            </a:extLst>
          </p:cNvPr>
          <p:cNvSpPr/>
          <p:nvPr/>
        </p:nvSpPr>
        <p:spPr>
          <a:xfrm>
            <a:off x="3159323" y="4247060"/>
            <a:ext cx="1124547" cy="93647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 Sysmex Delta-F N-Tron</a:t>
            </a:r>
          </a:p>
        </p:txBody>
      </p:sp>
      <p:sp>
        <p:nvSpPr>
          <p:cNvPr id="27" name="Rectangle 26">
            <a:extLst>
              <a:ext uri="{FF2B5EF4-FFF2-40B4-BE49-F238E27FC236}">
                <a16:creationId xmlns:a16="http://schemas.microsoft.com/office/drawing/2014/main" id="{0A3AF2BD-BB7B-46B1-A636-5CB77D424AF8}"/>
              </a:ext>
            </a:extLst>
          </p:cNvPr>
          <p:cNvSpPr/>
          <p:nvPr/>
        </p:nvSpPr>
        <p:spPr>
          <a:xfrm>
            <a:off x="4283870" y="1767926"/>
            <a:ext cx="1406524" cy="9736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Reologica Om Sysmex </a:t>
            </a:r>
            <a:r>
              <a:rPr lang="en-IN" dirty="0"/>
              <a:t>Delta-F N-Tron</a:t>
            </a:r>
          </a:p>
        </p:txBody>
      </p:sp>
      <p:sp>
        <p:nvSpPr>
          <p:cNvPr id="28" name="Rectangle 27">
            <a:extLst>
              <a:ext uri="{FF2B5EF4-FFF2-40B4-BE49-F238E27FC236}">
                <a16:creationId xmlns:a16="http://schemas.microsoft.com/office/drawing/2014/main" id="{70D06F41-F72C-4FEF-B145-EE1275B6A29A}"/>
              </a:ext>
            </a:extLst>
          </p:cNvPr>
          <p:cNvSpPr/>
          <p:nvPr/>
        </p:nvSpPr>
        <p:spPr>
          <a:xfrm>
            <a:off x="5174036" y="4072417"/>
            <a:ext cx="1625226" cy="150685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Claisse </a:t>
            </a:r>
          </a:p>
          <a:p>
            <a:pPr algn="ctr"/>
            <a:r>
              <a:rPr lang="en-IN" sz="1400" dirty="0">
                <a:solidFill>
                  <a:schemeClr val="tx1"/>
                </a:solidFill>
              </a:rPr>
              <a:t>MicroCal </a:t>
            </a:r>
          </a:p>
          <a:p>
            <a:pPr algn="ctr"/>
            <a:r>
              <a:rPr lang="en-IN" sz="1400" dirty="0">
                <a:solidFill>
                  <a:schemeClr val="tx1"/>
                </a:solidFill>
              </a:rPr>
              <a:t>Affinity Biosensors FiberSensing </a:t>
            </a:r>
          </a:p>
          <a:p>
            <a:pPr algn="ctr"/>
            <a:r>
              <a:rPr lang="en-IN" sz="1400" dirty="0">
                <a:solidFill>
                  <a:schemeClr val="tx1"/>
                </a:solidFill>
              </a:rPr>
              <a:t>ESG Solutions</a:t>
            </a:r>
            <a:endParaRPr lang="en-IN" dirty="0"/>
          </a:p>
        </p:txBody>
      </p:sp>
      <p:sp>
        <p:nvSpPr>
          <p:cNvPr id="29" name="Rectangle 28">
            <a:extLst>
              <a:ext uri="{FF2B5EF4-FFF2-40B4-BE49-F238E27FC236}">
                <a16:creationId xmlns:a16="http://schemas.microsoft.com/office/drawing/2014/main" id="{08A8BF53-CC0F-4A43-AC4A-C8A313CCFAB9}"/>
              </a:ext>
            </a:extLst>
          </p:cNvPr>
          <p:cNvSpPr/>
          <p:nvPr/>
        </p:nvSpPr>
        <p:spPr>
          <a:xfrm>
            <a:off x="6401634" y="1825900"/>
            <a:ext cx="1406524" cy="97363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LVS Sound</a:t>
            </a:r>
          </a:p>
        </p:txBody>
      </p:sp>
      <p:sp>
        <p:nvSpPr>
          <p:cNvPr id="30" name="Rectangle 29">
            <a:extLst>
              <a:ext uri="{FF2B5EF4-FFF2-40B4-BE49-F238E27FC236}">
                <a16:creationId xmlns:a16="http://schemas.microsoft.com/office/drawing/2014/main" id="{F5C3FCE8-F3C9-4DB4-9CE4-D7BE5DF1E26C}"/>
              </a:ext>
            </a:extLst>
          </p:cNvPr>
          <p:cNvSpPr/>
          <p:nvPr/>
        </p:nvSpPr>
        <p:spPr>
          <a:xfrm>
            <a:off x="7654926" y="4172787"/>
            <a:ext cx="1406524" cy="1214437"/>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CAS Capstone SVT </a:t>
            </a:r>
          </a:p>
          <a:p>
            <a:pPr algn="ctr"/>
            <a:r>
              <a:rPr lang="en-IN" sz="1400" dirty="0">
                <a:solidFill>
                  <a:schemeClr val="tx1"/>
                </a:solidFill>
              </a:rPr>
              <a:t>Discom Millbrook</a:t>
            </a:r>
            <a:endParaRPr lang="en-IN" dirty="0"/>
          </a:p>
        </p:txBody>
      </p:sp>
      <p:sp>
        <p:nvSpPr>
          <p:cNvPr id="31" name="Rectangle 30">
            <a:extLst>
              <a:ext uri="{FF2B5EF4-FFF2-40B4-BE49-F238E27FC236}">
                <a16:creationId xmlns:a16="http://schemas.microsoft.com/office/drawing/2014/main" id="{AB4BF2D2-18F4-4280-B115-2949DAA23AF2}"/>
              </a:ext>
            </a:extLst>
          </p:cNvPr>
          <p:cNvSpPr/>
          <p:nvPr/>
        </p:nvSpPr>
        <p:spPr>
          <a:xfrm>
            <a:off x="8288337" y="1625602"/>
            <a:ext cx="1406524" cy="105705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Sysmex Delta-F N-Tron</a:t>
            </a:r>
          </a:p>
        </p:txBody>
      </p:sp>
      <p:sp>
        <p:nvSpPr>
          <p:cNvPr id="32" name="Line 15">
            <a:extLst>
              <a:ext uri="{FF2B5EF4-FFF2-40B4-BE49-F238E27FC236}">
                <a16:creationId xmlns:a16="http://schemas.microsoft.com/office/drawing/2014/main" id="{88770D5F-5A25-4EDA-AF6D-F1E21F53779D}"/>
              </a:ext>
            </a:extLst>
          </p:cNvPr>
          <p:cNvSpPr>
            <a:spLocks noChangeShapeType="1"/>
          </p:cNvSpPr>
          <p:nvPr/>
        </p:nvSpPr>
        <p:spPr bwMode="auto">
          <a:xfrm>
            <a:off x="10237155" y="3791102"/>
            <a:ext cx="7005" cy="389587"/>
          </a:xfrm>
          <a:prstGeom prst="line">
            <a:avLst/>
          </a:prstGeom>
          <a:noFill/>
          <a:ln w="9525">
            <a:solidFill>
              <a:schemeClr val="tx1"/>
            </a:solidFill>
            <a:round/>
            <a:headEnd type="triangle" w="med" len="med"/>
            <a:tailEnd type="none" w="med" len="lg"/>
          </a:ln>
          <a:extLst>
            <a:ext uri="{909E8E84-426E-40DD-AFC4-6F175D3DCCD1}">
              <a14:hiddenFill xmlns:a14="http://schemas.microsoft.com/office/drawing/2010/main">
                <a:noFill/>
              </a14:hiddenFill>
            </a:ext>
          </a:extLst>
        </p:spPr>
        <p:txBody>
          <a:bodyPr/>
          <a:lstStyle/>
          <a:p>
            <a:endParaRPr lang="en-IN"/>
          </a:p>
        </p:txBody>
      </p:sp>
      <p:sp>
        <p:nvSpPr>
          <p:cNvPr id="33" name="Rectangle 32">
            <a:extLst>
              <a:ext uri="{FF2B5EF4-FFF2-40B4-BE49-F238E27FC236}">
                <a16:creationId xmlns:a16="http://schemas.microsoft.com/office/drawing/2014/main" id="{ACBB6966-1453-4F23-830F-4DE9FED7657B}"/>
              </a:ext>
            </a:extLst>
          </p:cNvPr>
          <p:cNvSpPr/>
          <p:nvPr/>
        </p:nvSpPr>
        <p:spPr>
          <a:xfrm>
            <a:off x="9529602" y="4172787"/>
            <a:ext cx="1527202" cy="158951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Concept Life Sciences Revolutionary Engineering </a:t>
            </a:r>
          </a:p>
          <a:p>
            <a:pPr algn="ctr"/>
            <a:r>
              <a:rPr lang="en-IN" sz="1400" dirty="0">
                <a:solidFill>
                  <a:schemeClr val="tx1"/>
                </a:solidFill>
              </a:rPr>
              <a:t>      VI-grade</a:t>
            </a:r>
            <a:endParaRPr lang="en-IN" dirty="0"/>
          </a:p>
        </p:txBody>
      </p:sp>
      <p:sp>
        <p:nvSpPr>
          <p:cNvPr id="5" name="TextBox 4">
            <a:extLst>
              <a:ext uri="{FF2B5EF4-FFF2-40B4-BE49-F238E27FC236}">
                <a16:creationId xmlns:a16="http://schemas.microsoft.com/office/drawing/2014/main" id="{BE298F2D-7220-433E-89BB-B0192F976FCB}"/>
              </a:ext>
            </a:extLst>
          </p:cNvPr>
          <p:cNvSpPr txBox="1"/>
          <p:nvPr/>
        </p:nvSpPr>
        <p:spPr>
          <a:xfrm>
            <a:off x="2527084" y="1940467"/>
            <a:ext cx="1047967" cy="523220"/>
          </a:xfrm>
          <a:prstGeom prst="rect">
            <a:avLst/>
          </a:prstGeom>
          <a:solidFill>
            <a:schemeClr val="accent6">
              <a:lumMod val="60000"/>
              <a:lumOff val="40000"/>
            </a:schemeClr>
          </a:solidFill>
        </p:spPr>
        <p:txBody>
          <a:bodyPr wrap="square" rtlCol="0">
            <a:spAutoFit/>
          </a:bodyPr>
          <a:lstStyle/>
          <a:p>
            <a:r>
              <a:rPr lang="en-IN" sz="1400" dirty="0"/>
              <a:t>IRM SixNet Omega</a:t>
            </a:r>
          </a:p>
        </p:txBody>
      </p:sp>
      <p:sp>
        <p:nvSpPr>
          <p:cNvPr id="6" name="TextBox 5">
            <a:extLst>
              <a:ext uri="{FF2B5EF4-FFF2-40B4-BE49-F238E27FC236}">
                <a16:creationId xmlns:a16="http://schemas.microsoft.com/office/drawing/2014/main" id="{7C7E9811-7D05-49F7-8373-17A7AC9D8EB7}"/>
              </a:ext>
            </a:extLst>
          </p:cNvPr>
          <p:cNvSpPr txBox="1"/>
          <p:nvPr/>
        </p:nvSpPr>
        <p:spPr>
          <a:xfrm>
            <a:off x="3151342" y="4354780"/>
            <a:ext cx="1124548" cy="739734"/>
          </a:xfrm>
          <a:prstGeom prst="rect">
            <a:avLst/>
          </a:prstGeom>
          <a:solidFill>
            <a:schemeClr val="accent6">
              <a:lumMod val="60000"/>
              <a:lumOff val="40000"/>
            </a:schemeClr>
          </a:solidFill>
        </p:spPr>
        <p:txBody>
          <a:bodyPr wrap="square" rtlCol="0">
            <a:spAutoFit/>
          </a:bodyPr>
          <a:lstStyle/>
          <a:p>
            <a:r>
              <a:rPr lang="en-IN" sz="1400" dirty="0"/>
              <a:t>ASD </a:t>
            </a:r>
          </a:p>
          <a:p>
            <a:r>
              <a:rPr lang="en-IN" sz="1400" dirty="0"/>
              <a:t>NoViSim DCM</a:t>
            </a:r>
          </a:p>
        </p:txBody>
      </p:sp>
      <p:cxnSp>
        <p:nvCxnSpPr>
          <p:cNvPr id="11" name="Straight Connector 10">
            <a:extLst>
              <a:ext uri="{FF2B5EF4-FFF2-40B4-BE49-F238E27FC236}">
                <a16:creationId xmlns:a16="http://schemas.microsoft.com/office/drawing/2014/main" id="{86082EF4-EAD2-44E5-93CB-7974290F98D6}"/>
              </a:ext>
            </a:extLst>
          </p:cNvPr>
          <p:cNvCxnSpPr>
            <a:cxnSpLocks/>
          </p:cNvCxnSpPr>
          <p:nvPr/>
        </p:nvCxnSpPr>
        <p:spPr>
          <a:xfrm>
            <a:off x="4283870" y="2186161"/>
            <a:ext cx="140652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F990860-95F9-4BD7-ACB7-32F52FA055D3}"/>
              </a:ext>
            </a:extLst>
          </p:cNvPr>
          <p:cNvSpPr/>
          <p:nvPr/>
        </p:nvSpPr>
        <p:spPr>
          <a:xfrm>
            <a:off x="4461933" y="1845710"/>
            <a:ext cx="1032350" cy="307777"/>
          </a:xfrm>
          <a:prstGeom prst="rect">
            <a:avLst/>
          </a:prstGeom>
          <a:solidFill>
            <a:schemeClr val="accent2">
              <a:lumMod val="60000"/>
              <a:lumOff val="40000"/>
            </a:schemeClr>
          </a:solidFill>
        </p:spPr>
        <p:txBody>
          <a:bodyPr wrap="square">
            <a:spAutoFit/>
          </a:bodyPr>
          <a:lstStyle/>
          <a:p>
            <a:r>
              <a:rPr lang="en-IN" sz="1400" dirty="0"/>
              <a:t>Fusion</a:t>
            </a:r>
          </a:p>
        </p:txBody>
      </p:sp>
      <p:sp>
        <p:nvSpPr>
          <p:cNvPr id="15" name="TextBox 14">
            <a:extLst>
              <a:ext uri="{FF2B5EF4-FFF2-40B4-BE49-F238E27FC236}">
                <a16:creationId xmlns:a16="http://schemas.microsoft.com/office/drawing/2014/main" id="{60C690F7-4743-4F44-AFC5-3555B2FACEC5}"/>
              </a:ext>
            </a:extLst>
          </p:cNvPr>
          <p:cNvSpPr txBox="1"/>
          <p:nvPr/>
        </p:nvSpPr>
        <p:spPr>
          <a:xfrm>
            <a:off x="4283871" y="2210800"/>
            <a:ext cx="1406524" cy="523220"/>
          </a:xfrm>
          <a:prstGeom prst="rect">
            <a:avLst/>
          </a:prstGeom>
          <a:solidFill>
            <a:schemeClr val="accent6">
              <a:lumMod val="60000"/>
              <a:lumOff val="40000"/>
            </a:schemeClr>
          </a:solidFill>
        </p:spPr>
        <p:txBody>
          <a:bodyPr wrap="square" rtlCol="0">
            <a:spAutoFit/>
          </a:bodyPr>
          <a:lstStyle/>
          <a:p>
            <a:r>
              <a:rPr lang="en-IN" sz="1400" dirty="0"/>
              <a:t>Naneum Nanosight</a:t>
            </a:r>
          </a:p>
        </p:txBody>
      </p:sp>
      <p:sp>
        <p:nvSpPr>
          <p:cNvPr id="17" name="TextBox 16">
            <a:extLst>
              <a:ext uri="{FF2B5EF4-FFF2-40B4-BE49-F238E27FC236}">
                <a16:creationId xmlns:a16="http://schemas.microsoft.com/office/drawing/2014/main" id="{04D72281-C34A-4422-A1CE-7C437917B1A9}"/>
              </a:ext>
            </a:extLst>
          </p:cNvPr>
          <p:cNvSpPr txBox="1"/>
          <p:nvPr/>
        </p:nvSpPr>
        <p:spPr>
          <a:xfrm>
            <a:off x="6384571" y="1827629"/>
            <a:ext cx="1406524" cy="954107"/>
          </a:xfrm>
          <a:prstGeom prst="rect">
            <a:avLst/>
          </a:prstGeom>
          <a:solidFill>
            <a:schemeClr val="accent6">
              <a:lumMod val="60000"/>
              <a:lumOff val="40000"/>
            </a:schemeClr>
          </a:solidFill>
        </p:spPr>
        <p:txBody>
          <a:bodyPr wrap="square" rtlCol="0">
            <a:spAutoFit/>
          </a:bodyPr>
          <a:lstStyle/>
          <a:p>
            <a:r>
              <a:rPr lang="en-IN" sz="1400" dirty="0"/>
              <a:t>ReliaSoft Spectraseis</a:t>
            </a:r>
          </a:p>
          <a:p>
            <a:r>
              <a:rPr lang="en-IN" sz="1400" dirty="0"/>
              <a:t> LVS </a:t>
            </a:r>
          </a:p>
          <a:p>
            <a:r>
              <a:rPr lang="en-IN" sz="1400" dirty="0"/>
              <a:t>Sound Answers</a:t>
            </a:r>
          </a:p>
        </p:txBody>
      </p:sp>
      <p:cxnSp>
        <p:nvCxnSpPr>
          <p:cNvPr id="19" name="Straight Connector 18">
            <a:extLst>
              <a:ext uri="{FF2B5EF4-FFF2-40B4-BE49-F238E27FC236}">
                <a16:creationId xmlns:a16="http://schemas.microsoft.com/office/drawing/2014/main" id="{A9BED9D6-66F6-41D0-94CF-B908F963E194}"/>
              </a:ext>
            </a:extLst>
          </p:cNvPr>
          <p:cNvCxnSpPr>
            <a:cxnSpLocks/>
          </p:cNvCxnSpPr>
          <p:nvPr/>
        </p:nvCxnSpPr>
        <p:spPr>
          <a:xfrm>
            <a:off x="8288337" y="1940467"/>
            <a:ext cx="1406524"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0B35EFD-CD03-4D09-92AC-CF23853F693B}"/>
              </a:ext>
            </a:extLst>
          </p:cNvPr>
          <p:cNvSpPr txBox="1"/>
          <p:nvPr/>
        </p:nvSpPr>
        <p:spPr>
          <a:xfrm>
            <a:off x="8519397" y="1632324"/>
            <a:ext cx="1024841" cy="307777"/>
          </a:xfrm>
          <a:prstGeom prst="rect">
            <a:avLst/>
          </a:prstGeom>
          <a:solidFill>
            <a:schemeClr val="accent2">
              <a:lumMod val="60000"/>
              <a:lumOff val="40000"/>
            </a:schemeClr>
          </a:solidFill>
        </p:spPr>
        <p:txBody>
          <a:bodyPr wrap="square" rtlCol="0">
            <a:spAutoFit/>
          </a:bodyPr>
          <a:lstStyle/>
          <a:p>
            <a:r>
              <a:rPr lang="en-IN" sz="1400" dirty="0"/>
              <a:t>Microscan</a:t>
            </a:r>
          </a:p>
        </p:txBody>
      </p:sp>
      <p:sp>
        <p:nvSpPr>
          <p:cNvPr id="22" name="TextBox 21">
            <a:extLst>
              <a:ext uri="{FF2B5EF4-FFF2-40B4-BE49-F238E27FC236}">
                <a16:creationId xmlns:a16="http://schemas.microsoft.com/office/drawing/2014/main" id="{3608D976-7B6E-429C-955D-604458B3AF81}"/>
              </a:ext>
            </a:extLst>
          </p:cNvPr>
          <p:cNvSpPr txBox="1"/>
          <p:nvPr/>
        </p:nvSpPr>
        <p:spPr>
          <a:xfrm>
            <a:off x="8358188" y="1917709"/>
            <a:ext cx="1282522" cy="738664"/>
          </a:xfrm>
          <a:prstGeom prst="rect">
            <a:avLst/>
          </a:prstGeom>
          <a:solidFill>
            <a:schemeClr val="accent6">
              <a:lumMod val="60000"/>
              <a:lumOff val="40000"/>
            </a:schemeClr>
          </a:solidFill>
        </p:spPr>
        <p:txBody>
          <a:bodyPr wrap="square" rtlCol="0">
            <a:spAutoFit/>
          </a:bodyPr>
          <a:lstStyle/>
          <a:p>
            <a:r>
              <a:rPr lang="en-IN" sz="1400" dirty="0"/>
              <a:t>Setpoint CSA Leyland Omnicon</a:t>
            </a:r>
          </a:p>
        </p:txBody>
      </p:sp>
      <p:sp>
        <p:nvSpPr>
          <p:cNvPr id="303125" name="TextBox 303124">
            <a:extLst>
              <a:ext uri="{FF2B5EF4-FFF2-40B4-BE49-F238E27FC236}">
                <a16:creationId xmlns:a16="http://schemas.microsoft.com/office/drawing/2014/main" id="{F72686EC-1CEE-4C32-BF85-41F85BCD26A5}"/>
              </a:ext>
            </a:extLst>
          </p:cNvPr>
          <p:cNvSpPr txBox="1"/>
          <p:nvPr/>
        </p:nvSpPr>
        <p:spPr>
          <a:xfrm>
            <a:off x="9529602" y="5483494"/>
            <a:ext cx="1527202" cy="307777"/>
          </a:xfrm>
          <a:prstGeom prst="rect">
            <a:avLst/>
          </a:prstGeom>
          <a:solidFill>
            <a:schemeClr val="accent2">
              <a:lumMod val="60000"/>
              <a:lumOff val="40000"/>
            </a:schemeClr>
          </a:solidFill>
        </p:spPr>
        <p:txBody>
          <a:bodyPr wrap="square" rtlCol="0">
            <a:spAutoFit/>
          </a:bodyPr>
          <a:lstStyle/>
          <a:p>
            <a:r>
              <a:rPr lang="en-IN" sz="1400" dirty="0"/>
              <a:t>EMS B &amp; K</a:t>
            </a:r>
          </a:p>
        </p:txBody>
      </p:sp>
      <p:sp>
        <p:nvSpPr>
          <p:cNvPr id="303126" name="Rectangle 303125">
            <a:extLst>
              <a:ext uri="{FF2B5EF4-FFF2-40B4-BE49-F238E27FC236}">
                <a16:creationId xmlns:a16="http://schemas.microsoft.com/office/drawing/2014/main" id="{CB69785D-2EDC-4E6C-9258-D8A5B8A6E87A}"/>
              </a:ext>
            </a:extLst>
          </p:cNvPr>
          <p:cNvSpPr/>
          <p:nvPr/>
        </p:nvSpPr>
        <p:spPr>
          <a:xfrm>
            <a:off x="8006963" y="6265628"/>
            <a:ext cx="222637" cy="182880"/>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Rectangle 57">
            <a:extLst>
              <a:ext uri="{FF2B5EF4-FFF2-40B4-BE49-F238E27FC236}">
                <a16:creationId xmlns:a16="http://schemas.microsoft.com/office/drawing/2014/main" id="{1F48F39B-534F-485B-BEF5-3AA705296996}"/>
              </a:ext>
            </a:extLst>
          </p:cNvPr>
          <p:cNvSpPr/>
          <p:nvPr/>
        </p:nvSpPr>
        <p:spPr>
          <a:xfrm>
            <a:off x="9552926" y="6265628"/>
            <a:ext cx="222637" cy="182880"/>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3127" name="TextBox 303126">
            <a:extLst>
              <a:ext uri="{FF2B5EF4-FFF2-40B4-BE49-F238E27FC236}">
                <a16:creationId xmlns:a16="http://schemas.microsoft.com/office/drawing/2014/main" id="{12F9F98C-B56B-4D4C-92EA-33A201DA7A78}"/>
              </a:ext>
            </a:extLst>
          </p:cNvPr>
          <p:cNvSpPr txBox="1"/>
          <p:nvPr/>
        </p:nvSpPr>
        <p:spPr>
          <a:xfrm>
            <a:off x="9841108" y="6176704"/>
            <a:ext cx="1017767" cy="307777"/>
          </a:xfrm>
          <a:prstGeom prst="rect">
            <a:avLst/>
          </a:prstGeom>
          <a:noFill/>
        </p:spPr>
        <p:txBody>
          <a:bodyPr wrap="square" rtlCol="0">
            <a:spAutoFit/>
          </a:bodyPr>
          <a:lstStyle/>
          <a:p>
            <a:r>
              <a:rPr lang="en-IN" sz="1400" dirty="0"/>
              <a:t>Disposals</a:t>
            </a:r>
          </a:p>
        </p:txBody>
      </p:sp>
      <p:sp>
        <p:nvSpPr>
          <p:cNvPr id="303128" name="TextBox 303127">
            <a:extLst>
              <a:ext uri="{FF2B5EF4-FFF2-40B4-BE49-F238E27FC236}">
                <a16:creationId xmlns:a16="http://schemas.microsoft.com/office/drawing/2014/main" id="{A4657FBA-C557-4ADC-A888-4013F1F297F3}"/>
              </a:ext>
            </a:extLst>
          </p:cNvPr>
          <p:cNvSpPr txBox="1"/>
          <p:nvPr/>
        </p:nvSpPr>
        <p:spPr>
          <a:xfrm>
            <a:off x="8229600" y="6211021"/>
            <a:ext cx="1368682" cy="307777"/>
          </a:xfrm>
          <a:prstGeom prst="rect">
            <a:avLst/>
          </a:prstGeom>
          <a:noFill/>
        </p:spPr>
        <p:txBody>
          <a:bodyPr wrap="square" rtlCol="0">
            <a:spAutoFit/>
          </a:bodyPr>
          <a:lstStyle/>
          <a:p>
            <a:r>
              <a:rPr lang="en-IN" sz="1400" dirty="0"/>
              <a:t>Acquisitions</a:t>
            </a:r>
          </a:p>
        </p:txBody>
      </p:sp>
      <p:sp>
        <p:nvSpPr>
          <p:cNvPr id="303129" name="TextBox 303128">
            <a:extLst>
              <a:ext uri="{FF2B5EF4-FFF2-40B4-BE49-F238E27FC236}">
                <a16:creationId xmlns:a16="http://schemas.microsoft.com/office/drawing/2014/main" id="{130054B3-4E75-45CF-80EE-FC9D37524BE2}"/>
              </a:ext>
            </a:extLst>
          </p:cNvPr>
          <p:cNvSpPr txBox="1"/>
          <p:nvPr/>
        </p:nvSpPr>
        <p:spPr>
          <a:xfrm>
            <a:off x="1653471" y="6047124"/>
            <a:ext cx="4256950" cy="523220"/>
          </a:xfrm>
          <a:prstGeom prst="rect">
            <a:avLst/>
          </a:prstGeom>
          <a:noFill/>
        </p:spPr>
        <p:txBody>
          <a:bodyPr wrap="square" rtlCol="0">
            <a:spAutoFit/>
          </a:bodyPr>
          <a:lstStyle/>
          <a:p>
            <a:r>
              <a:rPr lang="en-IN" sz="1400" dirty="0"/>
              <a:t>EMS B &amp; K Disposal  has gone into a joint venture with Macquarie Capital</a:t>
            </a:r>
          </a:p>
        </p:txBody>
      </p:sp>
      <p:cxnSp>
        <p:nvCxnSpPr>
          <p:cNvPr id="39" name="Straight Connector 38">
            <a:extLst>
              <a:ext uri="{FF2B5EF4-FFF2-40B4-BE49-F238E27FC236}">
                <a16:creationId xmlns:a16="http://schemas.microsoft.com/office/drawing/2014/main" id="{EDCD6332-499F-4A59-A6E7-D55D5B1D4BD2}"/>
              </a:ext>
            </a:extLst>
          </p:cNvPr>
          <p:cNvCxnSpPr>
            <a:cxnSpLocks/>
          </p:cNvCxnSpPr>
          <p:nvPr/>
        </p:nvCxnSpPr>
        <p:spPr>
          <a:xfrm flipV="1">
            <a:off x="630260" y="846237"/>
            <a:ext cx="10712777" cy="849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9AAB7502-97EE-482B-A862-D328A988D3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5219" y="117812"/>
            <a:ext cx="804413" cy="6584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5558-4124-4AD2-9172-70513CD1EE0C}"/>
              </a:ext>
            </a:extLst>
          </p:cNvPr>
          <p:cNvSpPr>
            <a:spLocks noGrp="1"/>
          </p:cNvSpPr>
          <p:nvPr>
            <p:ph type="title"/>
          </p:nvPr>
        </p:nvSpPr>
        <p:spPr>
          <a:xfrm>
            <a:off x="838200" y="365126"/>
            <a:ext cx="10515600" cy="233390"/>
          </a:xfrm>
        </p:spPr>
        <p:txBody>
          <a:bodyPr>
            <a:noAutofit/>
          </a:bodyPr>
          <a:lstStyle/>
          <a:p>
            <a:r>
              <a:rPr lang="en-IN" sz="2400" b="1" dirty="0">
                <a:latin typeface="+mn-lt"/>
              </a:rPr>
              <a:t>Sales data</a:t>
            </a:r>
          </a:p>
        </p:txBody>
      </p:sp>
      <p:graphicFrame>
        <p:nvGraphicFramePr>
          <p:cNvPr id="7" name="Content Placeholder 6">
            <a:extLst>
              <a:ext uri="{FF2B5EF4-FFF2-40B4-BE49-F238E27FC236}">
                <a16:creationId xmlns:a16="http://schemas.microsoft.com/office/drawing/2014/main" id="{4D8509A8-7C62-4F47-8F73-D1FFDF8A671C}"/>
              </a:ext>
            </a:extLst>
          </p:cNvPr>
          <p:cNvGraphicFramePr>
            <a:graphicFrameLocks noGrp="1"/>
          </p:cNvGraphicFramePr>
          <p:nvPr>
            <p:ph idx="1"/>
            <p:extLst>
              <p:ext uri="{D42A27DB-BD31-4B8C-83A1-F6EECF244321}">
                <p14:modId xmlns:p14="http://schemas.microsoft.com/office/powerpoint/2010/main" val="826593322"/>
              </p:ext>
            </p:extLst>
          </p:nvPr>
        </p:nvGraphicFramePr>
        <p:xfrm>
          <a:off x="955250" y="598516"/>
          <a:ext cx="4206031" cy="2460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25113C09-8008-4AA5-84B9-79C9D3D13292}"/>
              </a:ext>
            </a:extLst>
          </p:cNvPr>
          <p:cNvGraphicFramePr/>
          <p:nvPr>
            <p:extLst>
              <p:ext uri="{D42A27DB-BD31-4B8C-83A1-F6EECF244321}">
                <p14:modId xmlns:p14="http://schemas.microsoft.com/office/powerpoint/2010/main" val="320258867"/>
              </p:ext>
            </p:extLst>
          </p:nvPr>
        </p:nvGraphicFramePr>
        <p:xfrm>
          <a:off x="6797414" y="683490"/>
          <a:ext cx="3881500" cy="26605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Chart 26">
            <a:extLst>
              <a:ext uri="{FF2B5EF4-FFF2-40B4-BE49-F238E27FC236}">
                <a16:creationId xmlns:a16="http://schemas.microsoft.com/office/drawing/2014/main" id="{CE85D937-BFBD-40B6-854E-33DA79AFF759}"/>
              </a:ext>
            </a:extLst>
          </p:cNvPr>
          <p:cNvGraphicFramePr/>
          <p:nvPr>
            <p:extLst>
              <p:ext uri="{D42A27DB-BD31-4B8C-83A1-F6EECF244321}">
                <p14:modId xmlns:p14="http://schemas.microsoft.com/office/powerpoint/2010/main" val="1693431184"/>
              </p:ext>
            </p:extLst>
          </p:nvPr>
        </p:nvGraphicFramePr>
        <p:xfrm>
          <a:off x="6995376" y="3513975"/>
          <a:ext cx="3881499" cy="2513727"/>
        </p:xfrm>
        <a:graphic>
          <a:graphicData uri="http://schemas.openxmlformats.org/drawingml/2006/chart">
            <c:chart xmlns:c="http://schemas.openxmlformats.org/drawingml/2006/chart" xmlns:r="http://schemas.openxmlformats.org/officeDocument/2006/relationships" r:id="rId4"/>
          </a:graphicData>
        </a:graphic>
      </p:graphicFrame>
      <p:cxnSp>
        <p:nvCxnSpPr>
          <p:cNvPr id="29" name="Straight Connector 28">
            <a:extLst>
              <a:ext uri="{FF2B5EF4-FFF2-40B4-BE49-F238E27FC236}">
                <a16:creationId xmlns:a16="http://schemas.microsoft.com/office/drawing/2014/main" id="{1B83DEE5-B5B3-40BF-A41A-F285DA35B69C}"/>
              </a:ext>
            </a:extLst>
          </p:cNvPr>
          <p:cNvCxnSpPr>
            <a:cxnSpLocks/>
          </p:cNvCxnSpPr>
          <p:nvPr/>
        </p:nvCxnSpPr>
        <p:spPr>
          <a:xfrm flipV="1">
            <a:off x="641023" y="598516"/>
            <a:ext cx="10712777" cy="849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3" name="Chart 32">
            <a:extLst>
              <a:ext uri="{FF2B5EF4-FFF2-40B4-BE49-F238E27FC236}">
                <a16:creationId xmlns:a16="http://schemas.microsoft.com/office/drawing/2014/main" id="{863EF7D9-FB92-40E1-B5BA-C07B22363453}"/>
              </a:ext>
            </a:extLst>
          </p:cNvPr>
          <p:cNvGraphicFramePr/>
          <p:nvPr/>
        </p:nvGraphicFramePr>
        <p:xfrm>
          <a:off x="290498" y="3229450"/>
          <a:ext cx="5104090" cy="3203867"/>
        </p:xfrm>
        <a:graphic>
          <a:graphicData uri="http://schemas.openxmlformats.org/drawingml/2006/chart">
            <c:chart xmlns:c="http://schemas.openxmlformats.org/drawingml/2006/chart" xmlns:r="http://schemas.openxmlformats.org/officeDocument/2006/relationships" r:id="rId5"/>
          </a:graphicData>
        </a:graphic>
      </p:graphicFrame>
      <p:pic>
        <p:nvPicPr>
          <p:cNvPr id="8" name="Picture 7">
            <a:extLst>
              <a:ext uri="{FF2B5EF4-FFF2-40B4-BE49-F238E27FC236}">
                <a16:creationId xmlns:a16="http://schemas.microsoft.com/office/drawing/2014/main" id="{C63A0417-E023-45CC-96A2-431EBFE2E7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75508" y="798898"/>
            <a:ext cx="804413" cy="658415"/>
          </a:xfrm>
          <a:prstGeom prst="rect">
            <a:avLst/>
          </a:prstGeom>
        </p:spPr>
      </p:pic>
    </p:spTree>
    <p:extLst>
      <p:ext uri="{BB962C8B-B14F-4D97-AF65-F5344CB8AC3E}">
        <p14:creationId xmlns:p14="http://schemas.microsoft.com/office/powerpoint/2010/main" val="503276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A7E3-C736-4F0B-90A2-1EF1DCA59232}"/>
              </a:ext>
            </a:extLst>
          </p:cNvPr>
          <p:cNvSpPr>
            <a:spLocks noGrp="1"/>
          </p:cNvSpPr>
          <p:nvPr>
            <p:ph type="title"/>
          </p:nvPr>
        </p:nvSpPr>
        <p:spPr>
          <a:xfrm>
            <a:off x="838200" y="365125"/>
            <a:ext cx="10515600" cy="402971"/>
          </a:xfrm>
        </p:spPr>
        <p:txBody>
          <a:bodyPr>
            <a:normAutofit fontScale="90000"/>
          </a:bodyPr>
          <a:lstStyle/>
          <a:p>
            <a:r>
              <a:rPr lang="en-IN" sz="2400" dirty="0">
                <a:latin typeface="+mn-lt"/>
              </a:rPr>
              <a:t>Business Segments- Sales data 2018</a:t>
            </a:r>
          </a:p>
        </p:txBody>
      </p:sp>
      <p:sp>
        <p:nvSpPr>
          <p:cNvPr id="3" name="Content Placeholder 2">
            <a:extLst>
              <a:ext uri="{FF2B5EF4-FFF2-40B4-BE49-F238E27FC236}">
                <a16:creationId xmlns:a16="http://schemas.microsoft.com/office/drawing/2014/main" id="{3B794F77-E983-4F55-8515-AFADDDFE10A5}"/>
              </a:ext>
            </a:extLst>
          </p:cNvPr>
          <p:cNvSpPr>
            <a:spLocks noGrp="1"/>
          </p:cNvSpPr>
          <p:nvPr>
            <p:ph idx="1"/>
          </p:nvPr>
        </p:nvSpPr>
        <p:spPr>
          <a:xfrm>
            <a:off x="838200" y="768096"/>
            <a:ext cx="10515600" cy="5408867"/>
          </a:xfrm>
        </p:spPr>
        <p:txBody>
          <a:bodyPr>
            <a:normAutofit/>
          </a:bodyPr>
          <a:lstStyle/>
          <a:p>
            <a:pPr marL="0" indent="0">
              <a:buNone/>
            </a:pPr>
            <a:r>
              <a:rPr lang="en-IN" sz="1400" b="1" dirty="0"/>
              <a:t>Laboratory Businesses</a:t>
            </a:r>
          </a:p>
          <a:p>
            <a:pPr marL="0" indent="0">
              <a:buNone/>
            </a:pPr>
            <a:r>
              <a:rPr lang="en-IN" sz="1400" b="1" dirty="0"/>
              <a:t>MATERIAL ANALYSIS </a:t>
            </a:r>
          </a:p>
          <a:p>
            <a:pPr marL="0" indent="0">
              <a:buNone/>
            </a:pPr>
            <a:r>
              <a:rPr lang="en-IN" sz="1400" dirty="0"/>
              <a:t>Products and services that enable customers to determine structure, composition, quantity and quality of particles and materials, during their research and product development processes, when assessing materials before production, or during the manufacturing process. Integrated drug discovery, development and analytical services.</a:t>
            </a:r>
          </a:p>
        </p:txBody>
      </p:sp>
      <p:graphicFrame>
        <p:nvGraphicFramePr>
          <p:cNvPr id="4" name="Table 4">
            <a:extLst>
              <a:ext uri="{FF2B5EF4-FFF2-40B4-BE49-F238E27FC236}">
                <a16:creationId xmlns:a16="http://schemas.microsoft.com/office/drawing/2014/main" id="{541006F4-FB33-4B39-BC65-6FE9C70F388C}"/>
              </a:ext>
            </a:extLst>
          </p:cNvPr>
          <p:cNvGraphicFramePr>
            <a:graphicFrameLocks noGrp="1"/>
          </p:cNvGraphicFramePr>
          <p:nvPr>
            <p:extLst>
              <p:ext uri="{D42A27DB-BD31-4B8C-83A1-F6EECF244321}">
                <p14:modId xmlns:p14="http://schemas.microsoft.com/office/powerpoint/2010/main" val="631711565"/>
              </p:ext>
            </p:extLst>
          </p:nvPr>
        </p:nvGraphicFramePr>
        <p:xfrm>
          <a:off x="838200" y="2051927"/>
          <a:ext cx="3177620" cy="1235359"/>
        </p:xfrm>
        <a:graphic>
          <a:graphicData uri="http://schemas.openxmlformats.org/drawingml/2006/table">
            <a:tbl>
              <a:tblPr firstRow="1" bandRow="1">
                <a:tableStyleId>{5C22544A-7EE6-4342-B048-85BDC9FD1C3A}</a:tableStyleId>
              </a:tblPr>
              <a:tblGrid>
                <a:gridCol w="2208421">
                  <a:extLst>
                    <a:ext uri="{9D8B030D-6E8A-4147-A177-3AD203B41FA5}">
                      <a16:colId xmlns:a16="http://schemas.microsoft.com/office/drawing/2014/main" val="1962022803"/>
                    </a:ext>
                  </a:extLst>
                </a:gridCol>
                <a:gridCol w="969199">
                  <a:extLst>
                    <a:ext uri="{9D8B030D-6E8A-4147-A177-3AD203B41FA5}">
                      <a16:colId xmlns:a16="http://schemas.microsoft.com/office/drawing/2014/main" val="1005596660"/>
                    </a:ext>
                  </a:extLst>
                </a:gridCol>
              </a:tblGrid>
              <a:tr h="266356">
                <a:tc>
                  <a:txBody>
                    <a:bodyPr/>
                    <a:lstStyle/>
                    <a:p>
                      <a:r>
                        <a:rPr lang="en-IN" sz="1400" dirty="0"/>
                        <a:t>Sales</a:t>
                      </a:r>
                    </a:p>
                  </a:txBody>
                  <a:tcPr/>
                </a:tc>
                <a:tc>
                  <a:txBody>
                    <a:bodyPr/>
                    <a:lstStyle/>
                    <a:p>
                      <a:r>
                        <a:rPr lang="en-IN" sz="1400" dirty="0"/>
                        <a:t>£541.1m</a:t>
                      </a:r>
                    </a:p>
                  </a:txBody>
                  <a:tcPr/>
                </a:tc>
                <a:extLst>
                  <a:ext uri="{0D108BD9-81ED-4DB2-BD59-A6C34878D82A}">
                    <a16:rowId xmlns:a16="http://schemas.microsoft.com/office/drawing/2014/main" val="2226100315"/>
                  </a:ext>
                </a:extLst>
              </a:tr>
              <a:tr h="266356">
                <a:tc>
                  <a:txBody>
                    <a:bodyPr/>
                    <a:lstStyle/>
                    <a:p>
                      <a:r>
                        <a:rPr lang="en-IN" sz="1400" dirty="0"/>
                        <a:t>Adjusted Operating Profit</a:t>
                      </a:r>
                    </a:p>
                  </a:txBody>
                  <a:tcPr/>
                </a:tc>
                <a:tc>
                  <a:txBody>
                    <a:bodyPr/>
                    <a:lstStyle/>
                    <a:p>
                      <a:r>
                        <a:rPr lang="en-IN" sz="1400" dirty="0"/>
                        <a:t>£95.4m</a:t>
                      </a:r>
                    </a:p>
                  </a:txBody>
                  <a:tcPr/>
                </a:tc>
                <a:extLst>
                  <a:ext uri="{0D108BD9-81ED-4DB2-BD59-A6C34878D82A}">
                    <a16:rowId xmlns:a16="http://schemas.microsoft.com/office/drawing/2014/main" val="3196886653"/>
                  </a:ext>
                </a:extLst>
              </a:tr>
              <a:tr h="3209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Adjusted Operating Margin</a:t>
                      </a:r>
                    </a:p>
                  </a:txBody>
                  <a:tcPr/>
                </a:tc>
                <a:tc>
                  <a:txBody>
                    <a:bodyPr/>
                    <a:lstStyle/>
                    <a:p>
                      <a:r>
                        <a:rPr lang="en-IN" sz="1400" dirty="0"/>
                        <a:t>17.6%</a:t>
                      </a:r>
                      <a:endParaRPr lang="en-IN" sz="1400" b="1" dirty="0"/>
                    </a:p>
                  </a:txBody>
                  <a:tcPr/>
                </a:tc>
                <a:extLst>
                  <a:ext uri="{0D108BD9-81ED-4DB2-BD59-A6C34878D82A}">
                    <a16:rowId xmlns:a16="http://schemas.microsoft.com/office/drawing/2014/main" val="3017138197"/>
                  </a:ext>
                </a:extLst>
              </a:tr>
              <a:tr h="266356">
                <a:tc>
                  <a:txBody>
                    <a:bodyPr/>
                    <a:lstStyle/>
                    <a:p>
                      <a:r>
                        <a:rPr lang="en-IN" sz="1400" dirty="0"/>
                        <a:t>% Group Sales</a:t>
                      </a:r>
                    </a:p>
                  </a:txBody>
                  <a:tcPr/>
                </a:tc>
                <a:tc>
                  <a:txBody>
                    <a:bodyPr/>
                    <a:lstStyle/>
                    <a:p>
                      <a:r>
                        <a:rPr lang="en-IN" sz="1400" dirty="0"/>
                        <a:t>34%</a:t>
                      </a:r>
                    </a:p>
                  </a:txBody>
                  <a:tcPr/>
                </a:tc>
                <a:extLst>
                  <a:ext uri="{0D108BD9-81ED-4DB2-BD59-A6C34878D82A}">
                    <a16:rowId xmlns:a16="http://schemas.microsoft.com/office/drawing/2014/main" val="3243229284"/>
                  </a:ext>
                </a:extLst>
              </a:tr>
            </a:tbl>
          </a:graphicData>
        </a:graphic>
      </p:graphicFrame>
      <p:graphicFrame>
        <p:nvGraphicFramePr>
          <p:cNvPr id="8" name="Chart 7">
            <a:extLst>
              <a:ext uri="{FF2B5EF4-FFF2-40B4-BE49-F238E27FC236}">
                <a16:creationId xmlns:a16="http://schemas.microsoft.com/office/drawing/2014/main" id="{77DDC8D0-9265-4F8F-91F0-A62862E45CAB}"/>
              </a:ext>
            </a:extLst>
          </p:cNvPr>
          <p:cNvGraphicFramePr/>
          <p:nvPr>
            <p:extLst>
              <p:ext uri="{D42A27DB-BD31-4B8C-83A1-F6EECF244321}">
                <p14:modId xmlns:p14="http://schemas.microsoft.com/office/powerpoint/2010/main" val="2070159907"/>
              </p:ext>
            </p:extLst>
          </p:nvPr>
        </p:nvGraphicFramePr>
        <p:xfrm>
          <a:off x="6815579" y="1874315"/>
          <a:ext cx="3704734" cy="26788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Connector 9">
            <a:extLst>
              <a:ext uri="{FF2B5EF4-FFF2-40B4-BE49-F238E27FC236}">
                <a16:creationId xmlns:a16="http://schemas.microsoft.com/office/drawing/2014/main" id="{5EBAE024-97B9-46DA-8FD7-D95194B8D21D}"/>
              </a:ext>
            </a:extLst>
          </p:cNvPr>
          <p:cNvCxnSpPr/>
          <p:nvPr/>
        </p:nvCxnSpPr>
        <p:spPr>
          <a:xfrm>
            <a:off x="6815579"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0D4367-FEEC-4D9B-A6C4-17417E6450AC}"/>
              </a:ext>
            </a:extLst>
          </p:cNvPr>
          <p:cNvCxnSpPr/>
          <p:nvPr/>
        </p:nvCxnSpPr>
        <p:spPr>
          <a:xfrm>
            <a:off x="6815579" y="4402318"/>
            <a:ext cx="39026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22C728-B101-44BD-A48D-ED5DF92FD4AF}"/>
              </a:ext>
            </a:extLst>
          </p:cNvPr>
          <p:cNvCxnSpPr/>
          <p:nvPr/>
        </p:nvCxnSpPr>
        <p:spPr>
          <a:xfrm flipV="1">
            <a:off x="10718276"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C37CCA-D9AC-44DF-B70F-B2ACDE5DC804}"/>
              </a:ext>
            </a:extLst>
          </p:cNvPr>
          <p:cNvCxnSpPr/>
          <p:nvPr/>
        </p:nvCxnSpPr>
        <p:spPr>
          <a:xfrm>
            <a:off x="6815579" y="1970202"/>
            <a:ext cx="3902697"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9" name="Chart 18">
            <a:extLst>
              <a:ext uri="{FF2B5EF4-FFF2-40B4-BE49-F238E27FC236}">
                <a16:creationId xmlns:a16="http://schemas.microsoft.com/office/drawing/2014/main" id="{143956E1-FDB4-41F9-BE79-06EDC54654F4}"/>
              </a:ext>
            </a:extLst>
          </p:cNvPr>
          <p:cNvGraphicFramePr/>
          <p:nvPr>
            <p:extLst>
              <p:ext uri="{D42A27DB-BD31-4B8C-83A1-F6EECF244321}">
                <p14:modId xmlns:p14="http://schemas.microsoft.com/office/powerpoint/2010/main" val="2298291816"/>
              </p:ext>
            </p:extLst>
          </p:nvPr>
        </p:nvGraphicFramePr>
        <p:xfrm>
          <a:off x="9424" y="3565667"/>
          <a:ext cx="4990969" cy="3762914"/>
        </p:xfrm>
        <a:graphic>
          <a:graphicData uri="http://schemas.openxmlformats.org/drawingml/2006/chart">
            <c:chart xmlns:c="http://schemas.openxmlformats.org/drawingml/2006/chart" xmlns:r="http://schemas.openxmlformats.org/officeDocument/2006/relationships" r:id="rId3"/>
          </a:graphicData>
        </a:graphic>
      </p:graphicFrame>
      <p:cxnSp>
        <p:nvCxnSpPr>
          <p:cNvPr id="21" name="Straight Connector 20">
            <a:extLst>
              <a:ext uri="{FF2B5EF4-FFF2-40B4-BE49-F238E27FC236}">
                <a16:creationId xmlns:a16="http://schemas.microsoft.com/office/drawing/2014/main" id="{6696CF3B-7508-4ECA-8231-5B3703945BC4}"/>
              </a:ext>
            </a:extLst>
          </p:cNvPr>
          <p:cNvCxnSpPr>
            <a:cxnSpLocks/>
          </p:cNvCxnSpPr>
          <p:nvPr/>
        </p:nvCxnSpPr>
        <p:spPr>
          <a:xfrm>
            <a:off x="716435" y="3447853"/>
            <a:ext cx="0" cy="3264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40B9634-3192-4ADF-899F-95CBBB0E4836}"/>
              </a:ext>
            </a:extLst>
          </p:cNvPr>
          <p:cNvCxnSpPr/>
          <p:nvPr/>
        </p:nvCxnSpPr>
        <p:spPr>
          <a:xfrm>
            <a:off x="716435" y="3433380"/>
            <a:ext cx="40535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6BE990C-207B-4FE4-BEEB-376856A1A455}"/>
              </a:ext>
            </a:extLst>
          </p:cNvPr>
          <p:cNvCxnSpPr>
            <a:cxnSpLocks/>
          </p:cNvCxnSpPr>
          <p:nvPr/>
        </p:nvCxnSpPr>
        <p:spPr>
          <a:xfrm>
            <a:off x="4769961" y="3429000"/>
            <a:ext cx="0" cy="3282885"/>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4410243-82AD-4097-9427-AE514036E786}"/>
              </a:ext>
            </a:extLst>
          </p:cNvPr>
          <p:cNvSpPr txBox="1"/>
          <p:nvPr/>
        </p:nvSpPr>
        <p:spPr>
          <a:xfrm>
            <a:off x="6740167" y="4649033"/>
            <a:ext cx="4166645" cy="707886"/>
          </a:xfrm>
          <a:prstGeom prst="rect">
            <a:avLst/>
          </a:prstGeom>
          <a:noFill/>
        </p:spPr>
        <p:txBody>
          <a:bodyPr wrap="square" rtlCol="0">
            <a:spAutoFit/>
          </a:bodyPr>
          <a:lstStyle/>
          <a:p>
            <a:r>
              <a:rPr lang="en-IN" sz="1600" dirty="0"/>
              <a:t>Industries:</a:t>
            </a:r>
          </a:p>
          <a:p>
            <a:r>
              <a:rPr lang="en-IN" sz="1200" dirty="0"/>
              <a:t>Metals, minerals &amp; mining Pharma &amp; fine chemicals Academic research </a:t>
            </a:r>
            <a:r>
              <a:rPr lang="en-IN" sz="1200" dirty="0" err="1"/>
              <a:t>Semicon</a:t>
            </a:r>
            <a:r>
              <a:rPr lang="en-IN" sz="1200" dirty="0"/>
              <a:t>, telecoms &amp; electronics</a:t>
            </a:r>
          </a:p>
        </p:txBody>
      </p:sp>
      <p:sp>
        <p:nvSpPr>
          <p:cNvPr id="29" name="TextBox 28">
            <a:extLst>
              <a:ext uri="{FF2B5EF4-FFF2-40B4-BE49-F238E27FC236}">
                <a16:creationId xmlns:a16="http://schemas.microsoft.com/office/drawing/2014/main" id="{E5197D35-D0E0-408F-81D7-A8CE8C80193D}"/>
              </a:ext>
            </a:extLst>
          </p:cNvPr>
          <p:cNvSpPr txBox="1"/>
          <p:nvPr/>
        </p:nvSpPr>
        <p:spPr>
          <a:xfrm>
            <a:off x="6755092" y="5512586"/>
            <a:ext cx="3893270" cy="892552"/>
          </a:xfrm>
          <a:prstGeom prst="rect">
            <a:avLst/>
          </a:prstGeom>
          <a:noFill/>
        </p:spPr>
        <p:txBody>
          <a:bodyPr wrap="square" rtlCol="0">
            <a:spAutoFit/>
          </a:bodyPr>
          <a:lstStyle/>
          <a:p>
            <a:r>
              <a:rPr lang="en-IN" sz="1600" dirty="0"/>
              <a:t>Operating companies </a:t>
            </a:r>
          </a:p>
          <a:p>
            <a:r>
              <a:rPr lang="en-IN" sz="1200" dirty="0"/>
              <a:t>Malvern </a:t>
            </a:r>
            <a:r>
              <a:rPr lang="en-IN" sz="1200" dirty="0" err="1"/>
              <a:t>Panalytical</a:t>
            </a:r>
            <a:r>
              <a:rPr lang="en-IN" sz="1200" dirty="0"/>
              <a:t> </a:t>
            </a:r>
          </a:p>
          <a:p>
            <a:r>
              <a:rPr lang="en-IN" sz="1200" dirty="0"/>
              <a:t>Particle Measuring Systems </a:t>
            </a:r>
          </a:p>
          <a:p>
            <a:r>
              <a:rPr lang="en-IN" sz="1200" dirty="0"/>
              <a:t>Concept Life Sciences</a:t>
            </a:r>
          </a:p>
        </p:txBody>
      </p:sp>
      <p:pic>
        <p:nvPicPr>
          <p:cNvPr id="17" name="Picture 16">
            <a:extLst>
              <a:ext uri="{FF2B5EF4-FFF2-40B4-BE49-F238E27FC236}">
                <a16:creationId xmlns:a16="http://schemas.microsoft.com/office/drawing/2014/main" id="{9B09367D-CE87-4D3F-9E7C-9B286F5D2A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1446" y="205693"/>
            <a:ext cx="1258867" cy="848578"/>
          </a:xfrm>
          <a:prstGeom prst="rect">
            <a:avLst/>
          </a:prstGeom>
        </p:spPr>
      </p:pic>
    </p:spTree>
    <p:extLst>
      <p:ext uri="{BB962C8B-B14F-4D97-AF65-F5344CB8AC3E}">
        <p14:creationId xmlns:p14="http://schemas.microsoft.com/office/powerpoint/2010/main" val="59954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A7E3-C736-4F0B-90A2-1EF1DCA59232}"/>
              </a:ext>
            </a:extLst>
          </p:cNvPr>
          <p:cNvSpPr>
            <a:spLocks noGrp="1"/>
          </p:cNvSpPr>
          <p:nvPr>
            <p:ph type="title"/>
          </p:nvPr>
        </p:nvSpPr>
        <p:spPr>
          <a:xfrm>
            <a:off x="838200" y="365125"/>
            <a:ext cx="10515600" cy="402971"/>
          </a:xfrm>
        </p:spPr>
        <p:txBody>
          <a:bodyPr>
            <a:normAutofit fontScale="90000"/>
          </a:bodyPr>
          <a:lstStyle/>
          <a:p>
            <a:r>
              <a:rPr lang="en-IN" sz="2400" dirty="0">
                <a:latin typeface="+mn-lt"/>
              </a:rPr>
              <a:t>Business Segments- Sales data 2018</a:t>
            </a:r>
          </a:p>
        </p:txBody>
      </p:sp>
      <p:sp>
        <p:nvSpPr>
          <p:cNvPr id="3" name="Content Placeholder 2">
            <a:extLst>
              <a:ext uri="{FF2B5EF4-FFF2-40B4-BE49-F238E27FC236}">
                <a16:creationId xmlns:a16="http://schemas.microsoft.com/office/drawing/2014/main" id="{3B794F77-E983-4F55-8515-AFADDDFE10A5}"/>
              </a:ext>
            </a:extLst>
          </p:cNvPr>
          <p:cNvSpPr>
            <a:spLocks noGrp="1"/>
          </p:cNvSpPr>
          <p:nvPr>
            <p:ph idx="1"/>
          </p:nvPr>
        </p:nvSpPr>
        <p:spPr>
          <a:xfrm>
            <a:off x="838200" y="724565"/>
            <a:ext cx="10515600" cy="5408867"/>
          </a:xfrm>
        </p:spPr>
        <p:txBody>
          <a:bodyPr>
            <a:normAutofit/>
          </a:bodyPr>
          <a:lstStyle/>
          <a:p>
            <a:pPr marL="0" indent="0">
              <a:buNone/>
            </a:pPr>
            <a:r>
              <a:rPr lang="en-IN" sz="1400" b="1" dirty="0"/>
              <a:t>Laboratory Businesses</a:t>
            </a:r>
          </a:p>
          <a:p>
            <a:pPr marL="0" indent="0">
              <a:buNone/>
            </a:pPr>
            <a:r>
              <a:rPr lang="en-IN" sz="1400" b="1" dirty="0"/>
              <a:t>TEST &amp; MEASUREMENT</a:t>
            </a:r>
          </a:p>
          <a:p>
            <a:pPr marL="0" indent="0">
              <a:buNone/>
            </a:pPr>
            <a:r>
              <a:rPr lang="en-IN" sz="1400" dirty="0"/>
              <a:t>Test, measurement, analysis and validation equipment, software and services for product design optimisation, manufacturing control and </a:t>
            </a:r>
            <a:r>
              <a:rPr lang="en-IN" sz="1400" dirty="0" err="1"/>
              <a:t>microseismic</a:t>
            </a:r>
            <a:r>
              <a:rPr lang="en-IN" sz="1400" dirty="0"/>
              <a:t> monitoring. Automotive Aerospace Electronics Energy Academic research</a:t>
            </a:r>
          </a:p>
        </p:txBody>
      </p:sp>
      <p:graphicFrame>
        <p:nvGraphicFramePr>
          <p:cNvPr id="4" name="Table 4">
            <a:extLst>
              <a:ext uri="{FF2B5EF4-FFF2-40B4-BE49-F238E27FC236}">
                <a16:creationId xmlns:a16="http://schemas.microsoft.com/office/drawing/2014/main" id="{541006F4-FB33-4B39-BC65-6FE9C70F388C}"/>
              </a:ext>
            </a:extLst>
          </p:cNvPr>
          <p:cNvGraphicFramePr>
            <a:graphicFrameLocks noGrp="1"/>
          </p:cNvGraphicFramePr>
          <p:nvPr>
            <p:extLst>
              <p:ext uri="{D42A27DB-BD31-4B8C-83A1-F6EECF244321}">
                <p14:modId xmlns:p14="http://schemas.microsoft.com/office/powerpoint/2010/main" val="1306205384"/>
              </p:ext>
            </p:extLst>
          </p:nvPr>
        </p:nvGraphicFramePr>
        <p:xfrm>
          <a:off x="913613" y="1950459"/>
          <a:ext cx="3704735" cy="1361570"/>
        </p:xfrm>
        <a:graphic>
          <a:graphicData uri="http://schemas.openxmlformats.org/drawingml/2006/table">
            <a:tbl>
              <a:tblPr firstRow="1" bandRow="1">
                <a:tableStyleId>{5C22544A-7EE6-4342-B048-85BDC9FD1C3A}</a:tableStyleId>
              </a:tblPr>
              <a:tblGrid>
                <a:gridCol w="2574762">
                  <a:extLst>
                    <a:ext uri="{9D8B030D-6E8A-4147-A177-3AD203B41FA5}">
                      <a16:colId xmlns:a16="http://schemas.microsoft.com/office/drawing/2014/main" val="1962022803"/>
                    </a:ext>
                  </a:extLst>
                </a:gridCol>
                <a:gridCol w="1129973">
                  <a:extLst>
                    <a:ext uri="{9D8B030D-6E8A-4147-A177-3AD203B41FA5}">
                      <a16:colId xmlns:a16="http://schemas.microsoft.com/office/drawing/2014/main" val="1005596660"/>
                    </a:ext>
                  </a:extLst>
                </a:gridCol>
              </a:tblGrid>
              <a:tr h="281731">
                <a:tc>
                  <a:txBody>
                    <a:bodyPr/>
                    <a:lstStyle/>
                    <a:p>
                      <a:r>
                        <a:rPr lang="en-IN" sz="1400" dirty="0"/>
                        <a:t>Sales</a:t>
                      </a:r>
                    </a:p>
                  </a:txBody>
                  <a:tcPr/>
                </a:tc>
                <a:tc>
                  <a:txBody>
                    <a:bodyPr/>
                    <a:lstStyle/>
                    <a:p>
                      <a:r>
                        <a:rPr lang="en-IN" sz="1400" dirty="0"/>
                        <a:t>£522.6m</a:t>
                      </a:r>
                    </a:p>
                  </a:txBody>
                  <a:tcPr/>
                </a:tc>
                <a:extLst>
                  <a:ext uri="{0D108BD9-81ED-4DB2-BD59-A6C34878D82A}">
                    <a16:rowId xmlns:a16="http://schemas.microsoft.com/office/drawing/2014/main" val="2226100315"/>
                  </a:ext>
                </a:extLst>
              </a:tr>
              <a:tr h="281731">
                <a:tc>
                  <a:txBody>
                    <a:bodyPr/>
                    <a:lstStyle/>
                    <a:p>
                      <a:r>
                        <a:rPr lang="en-IN" sz="1400" dirty="0"/>
                        <a:t>Adjusted Operating Profit</a:t>
                      </a:r>
                    </a:p>
                  </a:txBody>
                  <a:tcPr/>
                </a:tc>
                <a:tc>
                  <a:txBody>
                    <a:bodyPr/>
                    <a:lstStyle/>
                    <a:p>
                      <a:r>
                        <a:rPr lang="en-IN" sz="1400" dirty="0"/>
                        <a:t>£67.2m</a:t>
                      </a:r>
                    </a:p>
                  </a:txBody>
                  <a:tcPr/>
                </a:tc>
                <a:extLst>
                  <a:ext uri="{0D108BD9-81ED-4DB2-BD59-A6C34878D82A}">
                    <a16:rowId xmlns:a16="http://schemas.microsoft.com/office/drawing/2014/main" val="3196886653"/>
                  </a:ext>
                </a:extLst>
              </a:tr>
              <a:tr h="4471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Adjusted Operating Margin</a:t>
                      </a:r>
                    </a:p>
                  </a:txBody>
                  <a:tcPr/>
                </a:tc>
                <a:tc>
                  <a:txBody>
                    <a:bodyPr/>
                    <a:lstStyle/>
                    <a:p>
                      <a:r>
                        <a:rPr lang="en-IN" sz="1400" dirty="0"/>
                        <a:t>12.9%</a:t>
                      </a:r>
                      <a:endParaRPr lang="en-IN" sz="1400" b="1" dirty="0"/>
                    </a:p>
                  </a:txBody>
                  <a:tcPr/>
                </a:tc>
                <a:extLst>
                  <a:ext uri="{0D108BD9-81ED-4DB2-BD59-A6C34878D82A}">
                    <a16:rowId xmlns:a16="http://schemas.microsoft.com/office/drawing/2014/main" val="3017138197"/>
                  </a:ext>
                </a:extLst>
              </a:tr>
              <a:tr h="281731">
                <a:tc>
                  <a:txBody>
                    <a:bodyPr/>
                    <a:lstStyle/>
                    <a:p>
                      <a:r>
                        <a:rPr lang="en-IN" sz="1400" dirty="0"/>
                        <a:t>% Group Sales</a:t>
                      </a:r>
                    </a:p>
                  </a:txBody>
                  <a:tcPr/>
                </a:tc>
                <a:tc>
                  <a:txBody>
                    <a:bodyPr/>
                    <a:lstStyle/>
                    <a:p>
                      <a:r>
                        <a:rPr lang="en-IN" sz="1400" dirty="0"/>
                        <a:t>33%</a:t>
                      </a:r>
                    </a:p>
                  </a:txBody>
                  <a:tcPr/>
                </a:tc>
                <a:extLst>
                  <a:ext uri="{0D108BD9-81ED-4DB2-BD59-A6C34878D82A}">
                    <a16:rowId xmlns:a16="http://schemas.microsoft.com/office/drawing/2014/main" val="3243229284"/>
                  </a:ext>
                </a:extLst>
              </a:tr>
            </a:tbl>
          </a:graphicData>
        </a:graphic>
      </p:graphicFrame>
      <p:graphicFrame>
        <p:nvGraphicFramePr>
          <p:cNvPr id="8" name="Chart 7">
            <a:extLst>
              <a:ext uri="{FF2B5EF4-FFF2-40B4-BE49-F238E27FC236}">
                <a16:creationId xmlns:a16="http://schemas.microsoft.com/office/drawing/2014/main" id="{77DDC8D0-9265-4F8F-91F0-A62862E45CAB}"/>
              </a:ext>
            </a:extLst>
          </p:cNvPr>
          <p:cNvGraphicFramePr/>
          <p:nvPr>
            <p:extLst>
              <p:ext uri="{D42A27DB-BD31-4B8C-83A1-F6EECF244321}">
                <p14:modId xmlns:p14="http://schemas.microsoft.com/office/powerpoint/2010/main" val="1256336402"/>
              </p:ext>
            </p:extLst>
          </p:nvPr>
        </p:nvGraphicFramePr>
        <p:xfrm>
          <a:off x="6815579" y="1874315"/>
          <a:ext cx="3704734" cy="26788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Connector 9">
            <a:extLst>
              <a:ext uri="{FF2B5EF4-FFF2-40B4-BE49-F238E27FC236}">
                <a16:creationId xmlns:a16="http://schemas.microsoft.com/office/drawing/2014/main" id="{5EBAE024-97B9-46DA-8FD7-D95194B8D21D}"/>
              </a:ext>
            </a:extLst>
          </p:cNvPr>
          <p:cNvCxnSpPr/>
          <p:nvPr/>
        </p:nvCxnSpPr>
        <p:spPr>
          <a:xfrm>
            <a:off x="6815579"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0D4367-FEEC-4D9B-A6C4-17417E6450AC}"/>
              </a:ext>
            </a:extLst>
          </p:cNvPr>
          <p:cNvCxnSpPr/>
          <p:nvPr/>
        </p:nvCxnSpPr>
        <p:spPr>
          <a:xfrm>
            <a:off x="6815579" y="4402318"/>
            <a:ext cx="39026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22C728-B101-44BD-A48D-ED5DF92FD4AF}"/>
              </a:ext>
            </a:extLst>
          </p:cNvPr>
          <p:cNvCxnSpPr/>
          <p:nvPr/>
        </p:nvCxnSpPr>
        <p:spPr>
          <a:xfrm flipV="1">
            <a:off x="10718276"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C37CCA-D9AC-44DF-B70F-B2ACDE5DC804}"/>
              </a:ext>
            </a:extLst>
          </p:cNvPr>
          <p:cNvCxnSpPr/>
          <p:nvPr/>
        </p:nvCxnSpPr>
        <p:spPr>
          <a:xfrm>
            <a:off x="6815579" y="1970202"/>
            <a:ext cx="3902697"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9" name="Chart 18">
            <a:extLst>
              <a:ext uri="{FF2B5EF4-FFF2-40B4-BE49-F238E27FC236}">
                <a16:creationId xmlns:a16="http://schemas.microsoft.com/office/drawing/2014/main" id="{143956E1-FDB4-41F9-BE79-06EDC54654F4}"/>
              </a:ext>
            </a:extLst>
          </p:cNvPr>
          <p:cNvGraphicFramePr/>
          <p:nvPr>
            <p:extLst>
              <p:ext uri="{D42A27DB-BD31-4B8C-83A1-F6EECF244321}">
                <p14:modId xmlns:p14="http://schemas.microsoft.com/office/powerpoint/2010/main" val="1034485524"/>
              </p:ext>
            </p:extLst>
          </p:nvPr>
        </p:nvGraphicFramePr>
        <p:xfrm>
          <a:off x="615361" y="3312029"/>
          <a:ext cx="4761061" cy="3545971"/>
        </p:xfrm>
        <a:graphic>
          <a:graphicData uri="http://schemas.openxmlformats.org/drawingml/2006/chart">
            <c:chart xmlns:c="http://schemas.openxmlformats.org/drawingml/2006/chart" xmlns:r="http://schemas.openxmlformats.org/officeDocument/2006/relationships" r:id="rId3"/>
          </a:graphicData>
        </a:graphic>
      </p:graphicFrame>
      <p:cxnSp>
        <p:nvCxnSpPr>
          <p:cNvPr id="21" name="Straight Connector 20">
            <a:extLst>
              <a:ext uri="{FF2B5EF4-FFF2-40B4-BE49-F238E27FC236}">
                <a16:creationId xmlns:a16="http://schemas.microsoft.com/office/drawing/2014/main" id="{6696CF3B-7508-4ECA-8231-5B3703945BC4}"/>
              </a:ext>
            </a:extLst>
          </p:cNvPr>
          <p:cNvCxnSpPr>
            <a:cxnSpLocks/>
          </p:cNvCxnSpPr>
          <p:nvPr/>
        </p:nvCxnSpPr>
        <p:spPr>
          <a:xfrm>
            <a:off x="725863" y="3429000"/>
            <a:ext cx="0" cy="32021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40B9634-3192-4ADF-899F-95CBBB0E4836}"/>
              </a:ext>
            </a:extLst>
          </p:cNvPr>
          <p:cNvCxnSpPr>
            <a:cxnSpLocks/>
          </p:cNvCxnSpPr>
          <p:nvPr/>
        </p:nvCxnSpPr>
        <p:spPr>
          <a:xfrm>
            <a:off x="739217" y="3429000"/>
            <a:ext cx="46372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6BE990C-207B-4FE4-BEEB-376856A1A455}"/>
              </a:ext>
            </a:extLst>
          </p:cNvPr>
          <p:cNvCxnSpPr>
            <a:cxnSpLocks/>
          </p:cNvCxnSpPr>
          <p:nvPr/>
        </p:nvCxnSpPr>
        <p:spPr>
          <a:xfrm>
            <a:off x="5319861" y="3429000"/>
            <a:ext cx="0" cy="3222657"/>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4410243-82AD-4097-9427-AE514036E786}"/>
              </a:ext>
            </a:extLst>
          </p:cNvPr>
          <p:cNvSpPr txBox="1"/>
          <p:nvPr/>
        </p:nvSpPr>
        <p:spPr>
          <a:xfrm>
            <a:off x="6740167" y="4649033"/>
            <a:ext cx="4166645" cy="523220"/>
          </a:xfrm>
          <a:prstGeom prst="rect">
            <a:avLst/>
          </a:prstGeom>
          <a:noFill/>
        </p:spPr>
        <p:txBody>
          <a:bodyPr wrap="square" rtlCol="0">
            <a:spAutoFit/>
          </a:bodyPr>
          <a:lstStyle/>
          <a:p>
            <a:r>
              <a:rPr lang="en-IN" sz="1600" b="1" dirty="0"/>
              <a:t>Industries:</a:t>
            </a:r>
          </a:p>
          <a:p>
            <a:r>
              <a:rPr lang="en-IN" sz="1200" dirty="0"/>
              <a:t>Automotive Aerospace Electronics Energy Academic research</a:t>
            </a:r>
          </a:p>
        </p:txBody>
      </p:sp>
      <p:sp>
        <p:nvSpPr>
          <p:cNvPr id="29" name="TextBox 28">
            <a:extLst>
              <a:ext uri="{FF2B5EF4-FFF2-40B4-BE49-F238E27FC236}">
                <a16:creationId xmlns:a16="http://schemas.microsoft.com/office/drawing/2014/main" id="{E5197D35-D0E0-408F-81D7-A8CE8C80193D}"/>
              </a:ext>
            </a:extLst>
          </p:cNvPr>
          <p:cNvSpPr txBox="1"/>
          <p:nvPr/>
        </p:nvSpPr>
        <p:spPr>
          <a:xfrm>
            <a:off x="6740167" y="5347685"/>
            <a:ext cx="3893270" cy="1261884"/>
          </a:xfrm>
          <a:prstGeom prst="rect">
            <a:avLst/>
          </a:prstGeom>
          <a:noFill/>
        </p:spPr>
        <p:txBody>
          <a:bodyPr wrap="square" rtlCol="0">
            <a:spAutoFit/>
          </a:bodyPr>
          <a:lstStyle/>
          <a:p>
            <a:r>
              <a:rPr lang="en-IN" sz="1600" b="1" dirty="0"/>
              <a:t>Operating companies:</a:t>
            </a:r>
            <a:r>
              <a:rPr lang="en-IN" sz="1600" dirty="0"/>
              <a:t> </a:t>
            </a:r>
          </a:p>
          <a:p>
            <a:r>
              <a:rPr lang="en-IN" sz="1200" dirty="0" err="1"/>
              <a:t>Brüel</a:t>
            </a:r>
            <a:r>
              <a:rPr lang="en-IN" sz="1200" dirty="0"/>
              <a:t> &amp; </a:t>
            </a:r>
            <a:r>
              <a:rPr lang="en-IN" sz="1200" dirty="0" err="1"/>
              <a:t>Kjær</a:t>
            </a:r>
            <a:r>
              <a:rPr lang="en-IN" sz="1200" dirty="0"/>
              <a:t> Sound &amp; Vibration</a:t>
            </a:r>
          </a:p>
          <a:p>
            <a:r>
              <a:rPr lang="en-IN" sz="1200" dirty="0"/>
              <a:t> ESG Solutions </a:t>
            </a:r>
          </a:p>
          <a:p>
            <a:r>
              <a:rPr lang="en-IN" sz="1200" dirty="0"/>
              <a:t>HBM</a:t>
            </a:r>
          </a:p>
          <a:p>
            <a:r>
              <a:rPr lang="en-IN" sz="1200" dirty="0"/>
              <a:t>Millbrook</a:t>
            </a:r>
          </a:p>
          <a:p>
            <a:r>
              <a:rPr lang="en-IN" sz="1200" dirty="0"/>
              <a:t> VI-grade</a:t>
            </a:r>
          </a:p>
        </p:txBody>
      </p:sp>
      <p:cxnSp>
        <p:nvCxnSpPr>
          <p:cNvPr id="17" name="Straight Connector 16">
            <a:extLst>
              <a:ext uri="{FF2B5EF4-FFF2-40B4-BE49-F238E27FC236}">
                <a16:creationId xmlns:a16="http://schemas.microsoft.com/office/drawing/2014/main" id="{62BF0728-0A35-48DA-9B38-192F1641910A}"/>
              </a:ext>
            </a:extLst>
          </p:cNvPr>
          <p:cNvCxnSpPr>
            <a:cxnSpLocks/>
          </p:cNvCxnSpPr>
          <p:nvPr/>
        </p:nvCxnSpPr>
        <p:spPr>
          <a:xfrm>
            <a:off x="739217" y="6631185"/>
            <a:ext cx="4580644" cy="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A94E6ECB-C15D-4B3F-8A5E-098C7F0456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8225" y="18060"/>
            <a:ext cx="1165566" cy="990963"/>
          </a:xfrm>
          <a:prstGeom prst="rect">
            <a:avLst/>
          </a:prstGeom>
        </p:spPr>
      </p:pic>
    </p:spTree>
    <p:extLst>
      <p:ext uri="{BB962C8B-B14F-4D97-AF65-F5344CB8AC3E}">
        <p14:creationId xmlns:p14="http://schemas.microsoft.com/office/powerpoint/2010/main" val="1069017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A7E3-C736-4F0B-90A2-1EF1DCA59232}"/>
              </a:ext>
            </a:extLst>
          </p:cNvPr>
          <p:cNvSpPr>
            <a:spLocks noGrp="1"/>
          </p:cNvSpPr>
          <p:nvPr>
            <p:ph type="title"/>
          </p:nvPr>
        </p:nvSpPr>
        <p:spPr>
          <a:xfrm>
            <a:off x="838200" y="365125"/>
            <a:ext cx="10515600" cy="402971"/>
          </a:xfrm>
        </p:spPr>
        <p:txBody>
          <a:bodyPr>
            <a:normAutofit fontScale="90000"/>
          </a:bodyPr>
          <a:lstStyle/>
          <a:p>
            <a:r>
              <a:rPr lang="en-IN" sz="2400" dirty="0">
                <a:latin typeface="+mn-lt"/>
              </a:rPr>
              <a:t>Business Segments- Sales data 2018</a:t>
            </a:r>
          </a:p>
        </p:txBody>
      </p:sp>
      <p:sp>
        <p:nvSpPr>
          <p:cNvPr id="3" name="Content Placeholder 2">
            <a:extLst>
              <a:ext uri="{FF2B5EF4-FFF2-40B4-BE49-F238E27FC236}">
                <a16:creationId xmlns:a16="http://schemas.microsoft.com/office/drawing/2014/main" id="{3B794F77-E983-4F55-8515-AFADDDFE10A5}"/>
              </a:ext>
            </a:extLst>
          </p:cNvPr>
          <p:cNvSpPr>
            <a:spLocks noGrp="1"/>
          </p:cNvSpPr>
          <p:nvPr>
            <p:ph idx="1"/>
          </p:nvPr>
        </p:nvSpPr>
        <p:spPr>
          <a:xfrm>
            <a:off x="838200" y="724565"/>
            <a:ext cx="10515600" cy="5408867"/>
          </a:xfrm>
        </p:spPr>
        <p:txBody>
          <a:bodyPr>
            <a:normAutofit/>
          </a:bodyPr>
          <a:lstStyle/>
          <a:p>
            <a:pPr marL="0" indent="0">
              <a:buNone/>
            </a:pPr>
            <a:r>
              <a:rPr lang="en-IN" sz="1400" b="1" dirty="0"/>
              <a:t>Process/Manufacturing Businesses</a:t>
            </a:r>
          </a:p>
          <a:p>
            <a:pPr marL="0" indent="0">
              <a:buNone/>
            </a:pPr>
            <a:r>
              <a:rPr lang="en-IN" sz="1400" b="1" dirty="0"/>
              <a:t>IN-LINE INSTRUMENTATION</a:t>
            </a:r>
          </a:p>
          <a:p>
            <a:pPr marL="0" indent="0">
              <a:buNone/>
            </a:pPr>
            <a:r>
              <a:rPr lang="en-IN" sz="1400" dirty="0"/>
              <a:t>Process analytical measurement, asset monitoring and on-line controls as well as associated consumables and services for both primary processing and the converting industries. </a:t>
            </a:r>
          </a:p>
        </p:txBody>
      </p:sp>
      <p:graphicFrame>
        <p:nvGraphicFramePr>
          <p:cNvPr id="4" name="Table 4">
            <a:extLst>
              <a:ext uri="{FF2B5EF4-FFF2-40B4-BE49-F238E27FC236}">
                <a16:creationId xmlns:a16="http://schemas.microsoft.com/office/drawing/2014/main" id="{541006F4-FB33-4B39-BC65-6FE9C70F388C}"/>
              </a:ext>
            </a:extLst>
          </p:cNvPr>
          <p:cNvGraphicFramePr>
            <a:graphicFrameLocks noGrp="1"/>
          </p:cNvGraphicFramePr>
          <p:nvPr>
            <p:extLst>
              <p:ext uri="{D42A27DB-BD31-4B8C-83A1-F6EECF244321}">
                <p14:modId xmlns:p14="http://schemas.microsoft.com/office/powerpoint/2010/main" val="2582845137"/>
              </p:ext>
            </p:extLst>
          </p:nvPr>
        </p:nvGraphicFramePr>
        <p:xfrm>
          <a:off x="913613" y="1950459"/>
          <a:ext cx="3704735" cy="1361570"/>
        </p:xfrm>
        <a:graphic>
          <a:graphicData uri="http://schemas.openxmlformats.org/drawingml/2006/table">
            <a:tbl>
              <a:tblPr firstRow="1" bandRow="1">
                <a:tableStyleId>{5C22544A-7EE6-4342-B048-85BDC9FD1C3A}</a:tableStyleId>
              </a:tblPr>
              <a:tblGrid>
                <a:gridCol w="2574762">
                  <a:extLst>
                    <a:ext uri="{9D8B030D-6E8A-4147-A177-3AD203B41FA5}">
                      <a16:colId xmlns:a16="http://schemas.microsoft.com/office/drawing/2014/main" val="1962022803"/>
                    </a:ext>
                  </a:extLst>
                </a:gridCol>
                <a:gridCol w="1129973">
                  <a:extLst>
                    <a:ext uri="{9D8B030D-6E8A-4147-A177-3AD203B41FA5}">
                      <a16:colId xmlns:a16="http://schemas.microsoft.com/office/drawing/2014/main" val="1005596660"/>
                    </a:ext>
                  </a:extLst>
                </a:gridCol>
              </a:tblGrid>
              <a:tr h="281731">
                <a:tc>
                  <a:txBody>
                    <a:bodyPr/>
                    <a:lstStyle/>
                    <a:p>
                      <a:r>
                        <a:rPr lang="en-IN" sz="1400" dirty="0"/>
                        <a:t>Sales</a:t>
                      </a:r>
                    </a:p>
                  </a:txBody>
                  <a:tcPr/>
                </a:tc>
                <a:tc>
                  <a:txBody>
                    <a:bodyPr/>
                    <a:lstStyle/>
                    <a:p>
                      <a:r>
                        <a:rPr lang="en-IN" sz="1400" dirty="0"/>
                        <a:t>£312.2m</a:t>
                      </a:r>
                    </a:p>
                  </a:txBody>
                  <a:tcPr/>
                </a:tc>
                <a:extLst>
                  <a:ext uri="{0D108BD9-81ED-4DB2-BD59-A6C34878D82A}">
                    <a16:rowId xmlns:a16="http://schemas.microsoft.com/office/drawing/2014/main" val="2226100315"/>
                  </a:ext>
                </a:extLst>
              </a:tr>
              <a:tr h="281731">
                <a:tc>
                  <a:txBody>
                    <a:bodyPr/>
                    <a:lstStyle/>
                    <a:p>
                      <a:r>
                        <a:rPr lang="en-IN" sz="1400" dirty="0"/>
                        <a:t>Adjusted Operating Profit</a:t>
                      </a:r>
                    </a:p>
                  </a:txBody>
                  <a:tcPr/>
                </a:tc>
                <a:tc>
                  <a:txBody>
                    <a:bodyPr/>
                    <a:lstStyle/>
                    <a:p>
                      <a:r>
                        <a:rPr lang="en-IN" sz="1400" dirty="0"/>
                        <a:t>£42.6m</a:t>
                      </a:r>
                    </a:p>
                  </a:txBody>
                  <a:tcPr/>
                </a:tc>
                <a:extLst>
                  <a:ext uri="{0D108BD9-81ED-4DB2-BD59-A6C34878D82A}">
                    <a16:rowId xmlns:a16="http://schemas.microsoft.com/office/drawing/2014/main" val="3196886653"/>
                  </a:ext>
                </a:extLst>
              </a:tr>
              <a:tr h="4471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Adjusted Operating Margin</a:t>
                      </a:r>
                    </a:p>
                  </a:txBody>
                  <a:tcPr/>
                </a:tc>
                <a:tc>
                  <a:txBody>
                    <a:bodyPr/>
                    <a:lstStyle/>
                    <a:p>
                      <a:r>
                        <a:rPr lang="en-IN" sz="1400" dirty="0"/>
                        <a:t>13.6%</a:t>
                      </a:r>
                      <a:endParaRPr lang="en-IN" sz="1400" b="1" dirty="0"/>
                    </a:p>
                  </a:txBody>
                  <a:tcPr/>
                </a:tc>
                <a:extLst>
                  <a:ext uri="{0D108BD9-81ED-4DB2-BD59-A6C34878D82A}">
                    <a16:rowId xmlns:a16="http://schemas.microsoft.com/office/drawing/2014/main" val="3017138197"/>
                  </a:ext>
                </a:extLst>
              </a:tr>
              <a:tr h="281731">
                <a:tc>
                  <a:txBody>
                    <a:bodyPr/>
                    <a:lstStyle/>
                    <a:p>
                      <a:r>
                        <a:rPr lang="en-IN" sz="1400" dirty="0"/>
                        <a:t>% Group Sales</a:t>
                      </a:r>
                    </a:p>
                  </a:txBody>
                  <a:tcPr/>
                </a:tc>
                <a:tc>
                  <a:txBody>
                    <a:bodyPr/>
                    <a:lstStyle/>
                    <a:p>
                      <a:r>
                        <a:rPr lang="en-IN" sz="1400" dirty="0"/>
                        <a:t>19%</a:t>
                      </a:r>
                    </a:p>
                  </a:txBody>
                  <a:tcPr/>
                </a:tc>
                <a:extLst>
                  <a:ext uri="{0D108BD9-81ED-4DB2-BD59-A6C34878D82A}">
                    <a16:rowId xmlns:a16="http://schemas.microsoft.com/office/drawing/2014/main" val="3243229284"/>
                  </a:ext>
                </a:extLst>
              </a:tr>
            </a:tbl>
          </a:graphicData>
        </a:graphic>
      </p:graphicFrame>
      <p:graphicFrame>
        <p:nvGraphicFramePr>
          <p:cNvPr id="8" name="Chart 7">
            <a:extLst>
              <a:ext uri="{FF2B5EF4-FFF2-40B4-BE49-F238E27FC236}">
                <a16:creationId xmlns:a16="http://schemas.microsoft.com/office/drawing/2014/main" id="{77DDC8D0-9265-4F8F-91F0-A62862E45CAB}"/>
              </a:ext>
            </a:extLst>
          </p:cNvPr>
          <p:cNvGraphicFramePr/>
          <p:nvPr>
            <p:extLst>
              <p:ext uri="{D42A27DB-BD31-4B8C-83A1-F6EECF244321}">
                <p14:modId xmlns:p14="http://schemas.microsoft.com/office/powerpoint/2010/main" val="3910325047"/>
              </p:ext>
            </p:extLst>
          </p:nvPr>
        </p:nvGraphicFramePr>
        <p:xfrm>
          <a:off x="6815579" y="1874315"/>
          <a:ext cx="3704734" cy="26788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Connector 9">
            <a:extLst>
              <a:ext uri="{FF2B5EF4-FFF2-40B4-BE49-F238E27FC236}">
                <a16:creationId xmlns:a16="http://schemas.microsoft.com/office/drawing/2014/main" id="{5EBAE024-97B9-46DA-8FD7-D95194B8D21D}"/>
              </a:ext>
            </a:extLst>
          </p:cNvPr>
          <p:cNvCxnSpPr/>
          <p:nvPr/>
        </p:nvCxnSpPr>
        <p:spPr>
          <a:xfrm>
            <a:off x="6815579"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0D4367-FEEC-4D9B-A6C4-17417E6450AC}"/>
              </a:ext>
            </a:extLst>
          </p:cNvPr>
          <p:cNvCxnSpPr/>
          <p:nvPr/>
        </p:nvCxnSpPr>
        <p:spPr>
          <a:xfrm>
            <a:off x="6815579" y="4402318"/>
            <a:ext cx="39026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22C728-B101-44BD-A48D-ED5DF92FD4AF}"/>
              </a:ext>
            </a:extLst>
          </p:cNvPr>
          <p:cNvCxnSpPr/>
          <p:nvPr/>
        </p:nvCxnSpPr>
        <p:spPr>
          <a:xfrm flipV="1">
            <a:off x="10718276"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C37CCA-D9AC-44DF-B70F-B2ACDE5DC804}"/>
              </a:ext>
            </a:extLst>
          </p:cNvPr>
          <p:cNvCxnSpPr/>
          <p:nvPr/>
        </p:nvCxnSpPr>
        <p:spPr>
          <a:xfrm>
            <a:off x="6815579" y="1970202"/>
            <a:ext cx="3902697"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9" name="Chart 18">
            <a:extLst>
              <a:ext uri="{FF2B5EF4-FFF2-40B4-BE49-F238E27FC236}">
                <a16:creationId xmlns:a16="http://schemas.microsoft.com/office/drawing/2014/main" id="{143956E1-FDB4-41F9-BE79-06EDC54654F4}"/>
              </a:ext>
            </a:extLst>
          </p:cNvPr>
          <p:cNvGraphicFramePr/>
          <p:nvPr>
            <p:extLst>
              <p:ext uri="{D42A27DB-BD31-4B8C-83A1-F6EECF244321}">
                <p14:modId xmlns:p14="http://schemas.microsoft.com/office/powerpoint/2010/main" val="4139139511"/>
              </p:ext>
            </p:extLst>
          </p:nvPr>
        </p:nvGraphicFramePr>
        <p:xfrm>
          <a:off x="615361" y="3312029"/>
          <a:ext cx="4761061" cy="3545971"/>
        </p:xfrm>
        <a:graphic>
          <a:graphicData uri="http://schemas.openxmlformats.org/drawingml/2006/chart">
            <c:chart xmlns:c="http://schemas.openxmlformats.org/drawingml/2006/chart" xmlns:r="http://schemas.openxmlformats.org/officeDocument/2006/relationships" r:id="rId3"/>
          </a:graphicData>
        </a:graphic>
      </p:graphicFrame>
      <p:cxnSp>
        <p:nvCxnSpPr>
          <p:cNvPr id="21" name="Straight Connector 20">
            <a:extLst>
              <a:ext uri="{FF2B5EF4-FFF2-40B4-BE49-F238E27FC236}">
                <a16:creationId xmlns:a16="http://schemas.microsoft.com/office/drawing/2014/main" id="{6696CF3B-7508-4ECA-8231-5B3703945BC4}"/>
              </a:ext>
            </a:extLst>
          </p:cNvPr>
          <p:cNvCxnSpPr>
            <a:cxnSpLocks/>
          </p:cNvCxnSpPr>
          <p:nvPr/>
        </p:nvCxnSpPr>
        <p:spPr>
          <a:xfrm>
            <a:off x="725863" y="3429000"/>
            <a:ext cx="0" cy="32021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40B9634-3192-4ADF-899F-95CBBB0E4836}"/>
              </a:ext>
            </a:extLst>
          </p:cNvPr>
          <p:cNvCxnSpPr>
            <a:cxnSpLocks/>
          </p:cNvCxnSpPr>
          <p:nvPr/>
        </p:nvCxnSpPr>
        <p:spPr>
          <a:xfrm>
            <a:off x="739217" y="3429000"/>
            <a:ext cx="46372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6BE990C-207B-4FE4-BEEB-376856A1A455}"/>
              </a:ext>
            </a:extLst>
          </p:cNvPr>
          <p:cNvCxnSpPr>
            <a:cxnSpLocks/>
          </p:cNvCxnSpPr>
          <p:nvPr/>
        </p:nvCxnSpPr>
        <p:spPr>
          <a:xfrm>
            <a:off x="5319861" y="3429000"/>
            <a:ext cx="0" cy="3222657"/>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4410243-82AD-4097-9427-AE514036E786}"/>
              </a:ext>
            </a:extLst>
          </p:cNvPr>
          <p:cNvSpPr txBox="1"/>
          <p:nvPr/>
        </p:nvSpPr>
        <p:spPr>
          <a:xfrm>
            <a:off x="6740167" y="4649033"/>
            <a:ext cx="4166645" cy="707886"/>
          </a:xfrm>
          <a:prstGeom prst="rect">
            <a:avLst/>
          </a:prstGeom>
          <a:noFill/>
        </p:spPr>
        <p:txBody>
          <a:bodyPr wrap="square" rtlCol="0">
            <a:spAutoFit/>
          </a:bodyPr>
          <a:lstStyle/>
          <a:p>
            <a:r>
              <a:rPr lang="en-IN" sz="1600" b="1" dirty="0"/>
              <a:t>Industries:</a:t>
            </a:r>
          </a:p>
          <a:p>
            <a:r>
              <a:rPr lang="en-IN" sz="1200" dirty="0"/>
              <a:t>Process industries Energy &amp; utilities Pulp, paper &amp; tissue Web &amp; converting</a:t>
            </a:r>
          </a:p>
        </p:txBody>
      </p:sp>
      <p:sp>
        <p:nvSpPr>
          <p:cNvPr id="29" name="TextBox 28">
            <a:extLst>
              <a:ext uri="{FF2B5EF4-FFF2-40B4-BE49-F238E27FC236}">
                <a16:creationId xmlns:a16="http://schemas.microsoft.com/office/drawing/2014/main" id="{E5197D35-D0E0-408F-81D7-A8CE8C80193D}"/>
              </a:ext>
            </a:extLst>
          </p:cNvPr>
          <p:cNvSpPr txBox="1"/>
          <p:nvPr/>
        </p:nvSpPr>
        <p:spPr>
          <a:xfrm>
            <a:off x="6740167" y="5347685"/>
            <a:ext cx="3893270" cy="1077218"/>
          </a:xfrm>
          <a:prstGeom prst="rect">
            <a:avLst/>
          </a:prstGeom>
          <a:noFill/>
        </p:spPr>
        <p:txBody>
          <a:bodyPr wrap="square" rtlCol="0">
            <a:spAutoFit/>
          </a:bodyPr>
          <a:lstStyle/>
          <a:p>
            <a:r>
              <a:rPr lang="en-IN" sz="1600" b="1" dirty="0"/>
              <a:t>Operating companies:</a:t>
            </a:r>
            <a:r>
              <a:rPr lang="en-IN" sz="1600" dirty="0"/>
              <a:t> </a:t>
            </a:r>
          </a:p>
          <a:p>
            <a:r>
              <a:rPr lang="en-IN" sz="1200" dirty="0" err="1"/>
              <a:t>Brüel</a:t>
            </a:r>
            <a:r>
              <a:rPr lang="en-IN" sz="1200" dirty="0"/>
              <a:t> &amp; </a:t>
            </a:r>
            <a:r>
              <a:rPr lang="en-IN" sz="1200" dirty="0" err="1"/>
              <a:t>Kjær</a:t>
            </a:r>
            <a:r>
              <a:rPr lang="en-IN" sz="1200" dirty="0"/>
              <a:t>  </a:t>
            </a:r>
            <a:r>
              <a:rPr lang="en-IN" sz="1200" dirty="0" err="1"/>
              <a:t>Vibro</a:t>
            </a:r>
            <a:endParaRPr lang="en-IN" sz="1200" dirty="0"/>
          </a:p>
          <a:p>
            <a:r>
              <a:rPr lang="en-IN" sz="1200" dirty="0"/>
              <a:t> BTG</a:t>
            </a:r>
          </a:p>
          <a:p>
            <a:r>
              <a:rPr lang="en-IN" sz="1200" dirty="0"/>
              <a:t> NDC Technologies</a:t>
            </a:r>
          </a:p>
          <a:p>
            <a:r>
              <a:rPr lang="en-IN" sz="1200" dirty="0"/>
              <a:t> </a:t>
            </a:r>
            <a:r>
              <a:rPr lang="en-IN" sz="1200" dirty="0" err="1"/>
              <a:t>Servomex</a:t>
            </a:r>
            <a:endParaRPr lang="en-IN" sz="1200" dirty="0"/>
          </a:p>
        </p:txBody>
      </p:sp>
      <p:cxnSp>
        <p:nvCxnSpPr>
          <p:cNvPr id="17" name="Straight Connector 16">
            <a:extLst>
              <a:ext uri="{FF2B5EF4-FFF2-40B4-BE49-F238E27FC236}">
                <a16:creationId xmlns:a16="http://schemas.microsoft.com/office/drawing/2014/main" id="{62BF0728-0A35-48DA-9B38-192F1641910A}"/>
              </a:ext>
            </a:extLst>
          </p:cNvPr>
          <p:cNvCxnSpPr>
            <a:cxnSpLocks/>
          </p:cNvCxnSpPr>
          <p:nvPr/>
        </p:nvCxnSpPr>
        <p:spPr>
          <a:xfrm>
            <a:off x="739217" y="6631185"/>
            <a:ext cx="4580644" cy="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7035A17F-C28B-4584-A7C4-1E8C33E911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2783" y="18060"/>
            <a:ext cx="981008" cy="1013786"/>
          </a:xfrm>
          <a:prstGeom prst="rect">
            <a:avLst/>
          </a:prstGeom>
        </p:spPr>
      </p:pic>
    </p:spTree>
    <p:extLst>
      <p:ext uri="{BB962C8B-B14F-4D97-AF65-F5344CB8AC3E}">
        <p14:creationId xmlns:p14="http://schemas.microsoft.com/office/powerpoint/2010/main" val="3643069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A7E3-C736-4F0B-90A2-1EF1DCA59232}"/>
              </a:ext>
            </a:extLst>
          </p:cNvPr>
          <p:cNvSpPr>
            <a:spLocks noGrp="1"/>
          </p:cNvSpPr>
          <p:nvPr>
            <p:ph type="title"/>
          </p:nvPr>
        </p:nvSpPr>
        <p:spPr>
          <a:xfrm>
            <a:off x="838200" y="365125"/>
            <a:ext cx="10515600" cy="402971"/>
          </a:xfrm>
        </p:spPr>
        <p:txBody>
          <a:bodyPr>
            <a:normAutofit fontScale="90000"/>
          </a:bodyPr>
          <a:lstStyle/>
          <a:p>
            <a:r>
              <a:rPr lang="en-IN" sz="2400" dirty="0">
                <a:latin typeface="+mn-lt"/>
              </a:rPr>
              <a:t>Business Segments- Sales data 2018</a:t>
            </a:r>
          </a:p>
        </p:txBody>
      </p:sp>
      <p:sp>
        <p:nvSpPr>
          <p:cNvPr id="3" name="Content Placeholder 2">
            <a:extLst>
              <a:ext uri="{FF2B5EF4-FFF2-40B4-BE49-F238E27FC236}">
                <a16:creationId xmlns:a16="http://schemas.microsoft.com/office/drawing/2014/main" id="{3B794F77-E983-4F55-8515-AFADDDFE10A5}"/>
              </a:ext>
            </a:extLst>
          </p:cNvPr>
          <p:cNvSpPr>
            <a:spLocks noGrp="1"/>
          </p:cNvSpPr>
          <p:nvPr>
            <p:ph idx="1"/>
          </p:nvPr>
        </p:nvSpPr>
        <p:spPr>
          <a:xfrm>
            <a:off x="838200" y="724565"/>
            <a:ext cx="10515600" cy="5408867"/>
          </a:xfrm>
        </p:spPr>
        <p:txBody>
          <a:bodyPr>
            <a:normAutofit/>
          </a:bodyPr>
          <a:lstStyle/>
          <a:p>
            <a:pPr marL="0" indent="0">
              <a:buNone/>
            </a:pPr>
            <a:r>
              <a:rPr lang="en-IN" sz="1400" b="1" dirty="0"/>
              <a:t>Process/Manufacturing Businesses</a:t>
            </a:r>
          </a:p>
          <a:p>
            <a:pPr marL="0" indent="0">
              <a:buNone/>
            </a:pPr>
            <a:r>
              <a:rPr lang="en-IN" sz="1400" b="1" dirty="0"/>
              <a:t>INDUSTRIAL CONTROLS</a:t>
            </a:r>
          </a:p>
          <a:p>
            <a:pPr marL="0" indent="0">
              <a:buNone/>
            </a:pPr>
            <a:r>
              <a:rPr lang="en-IN" sz="1400" dirty="0"/>
              <a:t>Products and solutions that measure, monitor, control and inform during the production process.</a:t>
            </a:r>
          </a:p>
        </p:txBody>
      </p:sp>
      <p:graphicFrame>
        <p:nvGraphicFramePr>
          <p:cNvPr id="4" name="Table 4">
            <a:extLst>
              <a:ext uri="{FF2B5EF4-FFF2-40B4-BE49-F238E27FC236}">
                <a16:creationId xmlns:a16="http://schemas.microsoft.com/office/drawing/2014/main" id="{541006F4-FB33-4B39-BC65-6FE9C70F388C}"/>
              </a:ext>
            </a:extLst>
          </p:cNvPr>
          <p:cNvGraphicFramePr>
            <a:graphicFrameLocks noGrp="1"/>
          </p:cNvGraphicFramePr>
          <p:nvPr>
            <p:extLst>
              <p:ext uri="{D42A27DB-BD31-4B8C-83A1-F6EECF244321}">
                <p14:modId xmlns:p14="http://schemas.microsoft.com/office/powerpoint/2010/main" val="4284468196"/>
              </p:ext>
            </p:extLst>
          </p:nvPr>
        </p:nvGraphicFramePr>
        <p:xfrm>
          <a:off x="913613" y="1950459"/>
          <a:ext cx="3704735" cy="1361570"/>
        </p:xfrm>
        <a:graphic>
          <a:graphicData uri="http://schemas.openxmlformats.org/drawingml/2006/table">
            <a:tbl>
              <a:tblPr firstRow="1" bandRow="1">
                <a:tableStyleId>{5C22544A-7EE6-4342-B048-85BDC9FD1C3A}</a:tableStyleId>
              </a:tblPr>
              <a:tblGrid>
                <a:gridCol w="2574762">
                  <a:extLst>
                    <a:ext uri="{9D8B030D-6E8A-4147-A177-3AD203B41FA5}">
                      <a16:colId xmlns:a16="http://schemas.microsoft.com/office/drawing/2014/main" val="1962022803"/>
                    </a:ext>
                  </a:extLst>
                </a:gridCol>
                <a:gridCol w="1129973">
                  <a:extLst>
                    <a:ext uri="{9D8B030D-6E8A-4147-A177-3AD203B41FA5}">
                      <a16:colId xmlns:a16="http://schemas.microsoft.com/office/drawing/2014/main" val="1005596660"/>
                    </a:ext>
                  </a:extLst>
                </a:gridCol>
              </a:tblGrid>
              <a:tr h="281731">
                <a:tc>
                  <a:txBody>
                    <a:bodyPr/>
                    <a:lstStyle/>
                    <a:p>
                      <a:r>
                        <a:rPr lang="en-IN" sz="1400" dirty="0"/>
                        <a:t>Sales</a:t>
                      </a:r>
                    </a:p>
                  </a:txBody>
                  <a:tcPr/>
                </a:tc>
                <a:tc>
                  <a:txBody>
                    <a:bodyPr/>
                    <a:lstStyle/>
                    <a:p>
                      <a:r>
                        <a:rPr lang="en-IN" sz="1400" dirty="0"/>
                        <a:t>£228.3m</a:t>
                      </a:r>
                    </a:p>
                  </a:txBody>
                  <a:tcPr/>
                </a:tc>
                <a:extLst>
                  <a:ext uri="{0D108BD9-81ED-4DB2-BD59-A6C34878D82A}">
                    <a16:rowId xmlns:a16="http://schemas.microsoft.com/office/drawing/2014/main" val="2226100315"/>
                  </a:ext>
                </a:extLst>
              </a:tr>
              <a:tr h="281731">
                <a:tc>
                  <a:txBody>
                    <a:bodyPr/>
                    <a:lstStyle/>
                    <a:p>
                      <a:r>
                        <a:rPr lang="en-IN" sz="1400" dirty="0"/>
                        <a:t>Adjusted Operating Profit</a:t>
                      </a:r>
                    </a:p>
                  </a:txBody>
                  <a:tcPr/>
                </a:tc>
                <a:tc>
                  <a:txBody>
                    <a:bodyPr/>
                    <a:lstStyle/>
                    <a:p>
                      <a:r>
                        <a:rPr lang="en-IN" sz="1400" dirty="0"/>
                        <a:t>£43.1m</a:t>
                      </a:r>
                    </a:p>
                  </a:txBody>
                  <a:tcPr/>
                </a:tc>
                <a:extLst>
                  <a:ext uri="{0D108BD9-81ED-4DB2-BD59-A6C34878D82A}">
                    <a16:rowId xmlns:a16="http://schemas.microsoft.com/office/drawing/2014/main" val="3196886653"/>
                  </a:ext>
                </a:extLst>
              </a:tr>
              <a:tr h="4471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Adjusted Operating Margin</a:t>
                      </a:r>
                    </a:p>
                  </a:txBody>
                  <a:tcPr/>
                </a:tc>
                <a:tc>
                  <a:txBody>
                    <a:bodyPr/>
                    <a:lstStyle/>
                    <a:p>
                      <a:r>
                        <a:rPr lang="en-IN" sz="1400" dirty="0"/>
                        <a:t>18.9%</a:t>
                      </a:r>
                      <a:endParaRPr lang="en-IN" sz="1400" b="1" dirty="0"/>
                    </a:p>
                  </a:txBody>
                  <a:tcPr/>
                </a:tc>
                <a:extLst>
                  <a:ext uri="{0D108BD9-81ED-4DB2-BD59-A6C34878D82A}">
                    <a16:rowId xmlns:a16="http://schemas.microsoft.com/office/drawing/2014/main" val="3017138197"/>
                  </a:ext>
                </a:extLst>
              </a:tr>
              <a:tr h="281731">
                <a:tc>
                  <a:txBody>
                    <a:bodyPr/>
                    <a:lstStyle/>
                    <a:p>
                      <a:r>
                        <a:rPr lang="en-IN" sz="1400" dirty="0"/>
                        <a:t>% Group Sales</a:t>
                      </a:r>
                    </a:p>
                  </a:txBody>
                  <a:tcPr/>
                </a:tc>
                <a:tc>
                  <a:txBody>
                    <a:bodyPr/>
                    <a:lstStyle/>
                    <a:p>
                      <a:r>
                        <a:rPr lang="en-IN" sz="1400" dirty="0"/>
                        <a:t>14%</a:t>
                      </a:r>
                    </a:p>
                  </a:txBody>
                  <a:tcPr/>
                </a:tc>
                <a:extLst>
                  <a:ext uri="{0D108BD9-81ED-4DB2-BD59-A6C34878D82A}">
                    <a16:rowId xmlns:a16="http://schemas.microsoft.com/office/drawing/2014/main" val="3243229284"/>
                  </a:ext>
                </a:extLst>
              </a:tr>
            </a:tbl>
          </a:graphicData>
        </a:graphic>
      </p:graphicFrame>
      <p:graphicFrame>
        <p:nvGraphicFramePr>
          <p:cNvPr id="8" name="Chart 7">
            <a:extLst>
              <a:ext uri="{FF2B5EF4-FFF2-40B4-BE49-F238E27FC236}">
                <a16:creationId xmlns:a16="http://schemas.microsoft.com/office/drawing/2014/main" id="{77DDC8D0-9265-4F8F-91F0-A62862E45CAB}"/>
              </a:ext>
            </a:extLst>
          </p:cNvPr>
          <p:cNvGraphicFramePr/>
          <p:nvPr>
            <p:extLst>
              <p:ext uri="{D42A27DB-BD31-4B8C-83A1-F6EECF244321}">
                <p14:modId xmlns:p14="http://schemas.microsoft.com/office/powerpoint/2010/main" val="2181706252"/>
              </p:ext>
            </p:extLst>
          </p:nvPr>
        </p:nvGraphicFramePr>
        <p:xfrm>
          <a:off x="6815579" y="1874315"/>
          <a:ext cx="3704734" cy="26788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Connector 9">
            <a:extLst>
              <a:ext uri="{FF2B5EF4-FFF2-40B4-BE49-F238E27FC236}">
                <a16:creationId xmlns:a16="http://schemas.microsoft.com/office/drawing/2014/main" id="{5EBAE024-97B9-46DA-8FD7-D95194B8D21D}"/>
              </a:ext>
            </a:extLst>
          </p:cNvPr>
          <p:cNvCxnSpPr/>
          <p:nvPr/>
        </p:nvCxnSpPr>
        <p:spPr>
          <a:xfrm>
            <a:off x="6815579"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30D4367-FEEC-4D9B-A6C4-17417E6450AC}"/>
              </a:ext>
            </a:extLst>
          </p:cNvPr>
          <p:cNvCxnSpPr/>
          <p:nvPr/>
        </p:nvCxnSpPr>
        <p:spPr>
          <a:xfrm>
            <a:off x="6815579" y="4402318"/>
            <a:ext cx="39026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222C728-B101-44BD-A48D-ED5DF92FD4AF}"/>
              </a:ext>
            </a:extLst>
          </p:cNvPr>
          <p:cNvCxnSpPr/>
          <p:nvPr/>
        </p:nvCxnSpPr>
        <p:spPr>
          <a:xfrm flipV="1">
            <a:off x="10718276" y="1970202"/>
            <a:ext cx="0" cy="24321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FC37CCA-D9AC-44DF-B70F-B2ACDE5DC804}"/>
              </a:ext>
            </a:extLst>
          </p:cNvPr>
          <p:cNvCxnSpPr/>
          <p:nvPr/>
        </p:nvCxnSpPr>
        <p:spPr>
          <a:xfrm>
            <a:off x="6815579" y="1970202"/>
            <a:ext cx="3902697"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19" name="Chart 18">
            <a:extLst>
              <a:ext uri="{FF2B5EF4-FFF2-40B4-BE49-F238E27FC236}">
                <a16:creationId xmlns:a16="http://schemas.microsoft.com/office/drawing/2014/main" id="{143956E1-FDB4-41F9-BE79-06EDC54654F4}"/>
              </a:ext>
            </a:extLst>
          </p:cNvPr>
          <p:cNvGraphicFramePr/>
          <p:nvPr>
            <p:extLst>
              <p:ext uri="{D42A27DB-BD31-4B8C-83A1-F6EECF244321}">
                <p14:modId xmlns:p14="http://schemas.microsoft.com/office/powerpoint/2010/main" val="4109646367"/>
              </p:ext>
            </p:extLst>
          </p:nvPr>
        </p:nvGraphicFramePr>
        <p:xfrm>
          <a:off x="615361" y="3312029"/>
          <a:ext cx="4761061" cy="3545971"/>
        </p:xfrm>
        <a:graphic>
          <a:graphicData uri="http://schemas.openxmlformats.org/drawingml/2006/chart">
            <c:chart xmlns:c="http://schemas.openxmlformats.org/drawingml/2006/chart" xmlns:r="http://schemas.openxmlformats.org/officeDocument/2006/relationships" r:id="rId3"/>
          </a:graphicData>
        </a:graphic>
      </p:graphicFrame>
      <p:cxnSp>
        <p:nvCxnSpPr>
          <p:cNvPr id="21" name="Straight Connector 20">
            <a:extLst>
              <a:ext uri="{FF2B5EF4-FFF2-40B4-BE49-F238E27FC236}">
                <a16:creationId xmlns:a16="http://schemas.microsoft.com/office/drawing/2014/main" id="{6696CF3B-7508-4ECA-8231-5B3703945BC4}"/>
              </a:ext>
            </a:extLst>
          </p:cNvPr>
          <p:cNvCxnSpPr>
            <a:cxnSpLocks/>
          </p:cNvCxnSpPr>
          <p:nvPr/>
        </p:nvCxnSpPr>
        <p:spPr>
          <a:xfrm>
            <a:off x="725863" y="3429000"/>
            <a:ext cx="0" cy="32021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40B9634-3192-4ADF-899F-95CBBB0E4836}"/>
              </a:ext>
            </a:extLst>
          </p:cNvPr>
          <p:cNvCxnSpPr>
            <a:cxnSpLocks/>
          </p:cNvCxnSpPr>
          <p:nvPr/>
        </p:nvCxnSpPr>
        <p:spPr>
          <a:xfrm>
            <a:off x="739217" y="3429000"/>
            <a:ext cx="463720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6BE990C-207B-4FE4-BEEB-376856A1A455}"/>
              </a:ext>
            </a:extLst>
          </p:cNvPr>
          <p:cNvCxnSpPr>
            <a:cxnSpLocks/>
          </p:cNvCxnSpPr>
          <p:nvPr/>
        </p:nvCxnSpPr>
        <p:spPr>
          <a:xfrm>
            <a:off x="5319861" y="3429000"/>
            <a:ext cx="0" cy="3222657"/>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4410243-82AD-4097-9427-AE514036E786}"/>
              </a:ext>
            </a:extLst>
          </p:cNvPr>
          <p:cNvSpPr txBox="1"/>
          <p:nvPr/>
        </p:nvSpPr>
        <p:spPr>
          <a:xfrm>
            <a:off x="6740167" y="4649033"/>
            <a:ext cx="4166645" cy="523220"/>
          </a:xfrm>
          <a:prstGeom prst="rect">
            <a:avLst/>
          </a:prstGeom>
          <a:noFill/>
        </p:spPr>
        <p:txBody>
          <a:bodyPr wrap="square" rtlCol="0">
            <a:spAutoFit/>
          </a:bodyPr>
          <a:lstStyle/>
          <a:p>
            <a:r>
              <a:rPr lang="en-IN" sz="1600" b="1" dirty="0"/>
              <a:t>Industries:</a:t>
            </a:r>
          </a:p>
          <a:p>
            <a:r>
              <a:rPr lang="en-IN" sz="1200" dirty="0"/>
              <a:t>Manufacturing Process industries Energy Electronics</a:t>
            </a:r>
          </a:p>
        </p:txBody>
      </p:sp>
      <p:sp>
        <p:nvSpPr>
          <p:cNvPr id="29" name="TextBox 28">
            <a:extLst>
              <a:ext uri="{FF2B5EF4-FFF2-40B4-BE49-F238E27FC236}">
                <a16:creationId xmlns:a16="http://schemas.microsoft.com/office/drawing/2014/main" id="{E5197D35-D0E0-408F-81D7-A8CE8C80193D}"/>
              </a:ext>
            </a:extLst>
          </p:cNvPr>
          <p:cNvSpPr txBox="1"/>
          <p:nvPr/>
        </p:nvSpPr>
        <p:spPr>
          <a:xfrm>
            <a:off x="6740167" y="5347685"/>
            <a:ext cx="3893270" cy="707886"/>
          </a:xfrm>
          <a:prstGeom prst="rect">
            <a:avLst/>
          </a:prstGeom>
          <a:noFill/>
        </p:spPr>
        <p:txBody>
          <a:bodyPr wrap="square" rtlCol="0">
            <a:spAutoFit/>
          </a:bodyPr>
          <a:lstStyle/>
          <a:p>
            <a:r>
              <a:rPr lang="en-IN" sz="1600" b="1" dirty="0"/>
              <a:t>Operating companies:</a:t>
            </a:r>
            <a:r>
              <a:rPr lang="en-IN" sz="1600" dirty="0"/>
              <a:t> </a:t>
            </a:r>
          </a:p>
          <a:p>
            <a:r>
              <a:rPr lang="en-IN" sz="1200" dirty="0"/>
              <a:t>Omega Engineering </a:t>
            </a:r>
          </a:p>
          <a:p>
            <a:r>
              <a:rPr lang="en-IN" sz="1200" dirty="0"/>
              <a:t>Red Lion Controls</a:t>
            </a:r>
          </a:p>
        </p:txBody>
      </p:sp>
      <p:cxnSp>
        <p:nvCxnSpPr>
          <p:cNvPr id="17" name="Straight Connector 16">
            <a:extLst>
              <a:ext uri="{FF2B5EF4-FFF2-40B4-BE49-F238E27FC236}">
                <a16:creationId xmlns:a16="http://schemas.microsoft.com/office/drawing/2014/main" id="{62BF0728-0A35-48DA-9B38-192F1641910A}"/>
              </a:ext>
            </a:extLst>
          </p:cNvPr>
          <p:cNvCxnSpPr>
            <a:cxnSpLocks/>
          </p:cNvCxnSpPr>
          <p:nvPr/>
        </p:nvCxnSpPr>
        <p:spPr>
          <a:xfrm>
            <a:off x="739217" y="6631185"/>
            <a:ext cx="4580644" cy="0"/>
          </a:xfrm>
          <a:prstGeom prst="line">
            <a:avLst/>
          </a:prstGeom>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4F960199-05A3-48A3-9402-97893DA2CE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29227" y="18060"/>
            <a:ext cx="1014564" cy="895076"/>
          </a:xfrm>
          <a:prstGeom prst="rect">
            <a:avLst/>
          </a:prstGeom>
        </p:spPr>
      </p:pic>
    </p:spTree>
    <p:extLst>
      <p:ext uri="{BB962C8B-B14F-4D97-AF65-F5344CB8AC3E}">
        <p14:creationId xmlns:p14="http://schemas.microsoft.com/office/powerpoint/2010/main" val="388199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DD4FD-9D1E-49CF-BFA7-53035EFBCACE}"/>
              </a:ext>
            </a:extLst>
          </p:cNvPr>
          <p:cNvSpPr>
            <a:spLocks noGrp="1"/>
          </p:cNvSpPr>
          <p:nvPr>
            <p:ph type="title"/>
          </p:nvPr>
        </p:nvSpPr>
        <p:spPr>
          <a:xfrm>
            <a:off x="739611" y="49531"/>
            <a:ext cx="10515600" cy="671823"/>
          </a:xfrm>
        </p:spPr>
        <p:txBody>
          <a:bodyPr>
            <a:normAutofit/>
          </a:bodyPr>
          <a:lstStyle/>
          <a:p>
            <a:r>
              <a:rPr lang="en-IN" sz="2000" b="1" dirty="0">
                <a:latin typeface="+mn-lt"/>
              </a:rPr>
              <a:t>Strategic initiatives 2018, IT investments &amp; initiatives</a:t>
            </a:r>
          </a:p>
        </p:txBody>
      </p:sp>
      <p:sp>
        <p:nvSpPr>
          <p:cNvPr id="3" name="Content Placeholder 2">
            <a:extLst>
              <a:ext uri="{FF2B5EF4-FFF2-40B4-BE49-F238E27FC236}">
                <a16:creationId xmlns:a16="http://schemas.microsoft.com/office/drawing/2014/main" id="{4D441003-A233-4A3B-9808-AF1388924CD5}"/>
              </a:ext>
            </a:extLst>
          </p:cNvPr>
          <p:cNvSpPr>
            <a:spLocks noGrp="1"/>
          </p:cNvSpPr>
          <p:nvPr>
            <p:ph idx="1"/>
          </p:nvPr>
        </p:nvSpPr>
        <p:spPr>
          <a:xfrm>
            <a:off x="2790334" y="1260592"/>
            <a:ext cx="8563466" cy="5732642"/>
          </a:xfrm>
        </p:spPr>
        <p:txBody>
          <a:bodyPr>
            <a:noAutofit/>
          </a:bodyPr>
          <a:lstStyle/>
          <a:p>
            <a:pPr algn="just"/>
            <a:r>
              <a:rPr lang="en-IN" sz="1600" dirty="0"/>
              <a:t>Invested £103.4 million in R&amp;D (6% of sales). </a:t>
            </a:r>
          </a:p>
          <a:p>
            <a:pPr algn="just"/>
            <a:r>
              <a:rPr lang="en-IN" sz="1600" dirty="0"/>
              <a:t> New product launches: PMS’ Quality Assurance data management system, Malvern </a:t>
            </a:r>
            <a:r>
              <a:rPr lang="en-IN" sz="1600" dirty="0" err="1"/>
              <a:t>Panalytical’s</a:t>
            </a:r>
            <a:r>
              <a:rPr lang="en-IN" sz="1600" dirty="0"/>
              <a:t> particle characterisation products – the </a:t>
            </a:r>
            <a:r>
              <a:rPr lang="en-IN" sz="1600" dirty="0" err="1"/>
              <a:t>Zetasizer</a:t>
            </a:r>
            <a:r>
              <a:rPr lang="en-IN" sz="1600" dirty="0"/>
              <a:t> Ultra/Pro systems and </a:t>
            </a:r>
            <a:r>
              <a:rPr lang="en-IN" sz="1600" dirty="0" err="1"/>
              <a:t>Morphologi</a:t>
            </a:r>
            <a:r>
              <a:rPr lang="en-IN" sz="1600" dirty="0"/>
              <a:t> static imaging systems; and new software products from BKSV and HBM. </a:t>
            </a:r>
          </a:p>
          <a:p>
            <a:pPr algn="just"/>
            <a:r>
              <a:rPr lang="en-IN" sz="1600" dirty="0"/>
              <a:t> Merger of BKSV and HBM to better deliver integrated data solutions to customers</a:t>
            </a:r>
          </a:p>
          <a:p>
            <a:pPr algn="just"/>
            <a:r>
              <a:rPr lang="en-IN" sz="1600" dirty="0"/>
              <a:t>Launched digital solutions brand, Spectris Advance, showcasing the company’s IIoT capabilities in specific end markets, combining  instrumentation, connectivity and analytics expertise to provide more cross-group solutions. </a:t>
            </a:r>
          </a:p>
          <a:p>
            <a:pPr algn="just"/>
            <a:r>
              <a:rPr lang="en-IN" sz="1600" dirty="0"/>
              <a:t> Acquired Concept Life Sciences whose activities in integrated drug discovery, development and analytical testing complement their existing instrumentation. </a:t>
            </a:r>
          </a:p>
          <a:p>
            <a:pPr algn="just"/>
            <a:r>
              <a:rPr lang="en-IN" sz="1600" dirty="0"/>
              <a:t>Acquired Concept Life Sciences, which provides integrated drug discovery, development and analytical testing in the pharma and biotechnology sectors which complement the activities of Malvern </a:t>
            </a:r>
            <a:r>
              <a:rPr lang="en-IN" sz="1600" dirty="0" err="1"/>
              <a:t>Panalytical</a:t>
            </a:r>
            <a:r>
              <a:rPr lang="en-IN" sz="1600" dirty="0"/>
              <a:t>.</a:t>
            </a:r>
          </a:p>
          <a:p>
            <a:pPr algn="just"/>
            <a:r>
              <a:rPr lang="en-IN" sz="1600" dirty="0"/>
              <a:t>Acquisition of Revolutionary Engineering, an automotive test system and service provider in the USA, specialising in driveline test services and solutions. Revolutionary Engineering has been integrated into Millbrook, expanding both Millbrook’s offering to customers and presence in North America. Millbrook also expanded its automotive testing service capacity and capability at both its Finland and UK sites. </a:t>
            </a:r>
          </a:p>
        </p:txBody>
      </p:sp>
      <p:cxnSp>
        <p:nvCxnSpPr>
          <p:cNvPr id="4" name="Straight Connector 3">
            <a:extLst>
              <a:ext uri="{FF2B5EF4-FFF2-40B4-BE49-F238E27FC236}">
                <a16:creationId xmlns:a16="http://schemas.microsoft.com/office/drawing/2014/main" id="{6F2B074A-97C0-44E1-990C-CF1391FFE17E}"/>
              </a:ext>
            </a:extLst>
          </p:cNvPr>
          <p:cNvCxnSpPr>
            <a:cxnSpLocks/>
          </p:cNvCxnSpPr>
          <p:nvPr/>
        </p:nvCxnSpPr>
        <p:spPr>
          <a:xfrm flipV="1">
            <a:off x="641023" y="655061"/>
            <a:ext cx="10712777"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B7B1DA3-FA41-4BBC-9A47-8ED1713AB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97" y="4252475"/>
            <a:ext cx="2457736" cy="1950464"/>
          </a:xfrm>
          <a:prstGeom prst="rect">
            <a:avLst/>
          </a:prstGeom>
        </p:spPr>
      </p:pic>
      <p:pic>
        <p:nvPicPr>
          <p:cNvPr id="9" name="Picture 8">
            <a:extLst>
              <a:ext uri="{FF2B5EF4-FFF2-40B4-BE49-F238E27FC236}">
                <a16:creationId xmlns:a16="http://schemas.microsoft.com/office/drawing/2014/main" id="{BE772C49-FB72-4190-A647-AA8EB8141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811" y="3122476"/>
            <a:ext cx="2351381" cy="671823"/>
          </a:xfrm>
          <a:prstGeom prst="rect">
            <a:avLst/>
          </a:prstGeom>
        </p:spPr>
      </p:pic>
      <p:pic>
        <p:nvPicPr>
          <p:cNvPr id="11" name="Picture 10">
            <a:extLst>
              <a:ext uri="{FF2B5EF4-FFF2-40B4-BE49-F238E27FC236}">
                <a16:creationId xmlns:a16="http://schemas.microsoft.com/office/drawing/2014/main" id="{ED7B37D5-BCC3-466C-89A5-17CF01295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670" y="809557"/>
            <a:ext cx="2347663" cy="2254145"/>
          </a:xfrm>
          <a:prstGeom prst="rect">
            <a:avLst/>
          </a:prstGeom>
        </p:spPr>
      </p:pic>
      <p:pic>
        <p:nvPicPr>
          <p:cNvPr id="8" name="Picture 7">
            <a:extLst>
              <a:ext uri="{FF2B5EF4-FFF2-40B4-BE49-F238E27FC236}">
                <a16:creationId xmlns:a16="http://schemas.microsoft.com/office/drawing/2014/main" id="{EF25EDBB-E9CC-4408-9522-B3DE8ACFC2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1172" y="721354"/>
            <a:ext cx="1132512" cy="864165"/>
          </a:xfrm>
          <a:prstGeom prst="rect">
            <a:avLst/>
          </a:prstGeom>
        </p:spPr>
      </p:pic>
    </p:spTree>
    <p:extLst>
      <p:ext uri="{BB962C8B-B14F-4D97-AF65-F5344CB8AC3E}">
        <p14:creationId xmlns:p14="http://schemas.microsoft.com/office/powerpoint/2010/main" val="2392643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DD4FD-9D1E-49CF-BFA7-53035EFBCACE}"/>
              </a:ext>
            </a:extLst>
          </p:cNvPr>
          <p:cNvSpPr>
            <a:spLocks noGrp="1"/>
          </p:cNvSpPr>
          <p:nvPr>
            <p:ph type="title"/>
          </p:nvPr>
        </p:nvSpPr>
        <p:spPr>
          <a:xfrm>
            <a:off x="739611" y="137735"/>
            <a:ext cx="10515600" cy="671823"/>
          </a:xfrm>
        </p:spPr>
        <p:txBody>
          <a:bodyPr>
            <a:normAutofit/>
          </a:bodyPr>
          <a:lstStyle/>
          <a:p>
            <a:r>
              <a:rPr lang="en-IN" sz="2000" b="1" dirty="0">
                <a:latin typeface="+mn-lt"/>
              </a:rPr>
              <a:t>Strategic initiatives 2018,</a:t>
            </a:r>
            <a:r>
              <a:rPr lang="en-IN" sz="2000" b="1" dirty="0"/>
              <a:t> </a:t>
            </a:r>
            <a:r>
              <a:rPr lang="en-IN" sz="2000" b="1" dirty="0">
                <a:latin typeface="+mn-lt"/>
              </a:rPr>
              <a:t>IT Investments &amp; initiatives</a:t>
            </a:r>
          </a:p>
        </p:txBody>
      </p:sp>
      <p:sp>
        <p:nvSpPr>
          <p:cNvPr id="3" name="Content Placeholder 2">
            <a:extLst>
              <a:ext uri="{FF2B5EF4-FFF2-40B4-BE49-F238E27FC236}">
                <a16:creationId xmlns:a16="http://schemas.microsoft.com/office/drawing/2014/main" id="{4D441003-A233-4A3B-9808-AF1388924CD5}"/>
              </a:ext>
            </a:extLst>
          </p:cNvPr>
          <p:cNvSpPr>
            <a:spLocks noGrp="1"/>
          </p:cNvSpPr>
          <p:nvPr>
            <p:ph idx="1"/>
          </p:nvPr>
        </p:nvSpPr>
        <p:spPr>
          <a:xfrm>
            <a:off x="2931736" y="1068490"/>
            <a:ext cx="8563466" cy="5058933"/>
          </a:xfrm>
        </p:spPr>
        <p:txBody>
          <a:bodyPr>
            <a:noAutofit/>
          </a:bodyPr>
          <a:lstStyle/>
          <a:p>
            <a:endParaRPr lang="en-IN" sz="1400" dirty="0"/>
          </a:p>
          <a:p>
            <a:pPr algn="just"/>
            <a:r>
              <a:rPr lang="en-IN" sz="1600" dirty="0"/>
              <a:t>Acquisition of VI-grade, a leading global provider of vehicle simulation software, systems and services which complements the software and simulation capability of the automotive segment within HBK.</a:t>
            </a:r>
          </a:p>
          <a:p>
            <a:pPr algn="just"/>
            <a:r>
              <a:rPr lang="en-IN" sz="1600" dirty="0"/>
              <a:t>Acquisition of Revolutionary Engineering and VI-grade expands automotive offering with a US presence and in software simulation.</a:t>
            </a:r>
          </a:p>
          <a:p>
            <a:pPr algn="just"/>
            <a:r>
              <a:rPr lang="en-IN" sz="1600" dirty="0"/>
              <a:t>Merger of BKSV and HBM to deliver integrated test, measurement and data solutions to their customers and improve cost efficiencies. </a:t>
            </a:r>
          </a:p>
          <a:p>
            <a:pPr algn="just"/>
            <a:r>
              <a:rPr lang="en-IN" sz="1600" dirty="0"/>
              <a:t> Focus on Lean manufacturing initiatives with Kaizen events held across their  businesses to improve on-time delivery, quality and operational efficiency. </a:t>
            </a:r>
          </a:p>
          <a:p>
            <a:pPr algn="just"/>
            <a:r>
              <a:rPr lang="en-IN" sz="1600" dirty="0"/>
              <a:t>Acquisition of Concept Life Sciences, which provides integrated drug discovery, development, analytical testing and environmental consultancy services, as well as development and analytical services for the food, consumer and environmental industries</a:t>
            </a:r>
          </a:p>
          <a:p>
            <a:pPr algn="just"/>
            <a:r>
              <a:rPr lang="en-IN" sz="1600" dirty="0"/>
              <a:t>Group-wide direct and indirect procurement contracts signed, such as freight provision, to harmonise activities and leverage the Group scale to enhance terms. </a:t>
            </a:r>
          </a:p>
          <a:p>
            <a:pPr marL="0" indent="0">
              <a:buNone/>
            </a:pPr>
            <a:endParaRPr lang="en-IN" sz="1600" dirty="0"/>
          </a:p>
        </p:txBody>
      </p:sp>
      <p:cxnSp>
        <p:nvCxnSpPr>
          <p:cNvPr id="4" name="Straight Connector 3">
            <a:extLst>
              <a:ext uri="{FF2B5EF4-FFF2-40B4-BE49-F238E27FC236}">
                <a16:creationId xmlns:a16="http://schemas.microsoft.com/office/drawing/2014/main" id="{6F2B074A-97C0-44E1-990C-CF1391FFE17E}"/>
              </a:ext>
            </a:extLst>
          </p:cNvPr>
          <p:cNvCxnSpPr>
            <a:cxnSpLocks/>
          </p:cNvCxnSpPr>
          <p:nvPr/>
        </p:nvCxnSpPr>
        <p:spPr>
          <a:xfrm flipV="1">
            <a:off x="641023" y="655061"/>
            <a:ext cx="10712777"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B7B1DA3-FA41-4BBC-9A47-8ED1713ABA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97" y="4252475"/>
            <a:ext cx="2457736" cy="1950464"/>
          </a:xfrm>
          <a:prstGeom prst="rect">
            <a:avLst/>
          </a:prstGeom>
        </p:spPr>
      </p:pic>
      <p:pic>
        <p:nvPicPr>
          <p:cNvPr id="9" name="Picture 8">
            <a:extLst>
              <a:ext uri="{FF2B5EF4-FFF2-40B4-BE49-F238E27FC236}">
                <a16:creationId xmlns:a16="http://schemas.microsoft.com/office/drawing/2014/main" id="{BE772C49-FB72-4190-A647-AA8EB81418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811" y="3122476"/>
            <a:ext cx="2351381" cy="671823"/>
          </a:xfrm>
          <a:prstGeom prst="rect">
            <a:avLst/>
          </a:prstGeom>
        </p:spPr>
      </p:pic>
      <p:pic>
        <p:nvPicPr>
          <p:cNvPr id="11" name="Picture 10">
            <a:extLst>
              <a:ext uri="{FF2B5EF4-FFF2-40B4-BE49-F238E27FC236}">
                <a16:creationId xmlns:a16="http://schemas.microsoft.com/office/drawing/2014/main" id="{ED7B37D5-BCC3-466C-89A5-17CF01295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670" y="809557"/>
            <a:ext cx="2347663" cy="2254145"/>
          </a:xfrm>
          <a:prstGeom prst="rect">
            <a:avLst/>
          </a:prstGeom>
        </p:spPr>
      </p:pic>
      <p:pic>
        <p:nvPicPr>
          <p:cNvPr id="8" name="Picture 7">
            <a:extLst>
              <a:ext uri="{FF2B5EF4-FFF2-40B4-BE49-F238E27FC236}">
                <a16:creationId xmlns:a16="http://schemas.microsoft.com/office/drawing/2014/main" id="{B7AB3BDC-B6AA-4117-B808-D132ACC95F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36947" y="699447"/>
            <a:ext cx="1208013" cy="627438"/>
          </a:xfrm>
          <a:prstGeom prst="rect">
            <a:avLst/>
          </a:prstGeom>
        </p:spPr>
      </p:pic>
    </p:spTree>
    <p:extLst>
      <p:ext uri="{BB962C8B-B14F-4D97-AF65-F5344CB8AC3E}">
        <p14:creationId xmlns:p14="http://schemas.microsoft.com/office/powerpoint/2010/main" val="1855628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5E76-E14E-4775-B645-11AE67A9CDAA}"/>
              </a:ext>
            </a:extLst>
          </p:cNvPr>
          <p:cNvSpPr>
            <a:spLocks noGrp="1"/>
          </p:cNvSpPr>
          <p:nvPr>
            <p:ph type="title"/>
          </p:nvPr>
        </p:nvSpPr>
        <p:spPr>
          <a:xfrm>
            <a:off x="838200" y="402546"/>
            <a:ext cx="10515600" cy="315912"/>
          </a:xfrm>
        </p:spPr>
        <p:txBody>
          <a:bodyPr>
            <a:noAutofit/>
          </a:bodyPr>
          <a:lstStyle/>
          <a:p>
            <a:r>
              <a:rPr lang="en-IN" sz="2400" b="1" dirty="0">
                <a:latin typeface="+mn-lt"/>
              </a:rPr>
              <a:t>Industrial Controls- IT Investments &amp; initiatives</a:t>
            </a:r>
          </a:p>
        </p:txBody>
      </p:sp>
      <p:sp>
        <p:nvSpPr>
          <p:cNvPr id="3" name="Content Placeholder 2">
            <a:extLst>
              <a:ext uri="{FF2B5EF4-FFF2-40B4-BE49-F238E27FC236}">
                <a16:creationId xmlns:a16="http://schemas.microsoft.com/office/drawing/2014/main" id="{1237FF3A-0DEC-4E98-BBE4-93F1702182A9}"/>
              </a:ext>
            </a:extLst>
          </p:cNvPr>
          <p:cNvSpPr>
            <a:spLocks noGrp="1"/>
          </p:cNvSpPr>
          <p:nvPr>
            <p:ph idx="1"/>
          </p:nvPr>
        </p:nvSpPr>
        <p:spPr>
          <a:xfrm>
            <a:off x="3068213" y="923017"/>
            <a:ext cx="7512701" cy="5216525"/>
          </a:xfrm>
          <a:ln>
            <a:solidFill>
              <a:srgbClr val="0070C0"/>
            </a:solidFill>
          </a:ln>
        </p:spPr>
        <p:txBody>
          <a:bodyPr>
            <a:noAutofit/>
          </a:bodyPr>
          <a:lstStyle/>
          <a:p>
            <a:pPr>
              <a:buFont typeface="Wingdings" panose="05000000000000000000" pitchFamily="2" charset="2"/>
              <a:buChar char="Ø"/>
            </a:pPr>
            <a:r>
              <a:rPr lang="en-IN" sz="1400" dirty="0"/>
              <a:t>Industrial Controls operating companies provide products and solutions that measure, monitor, control and inform during the production process. The operating companies in this segment are Omega Engineering and Red Lion Controls. </a:t>
            </a:r>
          </a:p>
          <a:p>
            <a:pPr>
              <a:buFont typeface="Wingdings" panose="05000000000000000000" pitchFamily="2" charset="2"/>
              <a:buChar char="Ø"/>
            </a:pPr>
            <a:r>
              <a:rPr lang="en-IN" sz="1400" dirty="0"/>
              <a:t>The increasing emphasis on industrial connectivity and IIoT from the customers is generating opportunities for both Red Lion and Omega. </a:t>
            </a:r>
          </a:p>
          <a:p>
            <a:pPr>
              <a:buFont typeface="Wingdings" panose="05000000000000000000" pitchFamily="2" charset="2"/>
              <a:buChar char="Ø"/>
            </a:pPr>
            <a:r>
              <a:rPr lang="en-IN" sz="1400" dirty="0"/>
              <a:t>Red Lion included cloud connectivity to its </a:t>
            </a:r>
            <a:r>
              <a:rPr lang="en-IN" sz="1400" dirty="0">
                <a:solidFill>
                  <a:srgbClr val="00B0F0"/>
                </a:solidFill>
              </a:rPr>
              <a:t>Crimson software platform</a:t>
            </a:r>
            <a:r>
              <a:rPr lang="en-IN" sz="1400" dirty="0"/>
              <a:t>, allowing the data collected from industrial devices to be pushed to platforms that include </a:t>
            </a:r>
            <a:r>
              <a:rPr lang="en-IN" sz="1400" dirty="0">
                <a:solidFill>
                  <a:srgbClr val="00B0F0"/>
                </a:solidFill>
              </a:rPr>
              <a:t>Amazon AWS or Microsoft Azure</a:t>
            </a:r>
            <a:r>
              <a:rPr lang="en-IN" sz="1400" dirty="0"/>
              <a:t>. This further broadened the company’s market, and has made forays in several key verticals, including energy exploration and alternative energy. The company also added OPC UA functionality, a machine to machine communication protocol for industrial automation, allowing access to data.</a:t>
            </a:r>
          </a:p>
          <a:p>
            <a:pPr>
              <a:buFont typeface="Wingdings" panose="05000000000000000000" pitchFamily="2" charset="2"/>
              <a:buChar char="Ø"/>
            </a:pPr>
            <a:r>
              <a:rPr lang="en-IN" sz="1400" dirty="0"/>
              <a:t>Red Lion has also been refreshing its product lines. For example, it launched the </a:t>
            </a:r>
            <a:r>
              <a:rPr lang="en-IN" sz="1400" dirty="0">
                <a:solidFill>
                  <a:srgbClr val="00B0F0"/>
                </a:solidFill>
              </a:rPr>
              <a:t>DA10D and DA30D protocol conversion and data acquisition devices</a:t>
            </a:r>
            <a:r>
              <a:rPr lang="en-IN" sz="1400" dirty="0"/>
              <a:t>, providing customers with a cost-effective way of unlocking the value of data contained in legacy equipment. </a:t>
            </a:r>
          </a:p>
          <a:p>
            <a:pPr>
              <a:buFont typeface="Wingdings" panose="05000000000000000000" pitchFamily="2" charset="2"/>
              <a:buChar char="Ø"/>
            </a:pPr>
            <a:r>
              <a:rPr lang="en-IN" sz="1400" dirty="0"/>
              <a:t>With user-friendly software, customers can quickly configure communications links to over 300 types of industrial controllers, allowing them to cost-effectively monitor and manage machines Their data collection strategy and secure access to their manufacturing information is increasing demand for these types of products. </a:t>
            </a:r>
          </a:p>
          <a:p>
            <a:pPr>
              <a:buFont typeface="Wingdings" panose="05000000000000000000" pitchFamily="2" charset="2"/>
              <a:buChar char="Ø"/>
            </a:pPr>
            <a:r>
              <a:rPr lang="en-IN" sz="1400" dirty="0"/>
              <a:t>The connectivity capability of Omega’s portfolio was similarly expanded with the launch of four product platforms with wireless, ethernet and/or remote connectivity, while also extending the ability of existing platforms to utilise new types of measurement inputs and send data through wireless connections. Omega and Red Lion have begun collaborating to find ways to leverage their digital infrastructure to improvise their product offering to customers</a:t>
            </a:r>
          </a:p>
        </p:txBody>
      </p:sp>
      <p:pic>
        <p:nvPicPr>
          <p:cNvPr id="5" name="Picture 4">
            <a:extLst>
              <a:ext uri="{FF2B5EF4-FFF2-40B4-BE49-F238E27FC236}">
                <a16:creationId xmlns:a16="http://schemas.microsoft.com/office/drawing/2014/main" id="{1949A425-6C34-4A22-A938-9BF1E82501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84" y="1649186"/>
            <a:ext cx="2871715" cy="2204357"/>
          </a:xfrm>
          <a:prstGeom prst="rect">
            <a:avLst/>
          </a:prstGeom>
        </p:spPr>
      </p:pic>
      <p:pic>
        <p:nvPicPr>
          <p:cNvPr id="6" name="Picture 5">
            <a:extLst>
              <a:ext uri="{FF2B5EF4-FFF2-40B4-BE49-F238E27FC236}">
                <a16:creationId xmlns:a16="http://schemas.microsoft.com/office/drawing/2014/main" id="{7C3D9D04-303C-4077-A134-C069AA8EA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87708" y="162322"/>
            <a:ext cx="804413" cy="658415"/>
          </a:xfrm>
          <a:prstGeom prst="rect">
            <a:avLst/>
          </a:prstGeom>
        </p:spPr>
      </p:pic>
    </p:spTree>
    <p:extLst>
      <p:ext uri="{BB962C8B-B14F-4D97-AF65-F5344CB8AC3E}">
        <p14:creationId xmlns:p14="http://schemas.microsoft.com/office/powerpoint/2010/main" val="1692847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5E76-E14E-4775-B645-11AE67A9CDAA}"/>
              </a:ext>
            </a:extLst>
          </p:cNvPr>
          <p:cNvSpPr>
            <a:spLocks noGrp="1"/>
          </p:cNvSpPr>
          <p:nvPr>
            <p:ph type="title"/>
          </p:nvPr>
        </p:nvSpPr>
        <p:spPr>
          <a:xfrm>
            <a:off x="838200" y="365126"/>
            <a:ext cx="10515600" cy="315912"/>
          </a:xfrm>
        </p:spPr>
        <p:txBody>
          <a:bodyPr>
            <a:noAutofit/>
          </a:bodyPr>
          <a:lstStyle/>
          <a:p>
            <a:r>
              <a:rPr lang="en-IN" sz="2400" b="1" dirty="0">
                <a:latin typeface="+mn-lt"/>
              </a:rPr>
              <a:t>In-Line Instruments: IT Investments &amp; initiatives</a:t>
            </a:r>
          </a:p>
        </p:txBody>
      </p:sp>
      <p:sp>
        <p:nvSpPr>
          <p:cNvPr id="3" name="Content Placeholder 2">
            <a:extLst>
              <a:ext uri="{FF2B5EF4-FFF2-40B4-BE49-F238E27FC236}">
                <a16:creationId xmlns:a16="http://schemas.microsoft.com/office/drawing/2014/main" id="{1237FF3A-0DEC-4E98-BBE4-93F1702182A9}"/>
              </a:ext>
            </a:extLst>
          </p:cNvPr>
          <p:cNvSpPr>
            <a:spLocks noGrp="1"/>
          </p:cNvSpPr>
          <p:nvPr>
            <p:ph idx="1"/>
          </p:nvPr>
        </p:nvSpPr>
        <p:spPr>
          <a:xfrm>
            <a:off x="3068213" y="923017"/>
            <a:ext cx="7512701" cy="5216525"/>
          </a:xfrm>
          <a:ln>
            <a:solidFill>
              <a:srgbClr val="0070C0"/>
            </a:solidFill>
          </a:ln>
        </p:spPr>
        <p:txBody>
          <a:bodyPr>
            <a:noAutofit/>
          </a:bodyPr>
          <a:lstStyle/>
          <a:p>
            <a:pPr>
              <a:buFont typeface="Wingdings" panose="05000000000000000000" pitchFamily="2" charset="2"/>
              <a:buChar char="Ø"/>
            </a:pPr>
            <a:r>
              <a:rPr lang="en-IN" sz="1400" dirty="0"/>
              <a:t>In-line Instrumentation operating companies provide process analytical measurement, asset monitoring and on-line controls, as well as associated consumables and services for both primary processing and the converting industries. The operating companies in this segment are </a:t>
            </a:r>
            <a:r>
              <a:rPr lang="en-IN" sz="1400" dirty="0" err="1"/>
              <a:t>Brüel</a:t>
            </a:r>
            <a:r>
              <a:rPr lang="en-IN" sz="1400" dirty="0"/>
              <a:t> &amp; </a:t>
            </a:r>
            <a:r>
              <a:rPr lang="en-IN" sz="1400" dirty="0" err="1"/>
              <a:t>Kjær</a:t>
            </a:r>
            <a:r>
              <a:rPr lang="en-IN" sz="1400" dirty="0"/>
              <a:t> </a:t>
            </a:r>
            <a:r>
              <a:rPr lang="en-IN" sz="1400" dirty="0" err="1"/>
              <a:t>Vibro</a:t>
            </a:r>
            <a:r>
              <a:rPr lang="en-IN" sz="1400" dirty="0"/>
              <a:t>, BTG, NDC Technologies (‘NDCT’) and </a:t>
            </a:r>
            <a:r>
              <a:rPr lang="en-IN" sz="1400" dirty="0" err="1"/>
              <a:t>Servomex</a:t>
            </a:r>
            <a:r>
              <a:rPr lang="en-IN" sz="1400" dirty="0"/>
              <a:t>. </a:t>
            </a:r>
          </a:p>
          <a:p>
            <a:pPr>
              <a:buFont typeface="Wingdings" panose="05000000000000000000" pitchFamily="2" charset="2"/>
              <a:buChar char="Ø"/>
            </a:pPr>
            <a:r>
              <a:rPr lang="en-IN" sz="1400" dirty="0"/>
              <a:t>The </a:t>
            </a:r>
            <a:r>
              <a:rPr lang="en-IN" sz="1400" dirty="0">
                <a:solidFill>
                  <a:srgbClr val="00B0F0"/>
                </a:solidFill>
              </a:rPr>
              <a:t>Capstone </a:t>
            </a:r>
            <a:r>
              <a:rPr lang="en-IN" sz="1400" dirty="0" err="1">
                <a:solidFill>
                  <a:srgbClr val="00B0F0"/>
                </a:solidFill>
              </a:rPr>
              <a:t>dataPARC</a:t>
            </a:r>
            <a:r>
              <a:rPr lang="en-IN" sz="1400" dirty="0">
                <a:solidFill>
                  <a:srgbClr val="00B0F0"/>
                </a:solidFill>
              </a:rPr>
              <a:t> analytics </a:t>
            </a:r>
            <a:r>
              <a:rPr lang="en-IN" sz="1400" dirty="0"/>
              <a:t>offering also continues to be deployed in several process industries, including power generation, chemical, wastewater and ethanol. For instance, a leading Korean utility company is replacing its existing data history with </a:t>
            </a:r>
            <a:r>
              <a:rPr lang="en-IN" sz="1400" dirty="0" err="1">
                <a:solidFill>
                  <a:srgbClr val="00B0F0"/>
                </a:solidFill>
              </a:rPr>
              <a:t>dataPARC</a:t>
            </a:r>
            <a:r>
              <a:rPr lang="en-IN" sz="1400" dirty="0"/>
              <a:t> across all their generation sites as the real-time data and information gathered through </a:t>
            </a:r>
            <a:r>
              <a:rPr lang="en-IN" sz="1400" dirty="0" err="1">
                <a:solidFill>
                  <a:srgbClr val="00B0F0"/>
                </a:solidFill>
              </a:rPr>
              <a:t>dataPARC</a:t>
            </a:r>
            <a:r>
              <a:rPr lang="en-IN" sz="1400" dirty="0"/>
              <a:t> is also integrated with the customer’s predictive modelling infrastructure.</a:t>
            </a:r>
          </a:p>
          <a:p>
            <a:pPr>
              <a:buFont typeface="Wingdings" panose="05000000000000000000" pitchFamily="2" charset="2"/>
              <a:buChar char="Ø"/>
            </a:pPr>
            <a:r>
              <a:rPr lang="en-IN" sz="1400" dirty="0" err="1"/>
              <a:t>Brüel</a:t>
            </a:r>
            <a:r>
              <a:rPr lang="en-IN" sz="1400" dirty="0"/>
              <a:t> &amp; </a:t>
            </a:r>
            <a:r>
              <a:rPr lang="en-IN" sz="1400" dirty="0" err="1"/>
              <a:t>Kjær</a:t>
            </a:r>
            <a:r>
              <a:rPr lang="en-IN" sz="1400" dirty="0"/>
              <a:t> </a:t>
            </a:r>
            <a:r>
              <a:rPr lang="en-IN" sz="1400" dirty="0" err="1"/>
              <a:t>Vibro’s</a:t>
            </a:r>
            <a:r>
              <a:rPr lang="en-IN" sz="1400" dirty="0"/>
              <a:t> wind turbine condition monitoring system provide remote turbine monitoring and diagnostic services.</a:t>
            </a:r>
          </a:p>
          <a:p>
            <a:pPr>
              <a:buFont typeface="Wingdings" panose="05000000000000000000" pitchFamily="2" charset="2"/>
              <a:buChar char="Ø"/>
            </a:pPr>
            <a:r>
              <a:rPr lang="en-IN" sz="1400" dirty="0"/>
              <a:t>The wind turbine condition monitoring system provide remote turbine monitoring and diagnostic services as there is demand from various OEMs.  It provides more predictive analysis and a more holistic monitoring solution.</a:t>
            </a:r>
          </a:p>
        </p:txBody>
      </p:sp>
      <p:pic>
        <p:nvPicPr>
          <p:cNvPr id="6" name="Picture 5">
            <a:extLst>
              <a:ext uri="{FF2B5EF4-FFF2-40B4-BE49-F238E27FC236}">
                <a16:creationId xmlns:a16="http://schemas.microsoft.com/office/drawing/2014/main" id="{44E1F452-DD3C-412D-A466-DC85B80C5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86" y="1467529"/>
            <a:ext cx="2790627" cy="2737077"/>
          </a:xfrm>
          <a:prstGeom prst="rect">
            <a:avLst/>
          </a:prstGeom>
        </p:spPr>
      </p:pic>
      <p:pic>
        <p:nvPicPr>
          <p:cNvPr id="7" name="Picture 6">
            <a:extLst>
              <a:ext uri="{FF2B5EF4-FFF2-40B4-BE49-F238E27FC236}">
                <a16:creationId xmlns:a16="http://schemas.microsoft.com/office/drawing/2014/main" id="{E0B279CB-3A80-414A-8BC6-19F4DF558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2665" y="143612"/>
            <a:ext cx="1056510" cy="779405"/>
          </a:xfrm>
          <a:prstGeom prst="rect">
            <a:avLst/>
          </a:prstGeom>
        </p:spPr>
      </p:pic>
    </p:spTree>
    <p:extLst>
      <p:ext uri="{BB962C8B-B14F-4D97-AF65-F5344CB8AC3E}">
        <p14:creationId xmlns:p14="http://schemas.microsoft.com/office/powerpoint/2010/main" val="734075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5E76-E14E-4775-B645-11AE67A9CDAA}"/>
              </a:ext>
            </a:extLst>
          </p:cNvPr>
          <p:cNvSpPr>
            <a:spLocks noGrp="1"/>
          </p:cNvSpPr>
          <p:nvPr>
            <p:ph type="title"/>
          </p:nvPr>
        </p:nvSpPr>
        <p:spPr>
          <a:xfrm>
            <a:off x="838200" y="365126"/>
            <a:ext cx="10515600" cy="315912"/>
          </a:xfrm>
        </p:spPr>
        <p:txBody>
          <a:bodyPr>
            <a:noAutofit/>
          </a:bodyPr>
          <a:lstStyle/>
          <a:p>
            <a:r>
              <a:rPr lang="en-IN" sz="2400" dirty="0">
                <a:latin typeface="+mn-lt"/>
              </a:rPr>
              <a:t>Test &amp; Measurement: IT Investments &amp; initiatives</a:t>
            </a:r>
          </a:p>
        </p:txBody>
      </p:sp>
      <p:sp>
        <p:nvSpPr>
          <p:cNvPr id="3" name="Content Placeholder 2">
            <a:extLst>
              <a:ext uri="{FF2B5EF4-FFF2-40B4-BE49-F238E27FC236}">
                <a16:creationId xmlns:a16="http://schemas.microsoft.com/office/drawing/2014/main" id="{1237FF3A-0DEC-4E98-BBE4-93F1702182A9}"/>
              </a:ext>
            </a:extLst>
          </p:cNvPr>
          <p:cNvSpPr>
            <a:spLocks noGrp="1"/>
          </p:cNvSpPr>
          <p:nvPr>
            <p:ph idx="1"/>
          </p:nvPr>
        </p:nvSpPr>
        <p:spPr>
          <a:xfrm>
            <a:off x="3068213" y="923017"/>
            <a:ext cx="7512701" cy="5216525"/>
          </a:xfrm>
          <a:solidFill>
            <a:schemeClr val="bg1"/>
          </a:solidFill>
          <a:ln>
            <a:solidFill>
              <a:srgbClr val="0070C0"/>
            </a:solidFill>
          </a:ln>
        </p:spPr>
        <p:txBody>
          <a:bodyPr>
            <a:noAutofit/>
          </a:bodyPr>
          <a:lstStyle/>
          <a:p>
            <a:pPr>
              <a:buFont typeface="Wingdings" panose="05000000000000000000" pitchFamily="2" charset="2"/>
              <a:buChar char="Ø"/>
            </a:pPr>
            <a:r>
              <a:rPr lang="en-IN" sz="1400" dirty="0"/>
              <a:t>In 2018, HBM &amp; BKSV companies launched new software products which aim to streamline and simplify data acquisition and monitoring: HBM has launched </a:t>
            </a:r>
            <a:r>
              <a:rPr lang="en-IN" sz="1400" dirty="0">
                <a:solidFill>
                  <a:srgbClr val="00B0F0"/>
                </a:solidFill>
              </a:rPr>
              <a:t>EVIDAS</a:t>
            </a:r>
            <a:r>
              <a:rPr lang="en-IN" sz="1400" dirty="0"/>
              <a:t>, its next-generation data acquisition and analysis software with cloud integration, and BKSV released </a:t>
            </a:r>
            <a:r>
              <a:rPr lang="en-IN" sz="1400" dirty="0">
                <a:solidFill>
                  <a:srgbClr val="00B0F0"/>
                </a:solidFill>
              </a:rPr>
              <a:t>BK Connect</a:t>
            </a:r>
            <a:r>
              <a:rPr lang="en-IN" sz="1400" dirty="0"/>
              <a:t>, a highly innovative sound and vibration software analytics platform. </a:t>
            </a:r>
          </a:p>
          <a:p>
            <a:pPr>
              <a:buFont typeface="Wingdings" panose="05000000000000000000" pitchFamily="2" charset="2"/>
              <a:buChar char="Ø"/>
            </a:pPr>
            <a:r>
              <a:rPr lang="en-IN" sz="1400" dirty="0"/>
              <a:t>These platforms help combine seamless data acquisition, monitoring, multiple analysis, data viewing and reporting in the same system. HBM also launched </a:t>
            </a:r>
            <a:r>
              <a:rPr lang="en-IN" sz="1400" dirty="0" err="1">
                <a:solidFill>
                  <a:srgbClr val="00B0F0"/>
                </a:solidFill>
              </a:rPr>
              <a:t>ClipX</a:t>
            </a:r>
            <a:r>
              <a:rPr lang="en-IN" sz="1400" dirty="0"/>
              <a:t>, a novel miniaturised data acquisition product for industrial applications.</a:t>
            </a:r>
          </a:p>
          <a:p>
            <a:pPr>
              <a:buFont typeface="Wingdings" panose="05000000000000000000" pitchFamily="2" charset="2"/>
              <a:buChar char="Ø"/>
            </a:pPr>
            <a:r>
              <a:rPr lang="en-IN" sz="1400" dirty="0"/>
              <a:t>Demand for ESG’s </a:t>
            </a:r>
            <a:r>
              <a:rPr lang="en-IN" sz="1400" dirty="0" err="1"/>
              <a:t>microseismic</a:t>
            </a:r>
            <a:r>
              <a:rPr lang="en-IN" sz="1400" dirty="0"/>
              <a:t> monitoring solutions increased due to improved conditions in global oil and gas and mining markets and a rising rig count and the launch of new oil and gas and mining projects.</a:t>
            </a:r>
          </a:p>
          <a:p>
            <a:pPr>
              <a:buFont typeface="Wingdings" panose="05000000000000000000" pitchFamily="2" charset="2"/>
              <a:buChar char="Ø"/>
            </a:pPr>
            <a:r>
              <a:rPr lang="en-IN" sz="1400" dirty="0"/>
              <a:t>Increased sales of the new </a:t>
            </a:r>
            <a:r>
              <a:rPr lang="en-IN" sz="1400" dirty="0" err="1"/>
              <a:t>microseismic</a:t>
            </a:r>
            <a:r>
              <a:rPr lang="en-IN" sz="1400" dirty="0"/>
              <a:t> data acquisition, processing and analysis product, </a:t>
            </a:r>
            <a:r>
              <a:rPr lang="en-IN" sz="1400" dirty="0">
                <a:solidFill>
                  <a:srgbClr val="00B0F0"/>
                </a:solidFill>
              </a:rPr>
              <a:t>FRACMAP® Clarity</a:t>
            </a:r>
            <a:r>
              <a:rPr lang="en-IN" sz="1400" dirty="0"/>
              <a:t>, and insights for oil and gas customers on the productive fracture network and reservoir coverage and an improved estimate of recoverable resource.</a:t>
            </a:r>
          </a:p>
          <a:p>
            <a:pPr>
              <a:buFont typeface="Wingdings" panose="05000000000000000000" pitchFamily="2" charset="2"/>
              <a:buChar char="Ø"/>
            </a:pPr>
            <a:endParaRPr lang="en-IN" sz="1400" dirty="0"/>
          </a:p>
        </p:txBody>
      </p:sp>
      <p:pic>
        <p:nvPicPr>
          <p:cNvPr id="6" name="Picture 5">
            <a:extLst>
              <a:ext uri="{FF2B5EF4-FFF2-40B4-BE49-F238E27FC236}">
                <a16:creationId xmlns:a16="http://schemas.microsoft.com/office/drawing/2014/main" id="{0182A1EE-8BF5-4EE8-9B43-E0AB0BEC9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863" y="1902504"/>
            <a:ext cx="2800350" cy="2212296"/>
          </a:xfrm>
          <a:prstGeom prst="rect">
            <a:avLst/>
          </a:prstGeom>
        </p:spPr>
      </p:pic>
      <p:pic>
        <p:nvPicPr>
          <p:cNvPr id="7" name="Picture 6">
            <a:extLst>
              <a:ext uri="{FF2B5EF4-FFF2-40B4-BE49-F238E27FC236}">
                <a16:creationId xmlns:a16="http://schemas.microsoft.com/office/drawing/2014/main" id="{08251B9B-C1F4-458B-B372-8EC8CC1E28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6889" y="143612"/>
            <a:ext cx="1090066" cy="854678"/>
          </a:xfrm>
          <a:prstGeom prst="rect">
            <a:avLst/>
          </a:prstGeom>
        </p:spPr>
      </p:pic>
    </p:spTree>
    <p:extLst>
      <p:ext uri="{BB962C8B-B14F-4D97-AF65-F5344CB8AC3E}">
        <p14:creationId xmlns:p14="http://schemas.microsoft.com/office/powerpoint/2010/main" val="2118242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05E76-E14E-4775-B645-11AE67A9CDAA}"/>
              </a:ext>
            </a:extLst>
          </p:cNvPr>
          <p:cNvSpPr>
            <a:spLocks noGrp="1"/>
          </p:cNvSpPr>
          <p:nvPr>
            <p:ph type="title"/>
          </p:nvPr>
        </p:nvSpPr>
        <p:spPr>
          <a:xfrm>
            <a:off x="838200" y="365125"/>
            <a:ext cx="10515600" cy="315912"/>
          </a:xfrm>
        </p:spPr>
        <p:txBody>
          <a:bodyPr>
            <a:noAutofit/>
          </a:bodyPr>
          <a:lstStyle/>
          <a:p>
            <a:r>
              <a:rPr lang="en-IN" sz="2400" b="1" dirty="0">
                <a:latin typeface="+mn-lt"/>
              </a:rPr>
              <a:t>Material Analysis: IT Investments &amp; initiatives</a:t>
            </a:r>
          </a:p>
        </p:txBody>
      </p:sp>
      <p:sp>
        <p:nvSpPr>
          <p:cNvPr id="3" name="Content Placeholder 2">
            <a:extLst>
              <a:ext uri="{FF2B5EF4-FFF2-40B4-BE49-F238E27FC236}">
                <a16:creationId xmlns:a16="http://schemas.microsoft.com/office/drawing/2014/main" id="{1237FF3A-0DEC-4E98-BBE4-93F1702182A9}"/>
              </a:ext>
            </a:extLst>
          </p:cNvPr>
          <p:cNvSpPr>
            <a:spLocks noGrp="1"/>
          </p:cNvSpPr>
          <p:nvPr>
            <p:ph idx="1"/>
          </p:nvPr>
        </p:nvSpPr>
        <p:spPr>
          <a:xfrm>
            <a:off x="3068213" y="923017"/>
            <a:ext cx="7512701" cy="5216525"/>
          </a:xfrm>
          <a:ln>
            <a:solidFill>
              <a:srgbClr val="0070C0"/>
            </a:solidFill>
          </a:ln>
        </p:spPr>
        <p:txBody>
          <a:bodyPr>
            <a:noAutofit/>
          </a:bodyPr>
          <a:lstStyle/>
          <a:p>
            <a:pPr>
              <a:buFont typeface="Wingdings" panose="05000000000000000000" pitchFamily="2" charset="2"/>
              <a:buChar char="Ø"/>
            </a:pPr>
            <a:r>
              <a:rPr lang="en-IN" sz="1400" dirty="0"/>
              <a:t>Materials Analysis operating companies provide products and services that enable customers to determine structure, composition, quantity and quality of particles and materials, during their research and product development processes, when assessing materials before production, or during the manufacturing process. The operating companies in this segment are Malvern </a:t>
            </a:r>
            <a:r>
              <a:rPr lang="en-IN" sz="1400" dirty="0" err="1"/>
              <a:t>Panalytical</a:t>
            </a:r>
            <a:r>
              <a:rPr lang="en-IN" sz="1400" dirty="0"/>
              <a:t>, Particle Measuring Systems (‘PMS’) and Concept Life Sciences.</a:t>
            </a:r>
          </a:p>
          <a:p>
            <a:pPr>
              <a:buFont typeface="Wingdings" panose="05000000000000000000" pitchFamily="2" charset="2"/>
              <a:buChar char="Ø"/>
            </a:pPr>
            <a:r>
              <a:rPr lang="en-IN" sz="1400" dirty="0"/>
              <a:t>Several new products were launched by Malvern </a:t>
            </a:r>
            <a:r>
              <a:rPr lang="en-IN" sz="1400" dirty="0" err="1"/>
              <a:t>Panalytical</a:t>
            </a:r>
            <a:r>
              <a:rPr lang="en-IN" sz="1400" dirty="0"/>
              <a:t> and these included </a:t>
            </a:r>
            <a:r>
              <a:rPr lang="en-IN" sz="1400" dirty="0">
                <a:solidFill>
                  <a:srgbClr val="00B0F0"/>
                </a:solidFill>
              </a:rPr>
              <a:t>the Epsilon 4 XRF</a:t>
            </a:r>
            <a:r>
              <a:rPr lang="en-IN" sz="1400" dirty="0"/>
              <a:t> spectrometer, a new high-performance benchtop analytical tool for determining the chemical composition of different materials. It is applicable to industries such as mining, pharmaceuticals and oils/fuels which need to comply with international regulations and test methods. </a:t>
            </a:r>
          </a:p>
          <a:p>
            <a:pPr>
              <a:buFont typeface="Wingdings" panose="05000000000000000000" pitchFamily="2" charset="2"/>
              <a:buChar char="Ø"/>
            </a:pPr>
            <a:r>
              <a:rPr lang="en-IN" sz="1400" dirty="0"/>
              <a:t>PMS released the next generation of </a:t>
            </a:r>
            <a:r>
              <a:rPr lang="en-IN" sz="1400" dirty="0" err="1">
                <a:solidFill>
                  <a:srgbClr val="00B0F0"/>
                </a:solidFill>
              </a:rPr>
              <a:t>FacilityPro</a:t>
            </a:r>
            <a:r>
              <a:rPr lang="en-IN" sz="1400" dirty="0">
                <a:solidFill>
                  <a:srgbClr val="00B0F0"/>
                </a:solidFill>
              </a:rPr>
              <a:t> </a:t>
            </a:r>
            <a:r>
              <a:rPr lang="en-IN" sz="1400" dirty="0"/>
              <a:t>products which deliver enhanced flexibility to meet the latest environmental monitoring needs whilst ensuring data security and reliability.</a:t>
            </a:r>
          </a:p>
          <a:p>
            <a:pPr>
              <a:buFont typeface="Wingdings" panose="05000000000000000000" pitchFamily="2" charset="2"/>
              <a:buChar char="Ø"/>
            </a:pPr>
            <a:r>
              <a:rPr lang="en-IN" sz="1400" dirty="0"/>
              <a:t>Following partnership with </a:t>
            </a:r>
            <a:r>
              <a:rPr lang="en-IN" sz="1400" dirty="0" err="1"/>
              <a:t>Novatek</a:t>
            </a:r>
            <a:r>
              <a:rPr lang="en-IN" sz="1400" dirty="0"/>
              <a:t> International to provide a fully-integrated software and hardware solution for environmental monitoring, PMS launched the first fully-integrated Quality Assurance data management system for pharmaceutical manufacturers, </a:t>
            </a:r>
            <a:r>
              <a:rPr lang="en-IN" sz="1400" dirty="0" err="1">
                <a:solidFill>
                  <a:srgbClr val="00B0F0"/>
                </a:solidFill>
              </a:rPr>
              <a:t>PharmaIntegrity</a:t>
            </a:r>
            <a:r>
              <a:rPr lang="en-IN" sz="1400" dirty="0"/>
              <a:t>, to meet regulatory requirements and ensure product integrity.</a:t>
            </a:r>
          </a:p>
        </p:txBody>
      </p:sp>
      <p:pic>
        <p:nvPicPr>
          <p:cNvPr id="6" name="Picture 5">
            <a:extLst>
              <a:ext uri="{FF2B5EF4-FFF2-40B4-BE49-F238E27FC236}">
                <a16:creationId xmlns:a16="http://schemas.microsoft.com/office/drawing/2014/main" id="{83030329-BA49-4D09-95A0-EDA8B5147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72" y="1828799"/>
            <a:ext cx="2857500" cy="2188029"/>
          </a:xfrm>
          <a:prstGeom prst="rect">
            <a:avLst/>
          </a:prstGeom>
        </p:spPr>
      </p:pic>
      <p:pic>
        <p:nvPicPr>
          <p:cNvPr id="7" name="Picture 6">
            <a:extLst>
              <a:ext uri="{FF2B5EF4-FFF2-40B4-BE49-F238E27FC236}">
                <a16:creationId xmlns:a16="http://schemas.microsoft.com/office/drawing/2014/main" id="{1297C049-4763-4200-B032-91EB9AB8E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2055" y="0"/>
            <a:ext cx="1132011" cy="852289"/>
          </a:xfrm>
          <a:prstGeom prst="rect">
            <a:avLst/>
          </a:prstGeom>
        </p:spPr>
      </p:pic>
    </p:spTree>
    <p:extLst>
      <p:ext uri="{BB962C8B-B14F-4D97-AF65-F5344CB8AC3E}">
        <p14:creationId xmlns:p14="http://schemas.microsoft.com/office/powerpoint/2010/main" val="2939506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3938C-C151-4BE5-80F6-4BBC8CDDD64A}"/>
              </a:ext>
            </a:extLst>
          </p:cNvPr>
          <p:cNvSpPr>
            <a:spLocks noGrp="1"/>
          </p:cNvSpPr>
          <p:nvPr>
            <p:ph type="title"/>
          </p:nvPr>
        </p:nvSpPr>
        <p:spPr>
          <a:xfrm>
            <a:off x="838200" y="376001"/>
            <a:ext cx="10515600" cy="973818"/>
          </a:xfrm>
        </p:spPr>
        <p:txBody>
          <a:bodyPr>
            <a:normAutofit/>
          </a:bodyPr>
          <a:lstStyle/>
          <a:p>
            <a:r>
              <a:rPr lang="en-IN" sz="2400" b="1" dirty="0">
                <a:latin typeface="+mn-lt"/>
              </a:rPr>
              <a:t>Insights for IT service providers</a:t>
            </a:r>
          </a:p>
        </p:txBody>
      </p:sp>
      <p:pic>
        <p:nvPicPr>
          <p:cNvPr id="5" name="Content Placeholder 4">
            <a:extLst>
              <a:ext uri="{FF2B5EF4-FFF2-40B4-BE49-F238E27FC236}">
                <a16:creationId xmlns:a16="http://schemas.microsoft.com/office/drawing/2014/main" id="{27895464-76F7-4696-BB59-879A1C9D13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444" y="2084004"/>
            <a:ext cx="3668487" cy="2491242"/>
          </a:xfrm>
        </p:spPr>
      </p:pic>
      <p:sp>
        <p:nvSpPr>
          <p:cNvPr id="6" name="TextBox 5">
            <a:extLst>
              <a:ext uri="{FF2B5EF4-FFF2-40B4-BE49-F238E27FC236}">
                <a16:creationId xmlns:a16="http://schemas.microsoft.com/office/drawing/2014/main" id="{E258290A-EA92-4F4E-A75B-36E1B3593A3F}"/>
              </a:ext>
            </a:extLst>
          </p:cNvPr>
          <p:cNvSpPr txBox="1"/>
          <p:nvPr/>
        </p:nvSpPr>
        <p:spPr>
          <a:xfrm>
            <a:off x="5197566" y="1209680"/>
            <a:ext cx="6262007" cy="4524315"/>
          </a:xfrm>
          <a:prstGeom prst="rect">
            <a:avLst/>
          </a:prstGeom>
          <a:noFill/>
        </p:spPr>
        <p:txBody>
          <a:bodyPr wrap="square" rtlCol="0">
            <a:spAutoFit/>
          </a:bodyPr>
          <a:lstStyle/>
          <a:p>
            <a:pPr marL="171450" indent="-171450">
              <a:buFont typeface="Wingdings" panose="05000000000000000000" pitchFamily="2" charset="2"/>
              <a:buChar char="Ø"/>
            </a:pPr>
            <a:r>
              <a:rPr lang="en-IN" sz="1200" dirty="0"/>
              <a:t> IT service providers need to manufacture their version of sophisticated software to compete with the software developed and marketed by the company for various industries such as Automotive, pharmaceuticals, test and measurements, manufacturing and so on.</a:t>
            </a:r>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r>
              <a:rPr lang="en-IN" sz="1200" dirty="0"/>
              <a:t>Apart from providing platforms such as Amazon AWS or Microsoft Azure, IT service providers need to manufacture and  market their cloud computing platform catering to industrial machines. Various version of more easy-to-use IIoT software analytical packages need to be  marketed to future customers. </a:t>
            </a:r>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r>
              <a:rPr lang="en-IN" sz="1200" dirty="0"/>
              <a:t>Thorough understanding of the industrial machinery and the software analytical packages being used are needed for IT service provides to stay in the market competition.</a:t>
            </a:r>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r>
              <a:rPr lang="en-IN" sz="1200" dirty="0"/>
              <a:t> Maintenance and product as a service (PaaS)packages will add more value to any software provided by IT service companies. Regular IT training  to companies on the ever-evolving technology will also ensure steady partnership between software service providers and companies.</a:t>
            </a:r>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r>
              <a:rPr lang="en-IN" sz="1200" dirty="0"/>
              <a:t>With the emergence of smart factories(industrial 4.0),  the convergence of physical and digital worlds through technology, engineering and manufacturing expertise has become absolutely essential to boost clients’ competitiveness in responding with solutions across product lifecycle value chain.</a:t>
            </a:r>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endParaRPr lang="en-IN" sz="1200" dirty="0"/>
          </a:p>
          <a:p>
            <a:pPr marL="171450" indent="-171450">
              <a:buFont typeface="Wingdings" panose="05000000000000000000" pitchFamily="2" charset="2"/>
              <a:buChar char="Ø"/>
            </a:pPr>
            <a:endParaRPr lang="en-IN" sz="1200" dirty="0"/>
          </a:p>
        </p:txBody>
      </p:sp>
      <p:grpSp>
        <p:nvGrpSpPr>
          <p:cNvPr id="7" name="Group 6">
            <a:extLst>
              <a:ext uri="{FF2B5EF4-FFF2-40B4-BE49-F238E27FC236}">
                <a16:creationId xmlns:a16="http://schemas.microsoft.com/office/drawing/2014/main" id="{2CA5281F-4A15-4732-9DBB-EBF0FF53988C}"/>
              </a:ext>
            </a:extLst>
          </p:cNvPr>
          <p:cNvGrpSpPr/>
          <p:nvPr/>
        </p:nvGrpSpPr>
        <p:grpSpPr>
          <a:xfrm>
            <a:off x="9244447" y="5453655"/>
            <a:ext cx="1152128" cy="1152128"/>
            <a:chOff x="202372" y="1250092"/>
            <a:chExt cx="1152128" cy="1152128"/>
          </a:xfrm>
        </p:grpSpPr>
        <p:sp>
          <p:nvSpPr>
            <p:cNvPr id="8" name="Oval 7">
              <a:extLst>
                <a:ext uri="{FF2B5EF4-FFF2-40B4-BE49-F238E27FC236}">
                  <a16:creationId xmlns:a16="http://schemas.microsoft.com/office/drawing/2014/main" id="{D4D61018-1A1E-414D-81E5-C2DB7711171C}"/>
                </a:ext>
              </a:extLst>
            </p:cNvPr>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196AEAA-9EA0-4508-A57D-C00BAAE92EE8}"/>
                </a:ext>
              </a:extLst>
            </p:cNvPr>
            <p:cNvSpPr/>
            <p:nvPr/>
          </p:nvSpPr>
          <p:spPr>
            <a:xfrm>
              <a:off x="306716" y="1354436"/>
              <a:ext cx="943440" cy="943440"/>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6">
            <a:extLst>
              <a:ext uri="{FF2B5EF4-FFF2-40B4-BE49-F238E27FC236}">
                <a16:creationId xmlns:a16="http://schemas.microsoft.com/office/drawing/2014/main" id="{9136D45A-1C1F-4913-94AC-9B3BE4057F37}"/>
              </a:ext>
            </a:extLst>
          </p:cNvPr>
          <p:cNvSpPr>
            <a:spLocks noEditPoints="1"/>
          </p:cNvSpPr>
          <p:nvPr/>
        </p:nvSpPr>
        <p:spPr bwMode="auto">
          <a:xfrm>
            <a:off x="9532379" y="5790006"/>
            <a:ext cx="576263" cy="479426"/>
          </a:xfrm>
          <a:custGeom>
            <a:avLst/>
            <a:gdLst>
              <a:gd name="T0" fmla="*/ 290 w 307"/>
              <a:gd name="T1" fmla="*/ 1 h 256"/>
              <a:gd name="T2" fmla="*/ 290 w 307"/>
              <a:gd name="T3" fmla="*/ 0 h 256"/>
              <a:gd name="T4" fmla="*/ 17 w 307"/>
              <a:gd name="T5" fmla="*/ 0 h 256"/>
              <a:gd name="T6" fmla="*/ 17 w 307"/>
              <a:gd name="T7" fmla="*/ 1 h 256"/>
              <a:gd name="T8" fmla="*/ 0 w 307"/>
              <a:gd name="T9" fmla="*/ 17 h 256"/>
              <a:gd name="T10" fmla="*/ 0 w 307"/>
              <a:gd name="T11" fmla="*/ 197 h 256"/>
              <a:gd name="T12" fmla="*/ 2 w 307"/>
              <a:gd name="T13" fmla="*/ 206 h 256"/>
              <a:gd name="T14" fmla="*/ 18 w 307"/>
              <a:gd name="T15" fmla="*/ 215 h 256"/>
              <a:gd name="T16" fmla="*/ 117 w 307"/>
              <a:gd name="T17" fmla="*/ 215 h 256"/>
              <a:gd name="T18" fmla="*/ 117 w 307"/>
              <a:gd name="T19" fmla="*/ 240 h 256"/>
              <a:gd name="T20" fmla="*/ 98 w 307"/>
              <a:gd name="T21" fmla="*/ 240 h 256"/>
              <a:gd name="T22" fmla="*/ 90 w 307"/>
              <a:gd name="T23" fmla="*/ 248 h 256"/>
              <a:gd name="T24" fmla="*/ 98 w 307"/>
              <a:gd name="T25" fmla="*/ 256 h 256"/>
              <a:gd name="T26" fmla="*/ 209 w 307"/>
              <a:gd name="T27" fmla="*/ 256 h 256"/>
              <a:gd name="T28" fmla="*/ 217 w 307"/>
              <a:gd name="T29" fmla="*/ 248 h 256"/>
              <a:gd name="T30" fmla="*/ 209 w 307"/>
              <a:gd name="T31" fmla="*/ 240 h 256"/>
              <a:gd name="T32" fmla="*/ 190 w 307"/>
              <a:gd name="T33" fmla="*/ 240 h 256"/>
              <a:gd name="T34" fmla="*/ 190 w 307"/>
              <a:gd name="T35" fmla="*/ 215 h 256"/>
              <a:gd name="T36" fmla="*/ 288 w 307"/>
              <a:gd name="T37" fmla="*/ 215 h 256"/>
              <a:gd name="T38" fmla="*/ 304 w 307"/>
              <a:gd name="T39" fmla="*/ 206 h 256"/>
              <a:gd name="T40" fmla="*/ 307 w 307"/>
              <a:gd name="T41" fmla="*/ 197 h 256"/>
              <a:gd name="T42" fmla="*/ 307 w 307"/>
              <a:gd name="T43" fmla="*/ 17 h 256"/>
              <a:gd name="T44" fmla="*/ 290 w 307"/>
              <a:gd name="T45" fmla="*/ 1 h 256"/>
              <a:gd name="T46" fmla="*/ 290 w 307"/>
              <a:gd name="T47" fmla="*/ 19 h 256"/>
              <a:gd name="T48" fmla="*/ 290 w 307"/>
              <a:gd name="T49" fmla="*/ 197 h 256"/>
              <a:gd name="T50" fmla="*/ 288 w 307"/>
              <a:gd name="T51" fmla="*/ 198 h 256"/>
              <a:gd name="T52" fmla="*/ 18 w 307"/>
              <a:gd name="T53" fmla="*/ 198 h 256"/>
              <a:gd name="T54" fmla="*/ 17 w 307"/>
              <a:gd name="T55" fmla="*/ 197 h 256"/>
              <a:gd name="T56" fmla="*/ 17 w 307"/>
              <a:gd name="T57" fmla="*/ 17 h 256"/>
              <a:gd name="T58" fmla="*/ 290 w 307"/>
              <a:gd name="T59" fmla="*/ 17 h 256"/>
              <a:gd name="T60" fmla="*/ 290 w 307"/>
              <a:gd name="T61" fmla="*/ 19 h 256"/>
              <a:gd name="T62" fmla="*/ 290 w 307"/>
              <a:gd name="T63" fmla="*/ 19 h 256"/>
              <a:gd name="T64" fmla="*/ 290 w 307"/>
              <a:gd name="T65" fmla="*/ 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7" h="256">
                <a:moveTo>
                  <a:pt x="290" y="1"/>
                </a:moveTo>
                <a:cubicBezTo>
                  <a:pt x="290" y="0"/>
                  <a:pt x="290" y="0"/>
                  <a:pt x="290" y="0"/>
                </a:cubicBezTo>
                <a:cubicBezTo>
                  <a:pt x="17" y="0"/>
                  <a:pt x="17" y="0"/>
                  <a:pt x="17" y="0"/>
                </a:cubicBezTo>
                <a:cubicBezTo>
                  <a:pt x="17" y="1"/>
                  <a:pt x="17" y="1"/>
                  <a:pt x="17" y="1"/>
                </a:cubicBezTo>
                <a:cubicBezTo>
                  <a:pt x="8" y="2"/>
                  <a:pt x="1" y="9"/>
                  <a:pt x="0" y="17"/>
                </a:cubicBezTo>
                <a:cubicBezTo>
                  <a:pt x="0" y="197"/>
                  <a:pt x="0" y="197"/>
                  <a:pt x="0" y="197"/>
                </a:cubicBezTo>
                <a:cubicBezTo>
                  <a:pt x="0" y="200"/>
                  <a:pt x="1" y="203"/>
                  <a:pt x="2" y="206"/>
                </a:cubicBezTo>
                <a:cubicBezTo>
                  <a:pt x="6" y="212"/>
                  <a:pt x="11" y="215"/>
                  <a:pt x="18" y="215"/>
                </a:cubicBezTo>
                <a:cubicBezTo>
                  <a:pt x="117" y="215"/>
                  <a:pt x="117" y="215"/>
                  <a:pt x="117" y="215"/>
                </a:cubicBezTo>
                <a:cubicBezTo>
                  <a:pt x="117" y="240"/>
                  <a:pt x="117" y="240"/>
                  <a:pt x="117" y="240"/>
                </a:cubicBezTo>
                <a:cubicBezTo>
                  <a:pt x="98" y="240"/>
                  <a:pt x="98" y="240"/>
                  <a:pt x="98" y="240"/>
                </a:cubicBezTo>
                <a:cubicBezTo>
                  <a:pt x="93" y="240"/>
                  <a:pt x="90" y="243"/>
                  <a:pt x="90" y="248"/>
                </a:cubicBezTo>
                <a:cubicBezTo>
                  <a:pt x="90" y="253"/>
                  <a:pt x="93" y="256"/>
                  <a:pt x="98" y="256"/>
                </a:cubicBezTo>
                <a:cubicBezTo>
                  <a:pt x="209" y="256"/>
                  <a:pt x="209" y="256"/>
                  <a:pt x="209" y="256"/>
                </a:cubicBezTo>
                <a:cubicBezTo>
                  <a:pt x="213" y="256"/>
                  <a:pt x="217" y="253"/>
                  <a:pt x="217" y="248"/>
                </a:cubicBezTo>
                <a:cubicBezTo>
                  <a:pt x="217" y="243"/>
                  <a:pt x="213" y="240"/>
                  <a:pt x="209" y="240"/>
                </a:cubicBezTo>
                <a:cubicBezTo>
                  <a:pt x="190" y="240"/>
                  <a:pt x="190" y="240"/>
                  <a:pt x="190" y="240"/>
                </a:cubicBezTo>
                <a:cubicBezTo>
                  <a:pt x="190" y="215"/>
                  <a:pt x="190" y="215"/>
                  <a:pt x="190" y="215"/>
                </a:cubicBezTo>
                <a:cubicBezTo>
                  <a:pt x="288" y="215"/>
                  <a:pt x="288" y="215"/>
                  <a:pt x="288" y="215"/>
                </a:cubicBezTo>
                <a:cubicBezTo>
                  <a:pt x="296" y="215"/>
                  <a:pt x="301" y="212"/>
                  <a:pt x="304" y="206"/>
                </a:cubicBezTo>
                <a:cubicBezTo>
                  <a:pt x="306" y="203"/>
                  <a:pt x="307" y="200"/>
                  <a:pt x="307" y="197"/>
                </a:cubicBezTo>
                <a:cubicBezTo>
                  <a:pt x="307" y="17"/>
                  <a:pt x="307" y="17"/>
                  <a:pt x="307" y="17"/>
                </a:cubicBezTo>
                <a:cubicBezTo>
                  <a:pt x="306" y="9"/>
                  <a:pt x="299" y="2"/>
                  <a:pt x="290" y="1"/>
                </a:cubicBezTo>
                <a:close/>
                <a:moveTo>
                  <a:pt x="290" y="19"/>
                </a:moveTo>
                <a:cubicBezTo>
                  <a:pt x="290" y="197"/>
                  <a:pt x="290" y="197"/>
                  <a:pt x="290" y="197"/>
                </a:cubicBezTo>
                <a:cubicBezTo>
                  <a:pt x="290" y="198"/>
                  <a:pt x="290" y="198"/>
                  <a:pt x="288" y="198"/>
                </a:cubicBezTo>
                <a:cubicBezTo>
                  <a:pt x="18" y="198"/>
                  <a:pt x="18" y="198"/>
                  <a:pt x="18" y="198"/>
                </a:cubicBezTo>
                <a:cubicBezTo>
                  <a:pt x="17" y="198"/>
                  <a:pt x="17" y="198"/>
                  <a:pt x="17" y="197"/>
                </a:cubicBezTo>
                <a:cubicBezTo>
                  <a:pt x="17" y="17"/>
                  <a:pt x="17" y="17"/>
                  <a:pt x="17" y="17"/>
                </a:cubicBezTo>
                <a:cubicBezTo>
                  <a:pt x="290" y="17"/>
                  <a:pt x="290" y="17"/>
                  <a:pt x="290" y="17"/>
                </a:cubicBezTo>
                <a:lnTo>
                  <a:pt x="290" y="19"/>
                </a:lnTo>
                <a:close/>
                <a:moveTo>
                  <a:pt x="290" y="19"/>
                </a:moveTo>
                <a:cubicBezTo>
                  <a:pt x="290" y="19"/>
                  <a:pt x="290" y="19"/>
                  <a:pt x="290" y="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grpSp>
        <p:nvGrpSpPr>
          <p:cNvPr id="11" name="Group 10">
            <a:extLst>
              <a:ext uri="{FF2B5EF4-FFF2-40B4-BE49-F238E27FC236}">
                <a16:creationId xmlns:a16="http://schemas.microsoft.com/office/drawing/2014/main" id="{DB768643-A506-4FA1-9398-30CDA05B3DE9}"/>
              </a:ext>
            </a:extLst>
          </p:cNvPr>
          <p:cNvGrpSpPr/>
          <p:nvPr/>
        </p:nvGrpSpPr>
        <p:grpSpPr>
          <a:xfrm>
            <a:off x="6211960" y="5393900"/>
            <a:ext cx="1152128" cy="1152128"/>
            <a:chOff x="202372" y="1250092"/>
            <a:chExt cx="1152128" cy="1152128"/>
          </a:xfrm>
        </p:grpSpPr>
        <p:sp>
          <p:nvSpPr>
            <p:cNvPr id="12" name="Oval 11">
              <a:extLst>
                <a:ext uri="{FF2B5EF4-FFF2-40B4-BE49-F238E27FC236}">
                  <a16:creationId xmlns:a16="http://schemas.microsoft.com/office/drawing/2014/main" id="{3B8D2FB8-9FB8-4CBA-9854-9200DBDE90A1}"/>
                </a:ext>
              </a:extLst>
            </p:cNvPr>
            <p:cNvSpPr/>
            <p:nvPr/>
          </p:nvSpPr>
          <p:spPr>
            <a:xfrm>
              <a:off x="202372" y="1250092"/>
              <a:ext cx="1152128" cy="1152128"/>
            </a:xfrm>
            <a:prstGeom prst="ellipse">
              <a:avLst/>
            </a:prstGeom>
            <a:gradFill flip="none" rotWithShape="1">
              <a:gsLst>
                <a:gs pos="0">
                  <a:schemeClr val="accent2">
                    <a:shade val="30000"/>
                    <a:satMod val="115000"/>
                  </a:schemeClr>
                </a:gs>
                <a:gs pos="50000">
                  <a:schemeClr val="accent2">
                    <a:shade val="67500"/>
                    <a:satMod val="115000"/>
                  </a:schemeClr>
                </a:gs>
                <a:gs pos="100000">
                  <a:schemeClr val="accent2">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A0CA31A-AD9B-4513-99EA-281E1DBE6393}"/>
                </a:ext>
              </a:extLst>
            </p:cNvPr>
            <p:cNvSpPr/>
            <p:nvPr/>
          </p:nvSpPr>
          <p:spPr>
            <a:xfrm>
              <a:off x="306716" y="1354436"/>
              <a:ext cx="943440" cy="943440"/>
            </a:xfrm>
            <a:prstGeom prst="ellipse">
              <a:avLst/>
            </a:prstGeom>
            <a:solidFill>
              <a:schemeClr val="bg1"/>
            </a:solidFill>
            <a:ln>
              <a:noFill/>
            </a:ln>
            <a:effectLst>
              <a:innerShdw blurRad="63500" dist="50800" dir="13500000">
                <a:schemeClr val="accent6">
                  <a:alpha val="5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6">
            <a:extLst>
              <a:ext uri="{FF2B5EF4-FFF2-40B4-BE49-F238E27FC236}">
                <a16:creationId xmlns:a16="http://schemas.microsoft.com/office/drawing/2014/main" id="{51263A56-84DA-4B4F-A227-156CE147D32C}"/>
              </a:ext>
            </a:extLst>
          </p:cNvPr>
          <p:cNvSpPr>
            <a:spLocks noEditPoints="1"/>
          </p:cNvSpPr>
          <p:nvPr/>
        </p:nvSpPr>
        <p:spPr bwMode="auto">
          <a:xfrm>
            <a:off x="6653893" y="5563466"/>
            <a:ext cx="261257" cy="241341"/>
          </a:xfrm>
          <a:custGeom>
            <a:avLst/>
            <a:gdLst>
              <a:gd name="T0" fmla="*/ 290 w 307"/>
              <a:gd name="T1" fmla="*/ 1 h 256"/>
              <a:gd name="T2" fmla="*/ 290 w 307"/>
              <a:gd name="T3" fmla="*/ 0 h 256"/>
              <a:gd name="T4" fmla="*/ 17 w 307"/>
              <a:gd name="T5" fmla="*/ 0 h 256"/>
              <a:gd name="T6" fmla="*/ 17 w 307"/>
              <a:gd name="T7" fmla="*/ 1 h 256"/>
              <a:gd name="T8" fmla="*/ 0 w 307"/>
              <a:gd name="T9" fmla="*/ 17 h 256"/>
              <a:gd name="T10" fmla="*/ 0 w 307"/>
              <a:gd name="T11" fmla="*/ 197 h 256"/>
              <a:gd name="T12" fmla="*/ 2 w 307"/>
              <a:gd name="T13" fmla="*/ 206 h 256"/>
              <a:gd name="T14" fmla="*/ 18 w 307"/>
              <a:gd name="T15" fmla="*/ 215 h 256"/>
              <a:gd name="T16" fmla="*/ 117 w 307"/>
              <a:gd name="T17" fmla="*/ 215 h 256"/>
              <a:gd name="T18" fmla="*/ 117 w 307"/>
              <a:gd name="T19" fmla="*/ 240 h 256"/>
              <a:gd name="T20" fmla="*/ 98 w 307"/>
              <a:gd name="T21" fmla="*/ 240 h 256"/>
              <a:gd name="T22" fmla="*/ 90 w 307"/>
              <a:gd name="T23" fmla="*/ 248 h 256"/>
              <a:gd name="T24" fmla="*/ 98 w 307"/>
              <a:gd name="T25" fmla="*/ 256 h 256"/>
              <a:gd name="T26" fmla="*/ 209 w 307"/>
              <a:gd name="T27" fmla="*/ 256 h 256"/>
              <a:gd name="T28" fmla="*/ 217 w 307"/>
              <a:gd name="T29" fmla="*/ 248 h 256"/>
              <a:gd name="T30" fmla="*/ 209 w 307"/>
              <a:gd name="T31" fmla="*/ 240 h 256"/>
              <a:gd name="T32" fmla="*/ 190 w 307"/>
              <a:gd name="T33" fmla="*/ 240 h 256"/>
              <a:gd name="T34" fmla="*/ 190 w 307"/>
              <a:gd name="T35" fmla="*/ 215 h 256"/>
              <a:gd name="T36" fmla="*/ 288 w 307"/>
              <a:gd name="T37" fmla="*/ 215 h 256"/>
              <a:gd name="T38" fmla="*/ 304 w 307"/>
              <a:gd name="T39" fmla="*/ 206 h 256"/>
              <a:gd name="T40" fmla="*/ 307 w 307"/>
              <a:gd name="T41" fmla="*/ 197 h 256"/>
              <a:gd name="T42" fmla="*/ 307 w 307"/>
              <a:gd name="T43" fmla="*/ 17 h 256"/>
              <a:gd name="T44" fmla="*/ 290 w 307"/>
              <a:gd name="T45" fmla="*/ 1 h 256"/>
              <a:gd name="T46" fmla="*/ 290 w 307"/>
              <a:gd name="T47" fmla="*/ 19 h 256"/>
              <a:gd name="T48" fmla="*/ 290 w 307"/>
              <a:gd name="T49" fmla="*/ 197 h 256"/>
              <a:gd name="T50" fmla="*/ 288 w 307"/>
              <a:gd name="T51" fmla="*/ 198 h 256"/>
              <a:gd name="T52" fmla="*/ 18 w 307"/>
              <a:gd name="T53" fmla="*/ 198 h 256"/>
              <a:gd name="T54" fmla="*/ 17 w 307"/>
              <a:gd name="T55" fmla="*/ 197 h 256"/>
              <a:gd name="T56" fmla="*/ 17 w 307"/>
              <a:gd name="T57" fmla="*/ 17 h 256"/>
              <a:gd name="T58" fmla="*/ 290 w 307"/>
              <a:gd name="T59" fmla="*/ 17 h 256"/>
              <a:gd name="T60" fmla="*/ 290 w 307"/>
              <a:gd name="T61" fmla="*/ 19 h 256"/>
              <a:gd name="T62" fmla="*/ 290 w 307"/>
              <a:gd name="T63" fmla="*/ 19 h 256"/>
              <a:gd name="T64" fmla="*/ 290 w 307"/>
              <a:gd name="T65" fmla="*/ 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7" h="256">
                <a:moveTo>
                  <a:pt x="290" y="1"/>
                </a:moveTo>
                <a:cubicBezTo>
                  <a:pt x="290" y="0"/>
                  <a:pt x="290" y="0"/>
                  <a:pt x="290" y="0"/>
                </a:cubicBezTo>
                <a:cubicBezTo>
                  <a:pt x="17" y="0"/>
                  <a:pt x="17" y="0"/>
                  <a:pt x="17" y="0"/>
                </a:cubicBezTo>
                <a:cubicBezTo>
                  <a:pt x="17" y="1"/>
                  <a:pt x="17" y="1"/>
                  <a:pt x="17" y="1"/>
                </a:cubicBezTo>
                <a:cubicBezTo>
                  <a:pt x="8" y="2"/>
                  <a:pt x="1" y="9"/>
                  <a:pt x="0" y="17"/>
                </a:cubicBezTo>
                <a:cubicBezTo>
                  <a:pt x="0" y="197"/>
                  <a:pt x="0" y="197"/>
                  <a:pt x="0" y="197"/>
                </a:cubicBezTo>
                <a:cubicBezTo>
                  <a:pt x="0" y="200"/>
                  <a:pt x="1" y="203"/>
                  <a:pt x="2" y="206"/>
                </a:cubicBezTo>
                <a:cubicBezTo>
                  <a:pt x="6" y="212"/>
                  <a:pt x="11" y="215"/>
                  <a:pt x="18" y="215"/>
                </a:cubicBezTo>
                <a:cubicBezTo>
                  <a:pt x="117" y="215"/>
                  <a:pt x="117" y="215"/>
                  <a:pt x="117" y="215"/>
                </a:cubicBezTo>
                <a:cubicBezTo>
                  <a:pt x="117" y="240"/>
                  <a:pt x="117" y="240"/>
                  <a:pt x="117" y="240"/>
                </a:cubicBezTo>
                <a:cubicBezTo>
                  <a:pt x="98" y="240"/>
                  <a:pt x="98" y="240"/>
                  <a:pt x="98" y="240"/>
                </a:cubicBezTo>
                <a:cubicBezTo>
                  <a:pt x="93" y="240"/>
                  <a:pt x="90" y="243"/>
                  <a:pt x="90" y="248"/>
                </a:cubicBezTo>
                <a:cubicBezTo>
                  <a:pt x="90" y="253"/>
                  <a:pt x="93" y="256"/>
                  <a:pt x="98" y="256"/>
                </a:cubicBezTo>
                <a:cubicBezTo>
                  <a:pt x="209" y="256"/>
                  <a:pt x="209" y="256"/>
                  <a:pt x="209" y="256"/>
                </a:cubicBezTo>
                <a:cubicBezTo>
                  <a:pt x="213" y="256"/>
                  <a:pt x="217" y="253"/>
                  <a:pt x="217" y="248"/>
                </a:cubicBezTo>
                <a:cubicBezTo>
                  <a:pt x="217" y="243"/>
                  <a:pt x="213" y="240"/>
                  <a:pt x="209" y="240"/>
                </a:cubicBezTo>
                <a:cubicBezTo>
                  <a:pt x="190" y="240"/>
                  <a:pt x="190" y="240"/>
                  <a:pt x="190" y="240"/>
                </a:cubicBezTo>
                <a:cubicBezTo>
                  <a:pt x="190" y="215"/>
                  <a:pt x="190" y="215"/>
                  <a:pt x="190" y="215"/>
                </a:cubicBezTo>
                <a:cubicBezTo>
                  <a:pt x="288" y="215"/>
                  <a:pt x="288" y="215"/>
                  <a:pt x="288" y="215"/>
                </a:cubicBezTo>
                <a:cubicBezTo>
                  <a:pt x="296" y="215"/>
                  <a:pt x="301" y="212"/>
                  <a:pt x="304" y="206"/>
                </a:cubicBezTo>
                <a:cubicBezTo>
                  <a:pt x="306" y="203"/>
                  <a:pt x="307" y="200"/>
                  <a:pt x="307" y="197"/>
                </a:cubicBezTo>
                <a:cubicBezTo>
                  <a:pt x="307" y="17"/>
                  <a:pt x="307" y="17"/>
                  <a:pt x="307" y="17"/>
                </a:cubicBezTo>
                <a:cubicBezTo>
                  <a:pt x="306" y="9"/>
                  <a:pt x="299" y="2"/>
                  <a:pt x="290" y="1"/>
                </a:cubicBezTo>
                <a:close/>
                <a:moveTo>
                  <a:pt x="290" y="19"/>
                </a:moveTo>
                <a:cubicBezTo>
                  <a:pt x="290" y="197"/>
                  <a:pt x="290" y="197"/>
                  <a:pt x="290" y="197"/>
                </a:cubicBezTo>
                <a:cubicBezTo>
                  <a:pt x="290" y="198"/>
                  <a:pt x="290" y="198"/>
                  <a:pt x="288" y="198"/>
                </a:cubicBezTo>
                <a:cubicBezTo>
                  <a:pt x="18" y="198"/>
                  <a:pt x="18" y="198"/>
                  <a:pt x="18" y="198"/>
                </a:cubicBezTo>
                <a:cubicBezTo>
                  <a:pt x="17" y="198"/>
                  <a:pt x="17" y="198"/>
                  <a:pt x="17" y="197"/>
                </a:cubicBezTo>
                <a:cubicBezTo>
                  <a:pt x="17" y="17"/>
                  <a:pt x="17" y="17"/>
                  <a:pt x="17" y="17"/>
                </a:cubicBezTo>
                <a:cubicBezTo>
                  <a:pt x="290" y="17"/>
                  <a:pt x="290" y="17"/>
                  <a:pt x="290" y="17"/>
                </a:cubicBezTo>
                <a:lnTo>
                  <a:pt x="290" y="19"/>
                </a:lnTo>
                <a:close/>
                <a:moveTo>
                  <a:pt x="290" y="19"/>
                </a:moveTo>
                <a:cubicBezTo>
                  <a:pt x="290" y="19"/>
                  <a:pt x="290" y="19"/>
                  <a:pt x="290" y="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15" name="Freeform 6">
            <a:extLst>
              <a:ext uri="{FF2B5EF4-FFF2-40B4-BE49-F238E27FC236}">
                <a16:creationId xmlns:a16="http://schemas.microsoft.com/office/drawing/2014/main" id="{0AF2B060-56D5-4300-B62C-4D80A96C8C57}"/>
              </a:ext>
            </a:extLst>
          </p:cNvPr>
          <p:cNvSpPr>
            <a:spLocks noEditPoints="1"/>
          </p:cNvSpPr>
          <p:nvPr/>
        </p:nvSpPr>
        <p:spPr bwMode="auto">
          <a:xfrm>
            <a:off x="6875584" y="5854136"/>
            <a:ext cx="261257" cy="241341"/>
          </a:xfrm>
          <a:custGeom>
            <a:avLst/>
            <a:gdLst>
              <a:gd name="T0" fmla="*/ 290 w 307"/>
              <a:gd name="T1" fmla="*/ 1 h 256"/>
              <a:gd name="T2" fmla="*/ 290 w 307"/>
              <a:gd name="T3" fmla="*/ 0 h 256"/>
              <a:gd name="T4" fmla="*/ 17 w 307"/>
              <a:gd name="T5" fmla="*/ 0 h 256"/>
              <a:gd name="T6" fmla="*/ 17 w 307"/>
              <a:gd name="T7" fmla="*/ 1 h 256"/>
              <a:gd name="T8" fmla="*/ 0 w 307"/>
              <a:gd name="T9" fmla="*/ 17 h 256"/>
              <a:gd name="T10" fmla="*/ 0 w 307"/>
              <a:gd name="T11" fmla="*/ 197 h 256"/>
              <a:gd name="T12" fmla="*/ 2 w 307"/>
              <a:gd name="T13" fmla="*/ 206 h 256"/>
              <a:gd name="T14" fmla="*/ 18 w 307"/>
              <a:gd name="T15" fmla="*/ 215 h 256"/>
              <a:gd name="T16" fmla="*/ 117 w 307"/>
              <a:gd name="T17" fmla="*/ 215 h 256"/>
              <a:gd name="T18" fmla="*/ 117 w 307"/>
              <a:gd name="T19" fmla="*/ 240 h 256"/>
              <a:gd name="T20" fmla="*/ 98 w 307"/>
              <a:gd name="T21" fmla="*/ 240 h 256"/>
              <a:gd name="T22" fmla="*/ 90 w 307"/>
              <a:gd name="T23" fmla="*/ 248 h 256"/>
              <a:gd name="T24" fmla="*/ 98 w 307"/>
              <a:gd name="T25" fmla="*/ 256 h 256"/>
              <a:gd name="T26" fmla="*/ 209 w 307"/>
              <a:gd name="T27" fmla="*/ 256 h 256"/>
              <a:gd name="T28" fmla="*/ 217 w 307"/>
              <a:gd name="T29" fmla="*/ 248 h 256"/>
              <a:gd name="T30" fmla="*/ 209 w 307"/>
              <a:gd name="T31" fmla="*/ 240 h 256"/>
              <a:gd name="T32" fmla="*/ 190 w 307"/>
              <a:gd name="T33" fmla="*/ 240 h 256"/>
              <a:gd name="T34" fmla="*/ 190 w 307"/>
              <a:gd name="T35" fmla="*/ 215 h 256"/>
              <a:gd name="T36" fmla="*/ 288 w 307"/>
              <a:gd name="T37" fmla="*/ 215 h 256"/>
              <a:gd name="T38" fmla="*/ 304 w 307"/>
              <a:gd name="T39" fmla="*/ 206 h 256"/>
              <a:gd name="T40" fmla="*/ 307 w 307"/>
              <a:gd name="T41" fmla="*/ 197 h 256"/>
              <a:gd name="T42" fmla="*/ 307 w 307"/>
              <a:gd name="T43" fmla="*/ 17 h 256"/>
              <a:gd name="T44" fmla="*/ 290 w 307"/>
              <a:gd name="T45" fmla="*/ 1 h 256"/>
              <a:gd name="T46" fmla="*/ 290 w 307"/>
              <a:gd name="T47" fmla="*/ 19 h 256"/>
              <a:gd name="T48" fmla="*/ 290 w 307"/>
              <a:gd name="T49" fmla="*/ 197 h 256"/>
              <a:gd name="T50" fmla="*/ 288 w 307"/>
              <a:gd name="T51" fmla="*/ 198 h 256"/>
              <a:gd name="T52" fmla="*/ 18 w 307"/>
              <a:gd name="T53" fmla="*/ 198 h 256"/>
              <a:gd name="T54" fmla="*/ 17 w 307"/>
              <a:gd name="T55" fmla="*/ 197 h 256"/>
              <a:gd name="T56" fmla="*/ 17 w 307"/>
              <a:gd name="T57" fmla="*/ 17 h 256"/>
              <a:gd name="T58" fmla="*/ 290 w 307"/>
              <a:gd name="T59" fmla="*/ 17 h 256"/>
              <a:gd name="T60" fmla="*/ 290 w 307"/>
              <a:gd name="T61" fmla="*/ 19 h 256"/>
              <a:gd name="T62" fmla="*/ 290 w 307"/>
              <a:gd name="T63" fmla="*/ 19 h 256"/>
              <a:gd name="T64" fmla="*/ 290 w 307"/>
              <a:gd name="T65" fmla="*/ 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7" h="256">
                <a:moveTo>
                  <a:pt x="290" y="1"/>
                </a:moveTo>
                <a:cubicBezTo>
                  <a:pt x="290" y="0"/>
                  <a:pt x="290" y="0"/>
                  <a:pt x="290" y="0"/>
                </a:cubicBezTo>
                <a:cubicBezTo>
                  <a:pt x="17" y="0"/>
                  <a:pt x="17" y="0"/>
                  <a:pt x="17" y="0"/>
                </a:cubicBezTo>
                <a:cubicBezTo>
                  <a:pt x="17" y="1"/>
                  <a:pt x="17" y="1"/>
                  <a:pt x="17" y="1"/>
                </a:cubicBezTo>
                <a:cubicBezTo>
                  <a:pt x="8" y="2"/>
                  <a:pt x="1" y="9"/>
                  <a:pt x="0" y="17"/>
                </a:cubicBezTo>
                <a:cubicBezTo>
                  <a:pt x="0" y="197"/>
                  <a:pt x="0" y="197"/>
                  <a:pt x="0" y="197"/>
                </a:cubicBezTo>
                <a:cubicBezTo>
                  <a:pt x="0" y="200"/>
                  <a:pt x="1" y="203"/>
                  <a:pt x="2" y="206"/>
                </a:cubicBezTo>
                <a:cubicBezTo>
                  <a:pt x="6" y="212"/>
                  <a:pt x="11" y="215"/>
                  <a:pt x="18" y="215"/>
                </a:cubicBezTo>
                <a:cubicBezTo>
                  <a:pt x="117" y="215"/>
                  <a:pt x="117" y="215"/>
                  <a:pt x="117" y="215"/>
                </a:cubicBezTo>
                <a:cubicBezTo>
                  <a:pt x="117" y="240"/>
                  <a:pt x="117" y="240"/>
                  <a:pt x="117" y="240"/>
                </a:cubicBezTo>
                <a:cubicBezTo>
                  <a:pt x="98" y="240"/>
                  <a:pt x="98" y="240"/>
                  <a:pt x="98" y="240"/>
                </a:cubicBezTo>
                <a:cubicBezTo>
                  <a:pt x="93" y="240"/>
                  <a:pt x="90" y="243"/>
                  <a:pt x="90" y="248"/>
                </a:cubicBezTo>
                <a:cubicBezTo>
                  <a:pt x="90" y="253"/>
                  <a:pt x="93" y="256"/>
                  <a:pt x="98" y="256"/>
                </a:cubicBezTo>
                <a:cubicBezTo>
                  <a:pt x="209" y="256"/>
                  <a:pt x="209" y="256"/>
                  <a:pt x="209" y="256"/>
                </a:cubicBezTo>
                <a:cubicBezTo>
                  <a:pt x="213" y="256"/>
                  <a:pt x="217" y="253"/>
                  <a:pt x="217" y="248"/>
                </a:cubicBezTo>
                <a:cubicBezTo>
                  <a:pt x="217" y="243"/>
                  <a:pt x="213" y="240"/>
                  <a:pt x="209" y="240"/>
                </a:cubicBezTo>
                <a:cubicBezTo>
                  <a:pt x="190" y="240"/>
                  <a:pt x="190" y="240"/>
                  <a:pt x="190" y="240"/>
                </a:cubicBezTo>
                <a:cubicBezTo>
                  <a:pt x="190" y="215"/>
                  <a:pt x="190" y="215"/>
                  <a:pt x="190" y="215"/>
                </a:cubicBezTo>
                <a:cubicBezTo>
                  <a:pt x="288" y="215"/>
                  <a:pt x="288" y="215"/>
                  <a:pt x="288" y="215"/>
                </a:cubicBezTo>
                <a:cubicBezTo>
                  <a:pt x="296" y="215"/>
                  <a:pt x="301" y="212"/>
                  <a:pt x="304" y="206"/>
                </a:cubicBezTo>
                <a:cubicBezTo>
                  <a:pt x="306" y="203"/>
                  <a:pt x="307" y="200"/>
                  <a:pt x="307" y="197"/>
                </a:cubicBezTo>
                <a:cubicBezTo>
                  <a:pt x="307" y="17"/>
                  <a:pt x="307" y="17"/>
                  <a:pt x="307" y="17"/>
                </a:cubicBezTo>
                <a:cubicBezTo>
                  <a:pt x="306" y="9"/>
                  <a:pt x="299" y="2"/>
                  <a:pt x="290" y="1"/>
                </a:cubicBezTo>
                <a:close/>
                <a:moveTo>
                  <a:pt x="290" y="19"/>
                </a:moveTo>
                <a:cubicBezTo>
                  <a:pt x="290" y="197"/>
                  <a:pt x="290" y="197"/>
                  <a:pt x="290" y="197"/>
                </a:cubicBezTo>
                <a:cubicBezTo>
                  <a:pt x="290" y="198"/>
                  <a:pt x="290" y="198"/>
                  <a:pt x="288" y="198"/>
                </a:cubicBezTo>
                <a:cubicBezTo>
                  <a:pt x="18" y="198"/>
                  <a:pt x="18" y="198"/>
                  <a:pt x="18" y="198"/>
                </a:cubicBezTo>
                <a:cubicBezTo>
                  <a:pt x="17" y="198"/>
                  <a:pt x="17" y="198"/>
                  <a:pt x="17" y="197"/>
                </a:cubicBezTo>
                <a:cubicBezTo>
                  <a:pt x="17" y="17"/>
                  <a:pt x="17" y="17"/>
                  <a:pt x="17" y="17"/>
                </a:cubicBezTo>
                <a:cubicBezTo>
                  <a:pt x="290" y="17"/>
                  <a:pt x="290" y="17"/>
                  <a:pt x="290" y="17"/>
                </a:cubicBezTo>
                <a:lnTo>
                  <a:pt x="290" y="19"/>
                </a:lnTo>
                <a:close/>
                <a:moveTo>
                  <a:pt x="290" y="19"/>
                </a:moveTo>
                <a:cubicBezTo>
                  <a:pt x="290" y="19"/>
                  <a:pt x="290" y="19"/>
                  <a:pt x="290" y="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16" name="Freeform 6">
            <a:extLst>
              <a:ext uri="{FF2B5EF4-FFF2-40B4-BE49-F238E27FC236}">
                <a16:creationId xmlns:a16="http://schemas.microsoft.com/office/drawing/2014/main" id="{6A5188FC-2CB6-4163-A7DF-5ADCE5EA0354}"/>
              </a:ext>
            </a:extLst>
          </p:cNvPr>
          <p:cNvSpPr>
            <a:spLocks noEditPoints="1"/>
          </p:cNvSpPr>
          <p:nvPr/>
        </p:nvSpPr>
        <p:spPr bwMode="auto">
          <a:xfrm>
            <a:off x="6509983" y="5861212"/>
            <a:ext cx="261257" cy="241341"/>
          </a:xfrm>
          <a:custGeom>
            <a:avLst/>
            <a:gdLst>
              <a:gd name="T0" fmla="*/ 290 w 307"/>
              <a:gd name="T1" fmla="*/ 1 h 256"/>
              <a:gd name="T2" fmla="*/ 290 w 307"/>
              <a:gd name="T3" fmla="*/ 0 h 256"/>
              <a:gd name="T4" fmla="*/ 17 w 307"/>
              <a:gd name="T5" fmla="*/ 0 h 256"/>
              <a:gd name="T6" fmla="*/ 17 w 307"/>
              <a:gd name="T7" fmla="*/ 1 h 256"/>
              <a:gd name="T8" fmla="*/ 0 w 307"/>
              <a:gd name="T9" fmla="*/ 17 h 256"/>
              <a:gd name="T10" fmla="*/ 0 w 307"/>
              <a:gd name="T11" fmla="*/ 197 h 256"/>
              <a:gd name="T12" fmla="*/ 2 w 307"/>
              <a:gd name="T13" fmla="*/ 206 h 256"/>
              <a:gd name="T14" fmla="*/ 18 w 307"/>
              <a:gd name="T15" fmla="*/ 215 h 256"/>
              <a:gd name="T16" fmla="*/ 117 w 307"/>
              <a:gd name="T17" fmla="*/ 215 h 256"/>
              <a:gd name="T18" fmla="*/ 117 w 307"/>
              <a:gd name="T19" fmla="*/ 240 h 256"/>
              <a:gd name="T20" fmla="*/ 98 w 307"/>
              <a:gd name="T21" fmla="*/ 240 h 256"/>
              <a:gd name="T22" fmla="*/ 90 w 307"/>
              <a:gd name="T23" fmla="*/ 248 h 256"/>
              <a:gd name="T24" fmla="*/ 98 w 307"/>
              <a:gd name="T25" fmla="*/ 256 h 256"/>
              <a:gd name="T26" fmla="*/ 209 w 307"/>
              <a:gd name="T27" fmla="*/ 256 h 256"/>
              <a:gd name="T28" fmla="*/ 217 w 307"/>
              <a:gd name="T29" fmla="*/ 248 h 256"/>
              <a:gd name="T30" fmla="*/ 209 w 307"/>
              <a:gd name="T31" fmla="*/ 240 h 256"/>
              <a:gd name="T32" fmla="*/ 190 w 307"/>
              <a:gd name="T33" fmla="*/ 240 h 256"/>
              <a:gd name="T34" fmla="*/ 190 w 307"/>
              <a:gd name="T35" fmla="*/ 215 h 256"/>
              <a:gd name="T36" fmla="*/ 288 w 307"/>
              <a:gd name="T37" fmla="*/ 215 h 256"/>
              <a:gd name="T38" fmla="*/ 304 w 307"/>
              <a:gd name="T39" fmla="*/ 206 h 256"/>
              <a:gd name="T40" fmla="*/ 307 w 307"/>
              <a:gd name="T41" fmla="*/ 197 h 256"/>
              <a:gd name="T42" fmla="*/ 307 w 307"/>
              <a:gd name="T43" fmla="*/ 17 h 256"/>
              <a:gd name="T44" fmla="*/ 290 w 307"/>
              <a:gd name="T45" fmla="*/ 1 h 256"/>
              <a:gd name="T46" fmla="*/ 290 w 307"/>
              <a:gd name="T47" fmla="*/ 19 h 256"/>
              <a:gd name="T48" fmla="*/ 290 w 307"/>
              <a:gd name="T49" fmla="*/ 197 h 256"/>
              <a:gd name="T50" fmla="*/ 288 w 307"/>
              <a:gd name="T51" fmla="*/ 198 h 256"/>
              <a:gd name="T52" fmla="*/ 18 w 307"/>
              <a:gd name="T53" fmla="*/ 198 h 256"/>
              <a:gd name="T54" fmla="*/ 17 w 307"/>
              <a:gd name="T55" fmla="*/ 197 h 256"/>
              <a:gd name="T56" fmla="*/ 17 w 307"/>
              <a:gd name="T57" fmla="*/ 17 h 256"/>
              <a:gd name="T58" fmla="*/ 290 w 307"/>
              <a:gd name="T59" fmla="*/ 17 h 256"/>
              <a:gd name="T60" fmla="*/ 290 w 307"/>
              <a:gd name="T61" fmla="*/ 19 h 256"/>
              <a:gd name="T62" fmla="*/ 290 w 307"/>
              <a:gd name="T63" fmla="*/ 19 h 256"/>
              <a:gd name="T64" fmla="*/ 290 w 307"/>
              <a:gd name="T65" fmla="*/ 1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7" h="256">
                <a:moveTo>
                  <a:pt x="290" y="1"/>
                </a:moveTo>
                <a:cubicBezTo>
                  <a:pt x="290" y="0"/>
                  <a:pt x="290" y="0"/>
                  <a:pt x="290" y="0"/>
                </a:cubicBezTo>
                <a:cubicBezTo>
                  <a:pt x="17" y="0"/>
                  <a:pt x="17" y="0"/>
                  <a:pt x="17" y="0"/>
                </a:cubicBezTo>
                <a:cubicBezTo>
                  <a:pt x="17" y="1"/>
                  <a:pt x="17" y="1"/>
                  <a:pt x="17" y="1"/>
                </a:cubicBezTo>
                <a:cubicBezTo>
                  <a:pt x="8" y="2"/>
                  <a:pt x="1" y="9"/>
                  <a:pt x="0" y="17"/>
                </a:cubicBezTo>
                <a:cubicBezTo>
                  <a:pt x="0" y="197"/>
                  <a:pt x="0" y="197"/>
                  <a:pt x="0" y="197"/>
                </a:cubicBezTo>
                <a:cubicBezTo>
                  <a:pt x="0" y="200"/>
                  <a:pt x="1" y="203"/>
                  <a:pt x="2" y="206"/>
                </a:cubicBezTo>
                <a:cubicBezTo>
                  <a:pt x="6" y="212"/>
                  <a:pt x="11" y="215"/>
                  <a:pt x="18" y="215"/>
                </a:cubicBezTo>
                <a:cubicBezTo>
                  <a:pt x="117" y="215"/>
                  <a:pt x="117" y="215"/>
                  <a:pt x="117" y="215"/>
                </a:cubicBezTo>
                <a:cubicBezTo>
                  <a:pt x="117" y="240"/>
                  <a:pt x="117" y="240"/>
                  <a:pt x="117" y="240"/>
                </a:cubicBezTo>
                <a:cubicBezTo>
                  <a:pt x="98" y="240"/>
                  <a:pt x="98" y="240"/>
                  <a:pt x="98" y="240"/>
                </a:cubicBezTo>
                <a:cubicBezTo>
                  <a:pt x="93" y="240"/>
                  <a:pt x="90" y="243"/>
                  <a:pt x="90" y="248"/>
                </a:cubicBezTo>
                <a:cubicBezTo>
                  <a:pt x="90" y="253"/>
                  <a:pt x="93" y="256"/>
                  <a:pt x="98" y="256"/>
                </a:cubicBezTo>
                <a:cubicBezTo>
                  <a:pt x="209" y="256"/>
                  <a:pt x="209" y="256"/>
                  <a:pt x="209" y="256"/>
                </a:cubicBezTo>
                <a:cubicBezTo>
                  <a:pt x="213" y="256"/>
                  <a:pt x="217" y="253"/>
                  <a:pt x="217" y="248"/>
                </a:cubicBezTo>
                <a:cubicBezTo>
                  <a:pt x="217" y="243"/>
                  <a:pt x="213" y="240"/>
                  <a:pt x="209" y="240"/>
                </a:cubicBezTo>
                <a:cubicBezTo>
                  <a:pt x="190" y="240"/>
                  <a:pt x="190" y="240"/>
                  <a:pt x="190" y="240"/>
                </a:cubicBezTo>
                <a:cubicBezTo>
                  <a:pt x="190" y="215"/>
                  <a:pt x="190" y="215"/>
                  <a:pt x="190" y="215"/>
                </a:cubicBezTo>
                <a:cubicBezTo>
                  <a:pt x="288" y="215"/>
                  <a:pt x="288" y="215"/>
                  <a:pt x="288" y="215"/>
                </a:cubicBezTo>
                <a:cubicBezTo>
                  <a:pt x="296" y="215"/>
                  <a:pt x="301" y="212"/>
                  <a:pt x="304" y="206"/>
                </a:cubicBezTo>
                <a:cubicBezTo>
                  <a:pt x="306" y="203"/>
                  <a:pt x="307" y="200"/>
                  <a:pt x="307" y="197"/>
                </a:cubicBezTo>
                <a:cubicBezTo>
                  <a:pt x="307" y="17"/>
                  <a:pt x="307" y="17"/>
                  <a:pt x="307" y="17"/>
                </a:cubicBezTo>
                <a:cubicBezTo>
                  <a:pt x="306" y="9"/>
                  <a:pt x="299" y="2"/>
                  <a:pt x="290" y="1"/>
                </a:cubicBezTo>
                <a:close/>
                <a:moveTo>
                  <a:pt x="290" y="19"/>
                </a:moveTo>
                <a:cubicBezTo>
                  <a:pt x="290" y="197"/>
                  <a:pt x="290" y="197"/>
                  <a:pt x="290" y="197"/>
                </a:cubicBezTo>
                <a:cubicBezTo>
                  <a:pt x="290" y="198"/>
                  <a:pt x="290" y="198"/>
                  <a:pt x="288" y="198"/>
                </a:cubicBezTo>
                <a:cubicBezTo>
                  <a:pt x="18" y="198"/>
                  <a:pt x="18" y="198"/>
                  <a:pt x="18" y="198"/>
                </a:cubicBezTo>
                <a:cubicBezTo>
                  <a:pt x="17" y="198"/>
                  <a:pt x="17" y="198"/>
                  <a:pt x="17" y="197"/>
                </a:cubicBezTo>
                <a:cubicBezTo>
                  <a:pt x="17" y="17"/>
                  <a:pt x="17" y="17"/>
                  <a:pt x="17" y="17"/>
                </a:cubicBezTo>
                <a:cubicBezTo>
                  <a:pt x="290" y="17"/>
                  <a:pt x="290" y="17"/>
                  <a:pt x="290" y="17"/>
                </a:cubicBezTo>
                <a:lnTo>
                  <a:pt x="290" y="19"/>
                </a:lnTo>
                <a:close/>
                <a:moveTo>
                  <a:pt x="290" y="19"/>
                </a:moveTo>
                <a:cubicBezTo>
                  <a:pt x="290" y="19"/>
                  <a:pt x="290" y="19"/>
                  <a:pt x="290" y="1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cxnSp>
        <p:nvCxnSpPr>
          <p:cNvPr id="18" name="Straight Connector 17">
            <a:extLst>
              <a:ext uri="{FF2B5EF4-FFF2-40B4-BE49-F238E27FC236}">
                <a16:creationId xmlns:a16="http://schemas.microsoft.com/office/drawing/2014/main" id="{9589D190-5087-4C7D-915A-46A4A08926F8}"/>
              </a:ext>
            </a:extLst>
          </p:cNvPr>
          <p:cNvCxnSpPr>
            <a:cxnSpLocks/>
            <a:stCxn id="14" idx="5"/>
          </p:cNvCxnSpPr>
          <p:nvPr/>
        </p:nvCxnSpPr>
        <p:spPr>
          <a:xfrm flipH="1">
            <a:off x="6640611" y="5749185"/>
            <a:ext cx="13282" cy="1120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29B4EC9-65BC-4CBE-9459-A6D9E81B20A4}"/>
              </a:ext>
            </a:extLst>
          </p:cNvPr>
          <p:cNvCxnSpPr>
            <a:cxnSpLocks/>
          </p:cNvCxnSpPr>
          <p:nvPr/>
        </p:nvCxnSpPr>
        <p:spPr>
          <a:xfrm>
            <a:off x="6901861" y="5749185"/>
            <a:ext cx="42728" cy="1017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3" name="Diagram 22">
            <a:extLst>
              <a:ext uri="{FF2B5EF4-FFF2-40B4-BE49-F238E27FC236}">
                <a16:creationId xmlns:a16="http://schemas.microsoft.com/office/drawing/2014/main" id="{57CC2D34-9900-4FDE-899C-7169D9114967}"/>
              </a:ext>
            </a:extLst>
          </p:cNvPr>
          <p:cNvGraphicFramePr/>
          <p:nvPr>
            <p:extLst>
              <p:ext uri="{D42A27DB-BD31-4B8C-83A1-F6EECF244321}">
                <p14:modId xmlns:p14="http://schemas.microsoft.com/office/powerpoint/2010/main" val="1173318881"/>
              </p:ext>
            </p:extLst>
          </p:nvPr>
        </p:nvGraphicFramePr>
        <p:xfrm>
          <a:off x="7812441" y="5646371"/>
          <a:ext cx="853830" cy="7666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9" name="TextBox 38">
            <a:extLst>
              <a:ext uri="{FF2B5EF4-FFF2-40B4-BE49-F238E27FC236}">
                <a16:creationId xmlns:a16="http://schemas.microsoft.com/office/drawing/2014/main" id="{5DF338BE-B2C7-4E13-ADAB-213D80CA3178}"/>
              </a:ext>
            </a:extLst>
          </p:cNvPr>
          <p:cNvSpPr txBox="1"/>
          <p:nvPr/>
        </p:nvSpPr>
        <p:spPr>
          <a:xfrm>
            <a:off x="5924264" y="5036047"/>
            <a:ext cx="1888177" cy="369332"/>
          </a:xfrm>
          <a:prstGeom prst="rect">
            <a:avLst/>
          </a:prstGeom>
          <a:noFill/>
        </p:spPr>
        <p:txBody>
          <a:bodyPr wrap="square" rtlCol="0">
            <a:spAutoFit/>
          </a:bodyPr>
          <a:lstStyle/>
          <a:p>
            <a:endParaRPr lang="en-IN" dirty="0"/>
          </a:p>
        </p:txBody>
      </p:sp>
      <p:sp>
        <p:nvSpPr>
          <p:cNvPr id="40" name="TextBox 39">
            <a:extLst>
              <a:ext uri="{FF2B5EF4-FFF2-40B4-BE49-F238E27FC236}">
                <a16:creationId xmlns:a16="http://schemas.microsoft.com/office/drawing/2014/main" id="{1F926363-603F-4FB7-BB61-5750AA8D0AAF}"/>
              </a:ext>
            </a:extLst>
          </p:cNvPr>
          <p:cNvSpPr txBox="1"/>
          <p:nvPr/>
        </p:nvSpPr>
        <p:spPr>
          <a:xfrm>
            <a:off x="5771864" y="4760679"/>
            <a:ext cx="1888177" cy="369332"/>
          </a:xfrm>
          <a:prstGeom prst="rect">
            <a:avLst/>
          </a:prstGeom>
          <a:noFill/>
        </p:spPr>
        <p:txBody>
          <a:bodyPr wrap="square" rtlCol="0">
            <a:spAutoFit/>
          </a:bodyPr>
          <a:lstStyle/>
          <a:p>
            <a:endParaRPr lang="en-IN" dirty="0"/>
          </a:p>
        </p:txBody>
      </p:sp>
      <p:sp>
        <p:nvSpPr>
          <p:cNvPr id="41" name="TextBox 40">
            <a:extLst>
              <a:ext uri="{FF2B5EF4-FFF2-40B4-BE49-F238E27FC236}">
                <a16:creationId xmlns:a16="http://schemas.microsoft.com/office/drawing/2014/main" id="{E3AD67A6-7EC8-455D-8B72-9ED1FE021C3E}"/>
              </a:ext>
            </a:extLst>
          </p:cNvPr>
          <p:cNvSpPr txBox="1"/>
          <p:nvPr/>
        </p:nvSpPr>
        <p:spPr>
          <a:xfrm>
            <a:off x="5607709" y="5087071"/>
            <a:ext cx="1888177" cy="523220"/>
          </a:xfrm>
          <a:prstGeom prst="rect">
            <a:avLst/>
          </a:prstGeom>
          <a:noFill/>
        </p:spPr>
        <p:txBody>
          <a:bodyPr wrap="square" rtlCol="0">
            <a:spAutoFit/>
          </a:bodyPr>
          <a:lstStyle/>
          <a:p>
            <a:r>
              <a:rPr lang="en-IN" sz="1400" dirty="0"/>
              <a:t>Connected </a:t>
            </a:r>
          </a:p>
          <a:p>
            <a:r>
              <a:rPr lang="en-IN" sz="1400" dirty="0"/>
              <a:t>Products</a:t>
            </a:r>
          </a:p>
        </p:txBody>
      </p:sp>
      <p:sp>
        <p:nvSpPr>
          <p:cNvPr id="42" name="TextBox 41">
            <a:extLst>
              <a:ext uri="{FF2B5EF4-FFF2-40B4-BE49-F238E27FC236}">
                <a16:creationId xmlns:a16="http://schemas.microsoft.com/office/drawing/2014/main" id="{EA38C369-5C69-49B2-B1DD-78BFC52A70A8}"/>
              </a:ext>
            </a:extLst>
          </p:cNvPr>
          <p:cNvSpPr txBox="1"/>
          <p:nvPr/>
        </p:nvSpPr>
        <p:spPr>
          <a:xfrm>
            <a:off x="7677377" y="5074631"/>
            <a:ext cx="1418724" cy="523220"/>
          </a:xfrm>
          <a:prstGeom prst="rect">
            <a:avLst/>
          </a:prstGeom>
          <a:noFill/>
        </p:spPr>
        <p:txBody>
          <a:bodyPr wrap="square" rtlCol="0">
            <a:spAutoFit/>
          </a:bodyPr>
          <a:lstStyle/>
          <a:p>
            <a:r>
              <a:rPr lang="en-IN" sz="1400" dirty="0"/>
              <a:t>Smart</a:t>
            </a:r>
          </a:p>
          <a:p>
            <a:r>
              <a:rPr lang="en-IN" sz="1400" dirty="0"/>
              <a:t>Engineering</a:t>
            </a:r>
          </a:p>
        </p:txBody>
      </p:sp>
      <p:sp>
        <p:nvSpPr>
          <p:cNvPr id="43" name="TextBox 42">
            <a:extLst>
              <a:ext uri="{FF2B5EF4-FFF2-40B4-BE49-F238E27FC236}">
                <a16:creationId xmlns:a16="http://schemas.microsoft.com/office/drawing/2014/main" id="{A0DEB36D-DAD6-4D67-9261-3DF7611913C3}"/>
              </a:ext>
            </a:extLst>
          </p:cNvPr>
          <p:cNvSpPr txBox="1"/>
          <p:nvPr/>
        </p:nvSpPr>
        <p:spPr>
          <a:xfrm>
            <a:off x="9254842" y="4959103"/>
            <a:ext cx="1888176" cy="523220"/>
          </a:xfrm>
          <a:prstGeom prst="rect">
            <a:avLst/>
          </a:prstGeom>
          <a:noFill/>
        </p:spPr>
        <p:txBody>
          <a:bodyPr wrap="square" rtlCol="0">
            <a:spAutoFit/>
          </a:bodyPr>
          <a:lstStyle/>
          <a:p>
            <a:r>
              <a:rPr lang="en-IN" sz="1400" dirty="0"/>
              <a:t>Digital </a:t>
            </a:r>
          </a:p>
          <a:p>
            <a:r>
              <a:rPr lang="en-IN" sz="1400" dirty="0"/>
              <a:t>Manufacturing</a:t>
            </a:r>
          </a:p>
        </p:txBody>
      </p:sp>
      <p:pic>
        <p:nvPicPr>
          <p:cNvPr id="44" name="Picture 43">
            <a:extLst>
              <a:ext uri="{FF2B5EF4-FFF2-40B4-BE49-F238E27FC236}">
                <a16:creationId xmlns:a16="http://schemas.microsoft.com/office/drawing/2014/main" id="{A84BB4DE-C0FA-43F9-B429-71D49F1A293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48791" y="172783"/>
            <a:ext cx="1252345" cy="932553"/>
          </a:xfrm>
          <a:prstGeom prst="rect">
            <a:avLst/>
          </a:prstGeom>
        </p:spPr>
      </p:pic>
    </p:spTree>
    <p:extLst>
      <p:ext uri="{BB962C8B-B14F-4D97-AF65-F5344CB8AC3E}">
        <p14:creationId xmlns:p14="http://schemas.microsoft.com/office/powerpoint/2010/main" val="2260415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1066</TotalTime>
  <Words>2808</Words>
  <Application>Microsoft Office PowerPoint</Application>
  <PresentationFormat>Widescreen</PresentationFormat>
  <Paragraphs>343</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Spectris</vt:lpstr>
      <vt:lpstr>Spectris- Company Overview</vt:lpstr>
      <vt:lpstr>Executive Management Team</vt:lpstr>
      <vt:lpstr>Spectris: Key Strategies to strengthen the brand</vt:lpstr>
      <vt:lpstr>Spectris: Key Investment attributes</vt:lpstr>
      <vt:lpstr>Spectris: Key Investment attributes</vt:lpstr>
      <vt:lpstr>Key Acquisitions &amp; Disposals</vt:lpstr>
      <vt:lpstr>Sales data</vt:lpstr>
      <vt:lpstr>Business Segments- Sales data 2018</vt:lpstr>
      <vt:lpstr>Business Segments- Sales data 2018</vt:lpstr>
      <vt:lpstr>Business Segments- Sales data 2018</vt:lpstr>
      <vt:lpstr>Business Segments- Sales data 2018</vt:lpstr>
      <vt:lpstr>Strategic initiatives 2018, IT investments &amp; initiatives</vt:lpstr>
      <vt:lpstr>Strategic initiatives 2018, IT Investments &amp; initiatives</vt:lpstr>
      <vt:lpstr>Industrial Controls- IT Investments &amp; initiatives</vt:lpstr>
      <vt:lpstr>In-Line Instruments: IT Investments &amp; initiatives</vt:lpstr>
      <vt:lpstr>Test &amp; Measurement: IT Investments &amp; initiatives</vt:lpstr>
      <vt:lpstr>Material Analysis: IT Investments &amp; initiatives</vt:lpstr>
      <vt:lpstr>Insights for IT service providers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Likhitha</dc:creator>
  <cp:lastModifiedBy>Likhitha</cp:lastModifiedBy>
  <cp:revision>98</cp:revision>
  <dcterms:created xsi:type="dcterms:W3CDTF">2019-09-22T14:10:56Z</dcterms:created>
  <dcterms:modified xsi:type="dcterms:W3CDTF">2019-09-23T17:45:07Z</dcterms:modified>
</cp:coreProperties>
</file>